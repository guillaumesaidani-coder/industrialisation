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b06edb89ff4a4c" /><Relationship Type="http://schemas.openxmlformats.org/officeDocument/2006/relationships/extended-properties" Target="/docProps/app.xml" Id="R14ef1557afdd45c3" /><Relationship Type="http://schemas.openxmlformats.org/officeDocument/2006/relationships/officeDocument" Target="/ppt/presentation.xml" Id="Reac985ed05184b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d0ae340ee14d63"/>
  </p:sldMasterIdLst>
  <p:notesMasterIdLst>
    <p:notesMasterId xmlns:r="http://schemas.openxmlformats.org/officeDocument/2006/relationships" r:id="R05405a4dca5b45a3"/>
  </p:notesMasterIdLst>
  <p:sldIdLst>
    <p:sldId xmlns:r="http://schemas.openxmlformats.org/officeDocument/2006/relationships" id="256" r:id="R022a015140cf4eaf"/>
    <p:sldId xmlns:r="http://schemas.openxmlformats.org/officeDocument/2006/relationships" id="257" r:id="R81beef4464d84161"/>
    <p:sldId xmlns:r="http://schemas.openxmlformats.org/officeDocument/2006/relationships" id="258" r:id="Rcf75170f6f4d4e31"/>
    <p:sldId xmlns:r="http://schemas.openxmlformats.org/officeDocument/2006/relationships" id="259" r:id="R4029eebc8f064a9d"/>
    <p:sldId xmlns:r="http://schemas.openxmlformats.org/officeDocument/2006/relationships" id="260" r:id="R82785daf98a34559"/>
    <p:sldId xmlns:r="http://schemas.openxmlformats.org/officeDocument/2006/relationships" id="261" r:id="Rd629fd19dea94bb7"/>
    <p:sldId xmlns:r="http://schemas.openxmlformats.org/officeDocument/2006/relationships" id="262" r:id="R2ac330906f4e47e0"/>
    <p:sldId xmlns:r="http://schemas.openxmlformats.org/officeDocument/2006/relationships" id="263" r:id="Rd2ad45ea18e84a43"/>
    <p:sldId xmlns:r="http://schemas.openxmlformats.org/officeDocument/2006/relationships" id="264" r:id="R43d582e4710d44fb"/>
    <p:sldId xmlns:r="http://schemas.openxmlformats.org/officeDocument/2006/relationships" id="265" r:id="R204b4aedb5b34dc7"/>
    <p:sldId xmlns:r="http://schemas.openxmlformats.org/officeDocument/2006/relationships" id="266" r:id="Rcbe772d1135c4ac7"/>
    <p:sldId xmlns:r="http://schemas.openxmlformats.org/officeDocument/2006/relationships" id="267" r:id="Rdd52e9818df748a7"/>
    <p:sldId xmlns:r="http://schemas.openxmlformats.org/officeDocument/2006/relationships" id="268" r:id="R91e1001f058148e8"/>
    <p:sldId xmlns:r="http://schemas.openxmlformats.org/officeDocument/2006/relationships" id="269" r:id="R508425ab6476456b"/>
    <p:sldId xmlns:r="http://schemas.openxmlformats.org/officeDocument/2006/relationships" id="270" r:id="Rd9574c9513fb49b6"/>
    <p:sldId xmlns:r="http://schemas.openxmlformats.org/officeDocument/2006/relationships" id="271" r:id="R6f940d074e904e3b"/>
  </p:sldIdLst>
  <p:sldSz cx="20104100" cy="1130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a795ecdd4b4586" /><Relationship Type="http://schemas.openxmlformats.org/officeDocument/2006/relationships/slideMaster" Target="/ppt/slideMasters/slideMaster1.xml" Id="Raad0ae340ee14d63" /><Relationship Type="http://schemas.openxmlformats.org/officeDocument/2006/relationships/notesMaster" Target="/ppt/notesMasters/notesMaster1.xml" Id="R05405a4dca5b45a3" /><Relationship Type="http://schemas.openxmlformats.org/officeDocument/2006/relationships/presProps" Target="/ppt/presProps.xml" Id="R476be9fa98d24860" /><Relationship Type="http://schemas.openxmlformats.org/officeDocument/2006/relationships/viewProps" Target="/ppt/viewProps.xml" Id="R9d65b95389c5405f" /><Relationship Type="http://schemas.openxmlformats.org/officeDocument/2006/relationships/tableStyles" Target="/ppt/tableStyles.xml" Id="R325110ca01ae4d59" /><Relationship Type="http://schemas.openxmlformats.org/officeDocument/2006/relationships/slide" Target="/ppt/slides/slide1.xml" Id="R022a015140cf4eaf" /><Relationship Type="http://schemas.openxmlformats.org/officeDocument/2006/relationships/slide" Target="/ppt/slides/slide2.xml" Id="R81beef4464d84161" /><Relationship Type="http://schemas.openxmlformats.org/officeDocument/2006/relationships/slide" Target="/ppt/slides/slide3.xml" Id="Rcf75170f6f4d4e31" /><Relationship Type="http://schemas.openxmlformats.org/officeDocument/2006/relationships/slide" Target="/ppt/slides/slide4.xml" Id="R4029eebc8f064a9d" /><Relationship Type="http://schemas.openxmlformats.org/officeDocument/2006/relationships/slide" Target="/ppt/slides/slide5.xml" Id="R82785daf98a34559" /><Relationship Type="http://schemas.openxmlformats.org/officeDocument/2006/relationships/slide" Target="/ppt/slides/slide6.xml" Id="Rd629fd19dea94bb7" /><Relationship Type="http://schemas.openxmlformats.org/officeDocument/2006/relationships/slide" Target="/ppt/slides/slide7.xml" Id="R2ac330906f4e47e0" /><Relationship Type="http://schemas.openxmlformats.org/officeDocument/2006/relationships/slide" Target="/ppt/slides/slide8.xml" Id="Rd2ad45ea18e84a43" /><Relationship Type="http://schemas.openxmlformats.org/officeDocument/2006/relationships/slide" Target="/ppt/slides/slide9.xml" Id="R43d582e4710d44fb" /><Relationship Type="http://schemas.openxmlformats.org/officeDocument/2006/relationships/slide" Target="/ppt/slides/slide10.xml" Id="R204b4aedb5b34dc7" /><Relationship Type="http://schemas.openxmlformats.org/officeDocument/2006/relationships/slide" Target="/ppt/slides/slide11.xml" Id="Rcbe772d1135c4ac7" /><Relationship Type="http://schemas.openxmlformats.org/officeDocument/2006/relationships/slide" Target="/ppt/slides/slide12.xml" Id="Rdd52e9818df748a7" /><Relationship Type="http://schemas.openxmlformats.org/officeDocument/2006/relationships/slide" Target="/ppt/slides/slide13.xml" Id="R91e1001f058148e8" /><Relationship Type="http://schemas.openxmlformats.org/officeDocument/2006/relationships/slide" Target="/ppt/slides/slide14.xml" Id="R508425ab6476456b" /><Relationship Type="http://schemas.openxmlformats.org/officeDocument/2006/relationships/slide" Target="/ppt/slides/slide15.xml" Id="Rd9574c9513fb49b6" /><Relationship Type="http://schemas.openxmlformats.org/officeDocument/2006/relationships/slide" Target="/ppt/slides/slide16.xml" Id="R6f940d074e904e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36740a03694f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62eab6effc49bf" /><Relationship Type="http://schemas.openxmlformats.org/officeDocument/2006/relationships/notesMaster" Target="/ppt/notesMasters/notesMaster1.xml" Id="R7e370c4f66d243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a9588295ab4c3f" /><Relationship Type="http://schemas.openxmlformats.org/officeDocument/2006/relationships/notesMaster" Target="/ppt/notesMasters/notesMaster1.xml" Id="R18846c1723c94c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035db05faa4188" /><Relationship Type="http://schemas.openxmlformats.org/officeDocument/2006/relationships/notesMaster" Target="/ppt/notesMasters/notesMaster1.xml" Id="R5a3b7330613340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07f9df4e7f4373" /><Relationship Type="http://schemas.openxmlformats.org/officeDocument/2006/relationships/notesMaster" Target="/ppt/notesMasters/notesMaster1.xml" Id="Rcce8fcc5679e42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ef7eccf5e24c67" /><Relationship Type="http://schemas.openxmlformats.org/officeDocument/2006/relationships/notesMaster" Target="/ppt/notesMasters/notesMaster1.xml" Id="R4e14168dcc5a4e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93883f9ad94f9d" /><Relationship Type="http://schemas.openxmlformats.org/officeDocument/2006/relationships/notesMaster" Target="/ppt/notesMasters/notesMaster1.xml" Id="R2071f563e6e543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540d0cba94423e" /><Relationship Type="http://schemas.openxmlformats.org/officeDocument/2006/relationships/notesMaster" Target="/ppt/notesMasters/notesMaster1.xml" Id="R0eea7562757346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49d3d067644040" /><Relationship Type="http://schemas.openxmlformats.org/officeDocument/2006/relationships/notesMaster" Target="/ppt/notesMasters/notesMaster1.xml" Id="Ra94b49dd959543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2048f7e9454228" /><Relationship Type="http://schemas.openxmlformats.org/officeDocument/2006/relationships/notesMaster" Target="/ppt/notesMasters/notesMaster1.xml" Id="R5ca8d92656a542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0d874c7b6748f5" /><Relationship Type="http://schemas.openxmlformats.org/officeDocument/2006/relationships/notesMaster" Target="/ppt/notesMasters/notesMaster1.xml" Id="R2bc5f24dcfa340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a3f2f2cbbf457b" /><Relationship Type="http://schemas.openxmlformats.org/officeDocument/2006/relationships/notesMaster" Target="/ppt/notesMasters/notesMaster1.xml" Id="R01f38b29753b44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34f31bf7464876" /><Relationship Type="http://schemas.openxmlformats.org/officeDocument/2006/relationships/notesMaster" Target="/ppt/notesMasters/notesMaster1.xml" Id="R297f9454b3f848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4b39d68d294fa3" /><Relationship Type="http://schemas.openxmlformats.org/officeDocument/2006/relationships/notesMaster" Target="/ppt/notesMasters/notesMaster1.xml" Id="R3fc45ef97b9349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968a59ec594289" /><Relationship Type="http://schemas.openxmlformats.org/officeDocument/2006/relationships/notesMaster" Target="/ppt/notesMasters/notesMaster1.xml" Id="R9c9dbac12e4c48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1d391793554556" /><Relationship Type="http://schemas.openxmlformats.org/officeDocument/2006/relationships/notesMaster" Target="/ppt/notesMasters/notesMaster1.xml" Id="Re2925a4bed8d4b8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8e59da5de8c421b" /><Relationship Type="http://schemas.openxmlformats.org/officeDocument/2006/relationships/notesMaster" Target="/ppt/notesMasters/notesMaster1.xml" Id="Rbba36472f4f94e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e4a4131684c9b" /><Relationship Type="http://schemas.openxmlformats.org/officeDocument/2006/relationships/image" Target="/ppt/media/image.png" Id="Raf5961ea807040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77969592c041c9" /><Relationship Type="http://schemas.openxmlformats.org/officeDocument/2006/relationships/image" Target="/ppt/media/image2.png" Id="R9aa002f7424d45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ef600de4d74897" /><Relationship Type="http://schemas.openxmlformats.org/officeDocument/2006/relationships/image" Target="/ppt/media/image3.png" Id="R077e6a2a33b44803" /><Relationship Type="http://schemas.openxmlformats.org/officeDocument/2006/relationships/image" Target="/ppt/media/image4.png" Id="Re8631a9959724d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7a2f5248844b35" /><Relationship Type="http://schemas.openxmlformats.org/officeDocument/2006/relationships/image" Target="/ppt/media/image5.png" Id="R6bdaf1d63f814db9" /><Relationship Type="http://schemas.openxmlformats.org/officeDocument/2006/relationships/image" Target="/ppt/media/image4.png" Id="R187c640dc61a48eb" /><Relationship Type="http://schemas.openxmlformats.org/officeDocument/2006/relationships/image" Target="/ppt/media/image6.png" Id="R418e9a4d6a074b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654ebb97994e23" /><Relationship Type="http://schemas.openxmlformats.org/officeDocument/2006/relationships/image" Target="/ppt/media/image5.png" Id="R3670871028bf4eb4" /><Relationship Type="http://schemas.openxmlformats.org/officeDocument/2006/relationships/image" Target="/ppt/media/image4.png" Id="Re5a64db1975349a0" /><Relationship Type="http://schemas.openxmlformats.org/officeDocument/2006/relationships/image" Target="/ppt/media/image6.png" Id="R189e69a778a14c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134553e27b4263" /><Relationship Type="http://schemas.openxmlformats.org/officeDocument/2006/relationships/image" Target="/ppt/media/image5.png" Id="Re37e5fcbd23e4def" /><Relationship Type="http://schemas.openxmlformats.org/officeDocument/2006/relationships/image" Target="/ppt/media/image4.png" Id="R7dc6fd54c82e47bd" /><Relationship Type="http://schemas.openxmlformats.org/officeDocument/2006/relationships/image" Target="/ppt/media/image6.png" Id="R2c27fa2e803d455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49385324fe47d8" /><Relationship Type="http://schemas.openxmlformats.org/officeDocument/2006/relationships/image" Target="/ppt/media/image5.png" Id="R2c94052fa25846dc" /><Relationship Type="http://schemas.openxmlformats.org/officeDocument/2006/relationships/image" Target="/ppt/media/image4.png" Id="R4751f7fb9db64447" /><Relationship Type="http://schemas.openxmlformats.org/officeDocument/2006/relationships/image" Target="/ppt/media/image6.png" Id="Rcdcedf0d62b64e2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00649723bb4058" /><Relationship Type="http://schemas.openxmlformats.org/officeDocument/2006/relationships/image" Target="/ppt/media/image5.png" Id="Rf9684037213a4cfa" /><Relationship Type="http://schemas.openxmlformats.org/officeDocument/2006/relationships/image" Target="/ppt/media/image4.png" Id="R8fc7d25667164c12" /><Relationship Type="http://schemas.openxmlformats.org/officeDocument/2006/relationships/image" Target="/ppt/media/image6.png" Id="R2a99b81b778a46d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f11877f2db4f8d" /><Relationship Type="http://schemas.openxmlformats.org/officeDocument/2006/relationships/image" Target="/ppt/media/image7.png" Id="Rc9c9136da2de4d4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9dc70f46f4fa8" /><Relationship Type="http://schemas.openxmlformats.org/officeDocument/2006/relationships/image" Target="/ppt/media/image8.png" Id="R4bc2ae8ed3a948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85bdfdbb94377" /><Relationship Type="http://schemas.openxmlformats.org/officeDocument/2006/relationships/image" Target="/ppt/media/image9.png" Id="R52d32936a4ee4e7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205dc45e345f8" /><Relationship Type="http://schemas.openxmlformats.org/officeDocument/2006/relationships/image" Target="/ppt/media/image10.png" Id="R04efb7641ffb478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444d1ce8545ad" /><Relationship Type="http://schemas.openxmlformats.org/officeDocument/2006/relationships/image" Target="/ppt/media/image11.png" Id="Rb00bd33f9442421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6f24d548ad47dc" /><Relationship Type="http://schemas.openxmlformats.org/officeDocument/2006/relationships/image" Target="/ppt/media/image12.png" Id="Rdf011611a7c043c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c1f927ce94a7c" /><Relationship Type="http://schemas.openxmlformats.org/officeDocument/2006/relationships/image" Target="/ppt/media/image13.png" Id="R22cdde425b73412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50903237744fd" /><Relationship Type="http://schemas.openxmlformats.org/officeDocument/2006/relationships/image" Target="/ppt/media/image2.png" Id="Rc40485786ccc48b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5b72894ce4287" /><Relationship Type="http://schemas.openxmlformats.org/officeDocument/2006/relationships/image" Target="/ppt/media/image14.png" Id="R0701389e832547b2" /><Relationship Type="http://schemas.openxmlformats.org/officeDocument/2006/relationships/image" Target="/ppt/media/image15.png" Id="R14089a1b5e274e53" /></Relationships>
</file>

<file path=ppt/slideLayouts/slideLayout1.xml><?xml version="1.0" encoding="utf-8"?>
<p:sldLayout xmlns:p="http://schemas.openxmlformats.org/presentationml/2006/main" preserve="1" userDrawn="1">
  <p:cSld name="17_Disposition personnalisée">
    <p:bg>
      <p:bgPr>
        <a:blipFill xmlns:a="http://schemas.openxmlformats.org/drawingml/2006/main" rotWithShape="1">
          <a:blip xmlns:r="http://schemas.openxmlformats.org/officeDocument/2006/relationships" r:embed="Raf5961ea807040f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8">
            <a:extLst xmlns:a="http://schemas.openxmlformats.org/drawingml/2006/main">
              <a:ext uri="{FF2B5EF4-FFF2-40B4-BE49-F238E27FC236}">
                <a16:creationId xmlns:a16="http://schemas.microsoft.com/office/drawing/2014/main" id="{5E7576F2-96D7-4879-C595-31AEF196E4F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39962" y="4862587"/>
            <a:ext cx="61722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000" b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Nom du formateur</a:t>
            </a:r>
          </a:p>
        </p:txBody>
      </p:sp>
      <p:sp>
        <p:nvSpPr>
          <p:cNvPr id="3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C84FB502-4701-30C4-540E-C8A8154B5FB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39962" y="7507138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Intitulé de la formation</a:t>
            </a:r>
          </a:p>
        </p:txBody>
      </p:sp>
      <p:sp>
        <p:nvSpPr>
          <p:cNvPr id="9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1B8F86BD-B5C7-B927-A9D3-2B75CFF0D7F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39962" y="6891585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32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Thématique de la formation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9_Disposition personnalisée">
    <p:bg>
      <p:bgPr>
        <a:blipFill xmlns:a="http://schemas.openxmlformats.org/drawingml/2006/main" rotWithShape="1">
          <a:blip xmlns:r="http://schemas.openxmlformats.org/officeDocument/2006/relationships" r:embed="R9aa002f7424d451c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2E351256-75CD-2ED8-4BB9-764EC4F953F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179842" y="1622227"/>
            <a:ext cx="9067800" cy="2078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Sommaire</a:t>
            </a:r>
          </a:p>
        </p:txBody>
      </p:sp>
      <p:sp>
        <p:nvSpPr>
          <p:cNvPr id="3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E4210765-D18A-93AA-5401-6FE46CD1B5A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495111" y="75290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4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C21EE629-EB1A-113D-97A8-9978DF1EE8D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495111" y="51827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5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DF353674-E326-FAC4-8E39-A794B8C892D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9495111" y="5946876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6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6FB8EC16-DCC1-A56A-2FCA-A8161FB9A73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9475986" y="67379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7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A1C31546-D63A-76DA-451E-F5E3BC95B39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9475986" y="44186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7C8B2001-5977-1C01-BE50-4A3FAA65C3B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495111" y="832006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re et contenu">
    <p:bg>
      <p:bgPr>
        <a:blipFill xmlns:a="http://schemas.openxmlformats.org/drawingml/2006/main" rotWithShape="1">
          <a:blip xmlns:r="http://schemas.openxmlformats.org/officeDocument/2006/relationships" r:embed="R077e6a2a33b44803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oneTexte 6">
            <a:extLst xmlns:a="http://schemas.openxmlformats.org/drawingml/2006/main">
              <a:ext uri="{FF2B5EF4-FFF2-40B4-BE49-F238E27FC236}">
                <a16:creationId xmlns:a16="http://schemas.microsoft.com/office/drawing/2014/main" id="{5347DE8B-CF68-40E8-B8D8-090B18DC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8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01</a:t>
            </a:r>
          </a:p>
        </p:txBody>
      </p:sp>
      <p:pic>
        <p:nvPicPr>
          <p:cNvPr id="2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31a9959724d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3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66603E52-899B-4BE9-93E0-B72BDAEC294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22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B2C1FB38-60A8-4700-B272-5C798855A97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Title and Content">
    <p:bg>
      <p:bgPr>
        <a:blipFill xmlns:a="http://schemas.openxmlformats.org/drawingml/2006/main" rotWithShape="1">
          <a:blip xmlns:r="http://schemas.openxmlformats.org/officeDocument/2006/relationships" r:embed="R6bdaf1d63f814db9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c640dc61a48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e9a4d6a074b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02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Title and Content">
    <p:bg>
      <p:bgPr>
        <a:blipFill xmlns:a="http://schemas.openxmlformats.org/drawingml/2006/main" rotWithShape="1">
          <a:blip xmlns:r="http://schemas.openxmlformats.org/officeDocument/2006/relationships" r:embed="R3670871028bf4eb4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64db1975349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e69a778a14c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03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3_Title and Content">
    <p:bg>
      <p:bgPr>
        <a:blipFill xmlns:a="http://schemas.openxmlformats.org/drawingml/2006/main" rotWithShape="1">
          <a:blip xmlns:r="http://schemas.openxmlformats.org/officeDocument/2006/relationships" r:embed="Re37e5fcbd23e4def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6fd54c82e47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7fa2e803d45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04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Title and Content">
    <p:bg>
      <p:bgPr>
        <a:blipFill xmlns:a="http://schemas.openxmlformats.org/drawingml/2006/main" rotWithShape="1">
          <a:blip xmlns:r="http://schemas.openxmlformats.org/officeDocument/2006/relationships" r:embed="R2c94052fa25846dc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1f7fb9db644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edf0d62b64e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05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5_Title and Content">
    <p:bg>
      <p:bgPr>
        <a:blipFill xmlns:a="http://schemas.openxmlformats.org/drawingml/2006/main" rotWithShape="1">
          <a:blip xmlns:r="http://schemas.openxmlformats.org/officeDocument/2006/relationships" r:embed="Rf9684037213a4cfa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7d25667164c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9b81b778a46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06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Title Slide">
    <p:bg>
      <p:bgPr>
        <a:blipFill xmlns:a="http://schemas.openxmlformats.org/drawingml/2006/main" rotWithShape="1">
          <a:blip xmlns:r="http://schemas.openxmlformats.org/officeDocument/2006/relationships" r:embed="Rc9c9136da2de4d4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2_Disposition personnalisée">
    <p:bg>
      <p:bgPr>
        <a:blipFill xmlns:a="http://schemas.openxmlformats.org/drawingml/2006/main" rotWithShape="1">
          <a:blip xmlns:r="http://schemas.openxmlformats.org/officeDocument/2006/relationships" r:embed="R4bc2ae8ed3a948d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preserve="1" userDrawn="1">
  <p:cSld name="3_Disposition personnalisée">
    <p:bg>
      <p:bgPr>
        <a:blipFill xmlns:a="http://schemas.openxmlformats.org/drawingml/2006/main" rotWithShape="1">
          <a:blip xmlns:r="http://schemas.openxmlformats.org/officeDocument/2006/relationships" r:embed="R52d32936a4ee4e7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preserve="1" userDrawn="1">
  <p:cSld name="6_Disposition personnalisée">
    <p:bg>
      <p:bgPr>
        <a:blipFill xmlns:a="http://schemas.openxmlformats.org/drawingml/2006/main" rotWithShape="1">
          <a:blip xmlns:r="http://schemas.openxmlformats.org/officeDocument/2006/relationships" r:embed="R04efb7641ffb478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10_Disposition personnalisée">
    <p:bg>
      <p:bgPr>
        <a:blipFill xmlns:a="http://schemas.openxmlformats.org/drawingml/2006/main" rotWithShape="1">
          <a:blip xmlns:r="http://schemas.openxmlformats.org/officeDocument/2006/relationships" r:embed="Rb00bd33f9442421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showMasterSp="0" type="obj" preserve="1">
  <p:cSld name="1_Blank">
    <p:bg>
      <p:bgPr>
        <a:blipFill xmlns:a="http://schemas.openxmlformats.org/drawingml/2006/main" rotWithShape="1">
          <a:blip xmlns:r="http://schemas.openxmlformats.org/officeDocument/2006/relationships" r:embed="Rdf011611a7c043c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preserve="1" userDrawn="1">
  <p:cSld name="18_Disposition personnalisée">
    <p:bg>
      <p:bgPr>
        <a:blipFill xmlns:a="http://schemas.openxmlformats.org/drawingml/2006/main" rotWithShape="1">
          <a:blip xmlns:r="http://schemas.openxmlformats.org/officeDocument/2006/relationships" r:embed="R22cdde425b73412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preserve="1" userDrawn="1">
  <p:cSld name="20_Disposition personnalisée">
    <p:bg>
      <p:bgPr>
        <a:blipFill xmlns:a="http://schemas.openxmlformats.org/drawingml/2006/main" rotWithShape="1">
          <a:blip xmlns:r="http://schemas.openxmlformats.org/officeDocument/2006/relationships" r:embed="Rc40485786ccc48bb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preserve="1" userDrawn="1">
  <p:cSld name="Disposition personnalisée">
    <p:bg>
      <p:bgPr>
        <a:blipFill xmlns:a="http://schemas.openxmlformats.org/drawingml/2006/main" rotWithShape="1">
          <a:blip xmlns:r="http://schemas.openxmlformats.org/officeDocument/2006/relationships" r:embed="R0701389e832547b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89a1b5e274e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002" y="542107"/>
            <a:ext cx="18902097" cy="5040560"/>
          </a:xfrm>
          <a:prstGeom xmlns:a="http://schemas.openxmlformats.org/drawingml/2006/main" prst="roundRect">
            <a:avLst>
              <a:gd name="adj" fmla="val 9607"/>
            </a:avLst>
          </a:prstGeom>
        </p:spPr>
      </p:pic>
      <p:sp>
        <p:nvSpPr>
          <p:cNvPr id="6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86C7ADBF-7FE4-9BE8-94E3-4FAC04EE5D9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35025" y="6230739"/>
            <a:ext cx="14587149" cy="108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60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Merci de votre attention !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766e3d32b44f57" /><Relationship Type="http://schemas.openxmlformats.org/officeDocument/2006/relationships/slideLayout" Target="/ppt/slideLayouts/slideLayout1.xml" Id="R4c2497f2bd7b4409" /><Relationship Type="http://schemas.openxmlformats.org/officeDocument/2006/relationships/slideLayout" Target="/ppt/slideLayouts/slideLayout2.xml" Id="R89733c3e2fff4b71" /><Relationship Type="http://schemas.openxmlformats.org/officeDocument/2006/relationships/slideLayout" Target="/ppt/slideLayouts/slideLayout3.xml" Id="R5da7053bd4e0441f" /><Relationship Type="http://schemas.openxmlformats.org/officeDocument/2006/relationships/slideLayout" Target="/ppt/slideLayouts/slideLayout4.xml" Id="Red5dbc02f39e498e" /><Relationship Type="http://schemas.openxmlformats.org/officeDocument/2006/relationships/slideLayout" Target="/ppt/slideLayouts/slideLayout5.xml" Id="R28df16e101414e47" /><Relationship Type="http://schemas.openxmlformats.org/officeDocument/2006/relationships/slideLayout" Target="/ppt/slideLayouts/slideLayout6.xml" Id="R05e156008e8b4bcc" /><Relationship Type="http://schemas.openxmlformats.org/officeDocument/2006/relationships/slideLayout" Target="/ppt/slideLayouts/slideLayout7.xml" Id="R2d0d267113534c32" /><Relationship Type="http://schemas.openxmlformats.org/officeDocument/2006/relationships/slideLayout" Target="/ppt/slideLayouts/slideLayout8.xml" Id="R1481e01b167a4eb3" /><Relationship Type="http://schemas.openxmlformats.org/officeDocument/2006/relationships/slideLayout" Target="/ppt/slideLayouts/slideLayout9.xml" Id="R279f650285d64600" /><Relationship Type="http://schemas.openxmlformats.org/officeDocument/2006/relationships/slideLayout" Target="/ppt/slideLayouts/slideLayout10.xml" Id="R56ad4fc15e2a40dd" /><Relationship Type="http://schemas.openxmlformats.org/officeDocument/2006/relationships/slideLayout" Target="/ppt/slideLayouts/slideLayout11.xml" Id="Rdd62f9df3c5a4532" /><Relationship Type="http://schemas.openxmlformats.org/officeDocument/2006/relationships/slideLayout" Target="/ppt/slideLayouts/slideLayout12.xml" Id="Re05889e4e21e4073" /><Relationship Type="http://schemas.openxmlformats.org/officeDocument/2006/relationships/slideLayout" Target="/ppt/slideLayouts/slideLayout13.xml" Id="R4d195d78435a4767" /><Relationship Type="http://schemas.openxmlformats.org/officeDocument/2006/relationships/slideLayout" Target="/ppt/slideLayouts/slideLayout14.xml" Id="R536f0792a4d54da3" /><Relationship Type="http://schemas.openxmlformats.org/officeDocument/2006/relationships/slideLayout" Target="/ppt/slideLayouts/slideLayout15.xml" Id="R35016074c537418f" /><Relationship Type="http://schemas.openxmlformats.org/officeDocument/2006/relationships/slideLayout" Target="/ppt/slideLayouts/slideLayout16.xml" Id="Rece236a339b44f5d" /><Relationship Type="http://schemas.openxmlformats.org/officeDocument/2006/relationships/slideLayout" Target="/ppt/slideLayouts/slideLayout17.xml" Id="Ra02ddf1a574842d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2497f2bd7b4409"/>
    <p:sldLayoutId xmlns:r="http://schemas.openxmlformats.org/officeDocument/2006/relationships" id="2147483650" r:id="R89733c3e2fff4b71"/>
    <p:sldLayoutId xmlns:r="http://schemas.openxmlformats.org/officeDocument/2006/relationships" id="2147483651" r:id="R5da7053bd4e0441f"/>
    <p:sldLayoutId xmlns:r="http://schemas.openxmlformats.org/officeDocument/2006/relationships" id="2147483652" r:id="Red5dbc02f39e498e"/>
    <p:sldLayoutId xmlns:r="http://schemas.openxmlformats.org/officeDocument/2006/relationships" id="2147483653" r:id="R28df16e101414e47"/>
    <p:sldLayoutId xmlns:r="http://schemas.openxmlformats.org/officeDocument/2006/relationships" id="2147483654" r:id="R05e156008e8b4bcc"/>
    <p:sldLayoutId xmlns:r="http://schemas.openxmlformats.org/officeDocument/2006/relationships" id="2147483655" r:id="R2d0d267113534c32"/>
    <p:sldLayoutId xmlns:r="http://schemas.openxmlformats.org/officeDocument/2006/relationships" id="2147483656" r:id="R1481e01b167a4eb3"/>
    <p:sldLayoutId xmlns:r="http://schemas.openxmlformats.org/officeDocument/2006/relationships" id="2147483657" r:id="R279f650285d64600"/>
    <p:sldLayoutId xmlns:r="http://schemas.openxmlformats.org/officeDocument/2006/relationships" id="2147483658" r:id="R56ad4fc15e2a40dd"/>
    <p:sldLayoutId xmlns:r="http://schemas.openxmlformats.org/officeDocument/2006/relationships" id="2147483659" r:id="Rdd62f9df3c5a4532"/>
    <p:sldLayoutId xmlns:r="http://schemas.openxmlformats.org/officeDocument/2006/relationships" id="2147483660" r:id="Re05889e4e21e4073"/>
    <p:sldLayoutId xmlns:r="http://schemas.openxmlformats.org/officeDocument/2006/relationships" id="2147483661" r:id="R4d195d78435a4767"/>
    <p:sldLayoutId xmlns:r="http://schemas.openxmlformats.org/officeDocument/2006/relationships" id="2147483662" r:id="R536f0792a4d54da3"/>
    <p:sldLayoutId xmlns:r="http://schemas.openxmlformats.org/officeDocument/2006/relationships" id="2147483663" r:id="R35016074c537418f"/>
    <p:sldLayoutId xmlns:r="http://schemas.openxmlformats.org/officeDocument/2006/relationships" id="2147483664" r:id="Rece236a339b44f5d"/>
    <p:sldLayoutId xmlns:r="http://schemas.openxmlformats.org/officeDocument/2006/relationships" id="2147483665" r:id="Ra02ddf1a574842d0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0471eab51794641" /><Relationship Type="http://schemas.openxmlformats.org/officeDocument/2006/relationships/image" Target="/ppt/media/image15.png" Id="R4db1381d33834751" /><Relationship Type="http://schemas.openxmlformats.org/officeDocument/2006/relationships/notesSlide" Target="/ppt/notesSlides/notesSlide1.xml" Id="R5162cf289db44f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a40335a67bf46cc" /><Relationship Type="http://schemas.openxmlformats.org/officeDocument/2006/relationships/notesSlide" Target="/ppt/notesSlides/notesSlide2.xml" Id="R1a6ebfe546f84b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c1c25fbe09245f6" /><Relationship Type="http://schemas.openxmlformats.org/officeDocument/2006/relationships/notesSlide" Target="/ppt/notesSlides/notesSlide3.xml" Id="Rdb1b74f1e38245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f5782ae25304146" /><Relationship Type="http://schemas.openxmlformats.org/officeDocument/2006/relationships/notesSlide" Target="/ppt/notesSlides/notesSlide4.xml" Id="R9323ed1b315849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a520b57ff4b47be" /><Relationship Type="http://schemas.openxmlformats.org/officeDocument/2006/relationships/notesSlide" Target="/ppt/notesSlides/notesSlide5.xml" Id="R33e7f9e25d994b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2bd2e53b7994d8b" /><Relationship Type="http://schemas.openxmlformats.org/officeDocument/2006/relationships/notesSlide" Target="/ppt/notesSlides/notesSlide6.xml" Id="Rf77f9eac979640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f2589764bd043ed" /><Relationship Type="http://schemas.openxmlformats.org/officeDocument/2006/relationships/notesSlide" Target="/ppt/notesSlides/notesSlide7.xml" Id="Rc8303a2f0ca54c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354a242f165433e" /><Relationship Type="http://schemas.openxmlformats.org/officeDocument/2006/relationships/notesSlide" Target="/ppt/notesSlides/notesSlide8.xml" Id="R8421edf0515843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864f1188e774301" /><Relationship Type="http://schemas.openxmlformats.org/officeDocument/2006/relationships/notesSlide" Target="/ppt/notesSlides/notesSlide9.xml" Id="R3ef43e5ee83b4b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a790da16cdd4f55" /><Relationship Type="http://schemas.openxmlformats.org/officeDocument/2006/relationships/notesSlide" Target="/ppt/notesSlides/notesSlide10.xml" Id="R0aaf0edd267849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53aca9d8906465e" /><Relationship Type="http://schemas.openxmlformats.org/officeDocument/2006/relationships/notesSlide" Target="/ppt/notesSlides/notesSlide11.xml" Id="R7f6c8485625e42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74d84f6a44c4552" /><Relationship Type="http://schemas.openxmlformats.org/officeDocument/2006/relationships/notesSlide" Target="/ppt/notesSlides/notesSlide12.xml" Id="R8f537a464be940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9612c63ca5cc4fc8" /><Relationship Type="http://schemas.openxmlformats.org/officeDocument/2006/relationships/notesSlide" Target="/ppt/notesSlides/notesSlide13.xml" Id="R89efeab068f948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02edf0b90234935" /><Relationship Type="http://schemas.openxmlformats.org/officeDocument/2006/relationships/notesSlide" Target="/ppt/notesSlides/notesSlide14.xml" Id="R0e14bfa4c5d24d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b2642a2fd014f39" /><Relationship Type="http://schemas.openxmlformats.org/officeDocument/2006/relationships/notesSlide" Target="/ppt/notesSlides/notesSlide15.xml" Id="Raf04703287164e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da8562ed9c44555" /><Relationship Type="http://schemas.openxmlformats.org/officeDocument/2006/relationships/notesSlide" Target="/ppt/notesSlides/notesSlide16.xml" Id="R849ab1379e7f43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0E01479-AD25-48F1-A700-87C9EC58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1381d33834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1560" y="868680"/>
            <a:ext cx="3931920" cy="1048512"/>
          </a:xfrm>
          <a:prstGeom xmlns:a="http://schemas.openxmlformats.org/drawingml/2006/main" prst="rect">
            <a:avLst/>
          </a:prstGeom>
        </p:spPr>
      </p:pic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7C8CFFF7-5D21-43B3-ACC1-625EA541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4CA2769-B60A-4A24-8201-AFB263D0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41648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06D226B-BF02-444F-A7DF-74286DB1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657600"/>
            <a:ext cx="169494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600"/>
              </a:spcAft>
              <a:buNone/>
            </a:pPr>
            <a:r>
              <a:rPr sz="5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Implémentation du flow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DC3220E-4141-45B7-9EA3-5F62E98C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943600"/>
            <a:ext cx="169494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US3.4 · C6/C7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7815A2D-E7AD-4FDF-8BAA-A271938F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029190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EAEAEA"/>
                </a:solidFill>
                <a:latin typeface="Arial"/>
                <a:ea typeface="Arial"/>
                <a:cs typeface="Arial"/>
              </a:rPr>
              <a:t>Sprint 3 — Industrialisation &amp; déploiement  ·  Certification CISIA  ·  Formation à distance</a:t>
            </a:r>
          </a:p>
        </p:txBody>
      </p:sp>
    </p:spTree>
    <p:extLst>
      <p:ext uri="{BB962C8B-B14F-4D97-AF65-F5344CB8AC3E}">
        <p14:creationId xmlns:p14="http://schemas.microsoft.com/office/powerpoint/2010/main" val="7167538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0E1DAF-3A8B-446E-9F50-DAE4C7A6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817E7A56-9AE2-47E5-9A4D-83F08A15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762D0DD-2D4B-459E-846D-A5B40C35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Objectifs &amp; déroulé de la séance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F17697A-9CB7-47F1-A0BF-B4825529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65960"/>
            <a:ext cx="936050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À l'issue, vous serez capable de :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2E07718E-8B68-409D-B422-7FD31521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9748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9EEC619-FD10-461A-9B82-6463FE04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700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BC2343D-7DAF-4C85-BCC4-7F63DBBD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697480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Implémenter les 4 tâches sur les vraies données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200623C-9F6B-4555-8090-AB037D8C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4728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6E026C1-1195-4832-8737-06AA0E6C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1985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254F7EB-6C8B-44DA-A174-09AA17F0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447288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Persister les prédictions (table predictions)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6B816823-6E58-4C70-8925-8AA1507D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97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07A3348-8139-4F52-9206-63300F9A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9664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DCFCFD1-0166-4956-8164-F0D8992D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197096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Garantir l'idempotence (upsert, relance sans doublon)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277F3CCC-B545-4F53-A36A-919379B5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946904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2564B23-343E-4E09-9099-E6396830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91947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3E2AA2D-818F-497F-8350-D4FF8E6E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946904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Diagnostiquer la cible date seule vs date+time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1238649-E5D5-45C3-9CA1-60F29ED2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108" y="1965960"/>
            <a:ext cx="7920431" cy="4663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BD8ECA2-1BE4-4D58-8A7C-FDAAFCAD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2240280"/>
            <a:ext cx="709747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Déroulé de la séance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3CF09FFC-FE9B-45C3-A3A4-0BE94460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92608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2041603-B7B4-4C23-A5C0-58F7D7D0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89864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7F77B55-1B98-4E1F-A2D9-CA98D493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2926080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Théorie   les concepts clés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73762F2B-D244-4567-8A02-7A71E51D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75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BDF8754-D037-4970-ACA9-5EA7B73F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4845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2D1F05A-6778-4FC9-B57D-A628417B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3675888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Travaux dirigés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TP guidé, correction au fil de l'eau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CA39D3A9-CE8A-4189-9123-1E4B2C4F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4256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D65C4A7-B074-4B2D-8CC6-CF40D627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39826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CB296C0-CD24-410E-8CAE-04289D05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4425696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Autonomie tutorée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vous avancez, formateur dispo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6A63B9EB-AD03-4AEA-8B26-D33440ED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755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41AF32F4-44E5-487C-88D6-2B6D9A57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480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9E850F52-B042-43BE-A715-87092177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5175504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Bilan   synthèse + preuves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614691E3-0789-445F-B7CC-A628522D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5989320"/>
            <a:ext cx="7097471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5A889D3-045F-40B1-81F2-9A9040A9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188" y="6035040"/>
            <a:ext cx="6731711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PREUVE FINALE   </a:t>
            </a:r>
            <a:r>
              <a:rPr sz="16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flow end-to-end · 2 runs → 0 doublon · panne 4,78 %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5B00B1A-4374-4A1C-9049-4B4838A3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20B8F64-A5B7-4836-B2BE-61D30F59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030338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77163ED-FFC2-4FD2-86AC-35ADEF74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0FA395-C033-4C8F-958D-285B662E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64D73A-244D-4A62-BCE5-210A18E0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Théorie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B8F4370-9F82-437F-B5CE-78B223D3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30 — les concepts clés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4DE3AE4-936C-43E8-8EBC-F1737BEB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964732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E70BC3-1BD7-401C-9E42-12EB6727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C41142B2-DAD4-4960-B9D4-364C3029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3C9C66C-AC27-4335-BCF7-1F6EDA8C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Scénario atelier &amp; enjeux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DBD2D45-5988-41D4-8CDC-CAA4897B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Le flow a planté en milieu de course puis a été relancé. Sans idempotence, tu te retrouves avec des doublons dans la base — et des statistiques faussées.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20D07AC-0AC6-4CB8-AED3-E3895906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A0EFDBA-B353-407B-9811-8212F81F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70B40DD-0A2D-4D93-B234-CA2518D8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063240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Angle éthique / risque (C2)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Des doublons = des décisions biaisées. La clé d'unicité garantit l'intégrité des données (lien C3).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A40860A-66EA-4001-83C8-6550450B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BCBEDD6-486F-4CEA-8C58-DE4E2FAC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741693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C3D564-063D-4947-A5D6-B2553443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C872E6D-242C-4B1F-BD79-65A6726C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7E66B6A-2841-4588-803A-8C8E5906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Contexte &amp; outils — pourquoi ce module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E5F4A49-B8EF-475B-9F96-2FB29F0B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Contexte : on passe du design au code du flow. Pourquoi : écrire dans la base sans jamais dupliquer une ligne.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E2A8C152-9158-4EE9-A812-E1AC8F24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815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ACB2FE4-DE1F-4958-9682-DBB38297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7180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SQLAlchemy / psycopg : accès à la base depuis Python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2F4FB084-73EB-45D7-89F0-DF422C88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59359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5580B23-F192-4EA9-A7C2-EE993190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48386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upsert ON CONFLICT : insère OU met à jour (idempotence prouvée)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3BD0851C-47A5-44BC-B3CE-0435CD2C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10565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F31BC03-7889-486D-9A13-49C7F232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99592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TIMESTAMPTZ en UTC : des horodatages comparables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7C123B23-9E0C-498F-896F-859567E4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61772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17E2C78-DF08-4BE2-BE8E-1C56F159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507992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Clé naturelle : identifie une ligne de manière unique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B714543-972F-48FF-98A9-4C115218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093208"/>
            <a:ext cx="180009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C1305ED-08B2-4886-BE2B-E0E5048E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093208"/>
            <a:ext cx="20116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070A930-7935-4E12-8DB3-4860369B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5184648"/>
            <a:ext cx="1736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2E7E92"/>
                </a:solidFill>
                <a:latin typeface="Manrope"/>
                <a:ea typeface="Manrope"/>
                <a:cs typeface="Manrope"/>
              </a:rPr>
              <a:t>Objectif du module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Deux exécutions du flow -&gt; zéro doublon en base.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CE9F4DB-1555-43F8-B5A9-76A2F173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9E19F95-BAFC-4193-8846-F9B4C367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138442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B59D9B-74CF-4D78-ADB8-8CA7AE43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5D6974F-02E2-402E-A186-2971B5D7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62483A1-364E-4435-9823-86E96F05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Historiser les prédictions : la table predictions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B325C22-D6AF-457E-BB2B-2A4D7822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Chaque prédiction est tracée en base, avec une clé naturelle qui empêche les doublons.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D67D605D-64C0-4BF9-A120-87248F70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B5FB92C-32B6-4902-96D3-D1941501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Clé (machine, prediction_ts) ; on réutilise la lib (build_dataset, predict_proba)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6542236-A04D-4DA4-B900-9DA9C285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39242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F55D318-483A-45E3-8196-89A6DC63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282696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Historiser permet ensuite de surveiller le modèle (drift, dashboards)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835D01A-2C3E-40A0-AFA2-4B789557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867912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AB90A4CF-E839-49F9-967E-5F04A8D3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EA52AB4-2DCA-4FE3-AB78-45E1C125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0416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A0A2C0A-0FB8-4E43-A3D9-2560C7DE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10565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03B8AD9-7970-4D34-A7E9-E76E94C7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709160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 flow ne réimplémente RIEN : il appelle les fonctions déjà testées du package. Moins de code = moins de bugs.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7394AE82-0487-4E67-ADB5-3E7D0633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3867912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C1F3604F-FDD2-4DAC-8CBF-8295A289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373A6F5-8AB3-4587-8089-BE76C268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0416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0208F0A-83F2-42D6-A325-78B665C1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10565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Le jargon décodé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1ADEA19-B30C-46EE-831A-754C9A49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4709160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Clé naturelle = colonnes qui identifient une ligne de façon unique. Historisation = garder la trace de chaque prédiction.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586F393F-917D-4EFF-878D-4D0469C2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39FA720-0900-4C88-B7F1-94D69C12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 orchestre la lib existante et on historise chaque prédiction.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02A8452-BDAF-4B36-B264-2E9B1E03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E89AE18-595B-41D0-B552-D4D80974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573648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721FEED-7DC9-4AE2-BD7C-A06F86FE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24B3982-6F3C-412A-9721-360DD806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D637D79-A3FB-4FEF-8733-50575A64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L'idempotence par upsert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675492A-8D13-46C5-AB19-92D900C2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Rejouer le flow ne doit jamais dupliquer : on met à jour au lieu d'insérer.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9783473-8472-4380-BD3C-DEB29FB0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51759"/>
            <a:ext cx="571991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03DDBB9-1CE5-4E26-9F60-6BB092EB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51759"/>
            <a:ext cx="553703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nouvelle prédiction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A11F879-A5CA-4FF7-921E-730C36B8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894" y="2651759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48D1457-37D4-4EF1-8E47-58330916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094" y="2651759"/>
            <a:ext cx="571991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9F92CB4-2900-468D-B43E-A880BF38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534" y="2651759"/>
            <a:ext cx="553703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clé existe ?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1966094-04F8-4BE4-AE82-A0885DED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5429" y="2651759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843CB60-7728-42F8-B5BE-4E80476F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2629" y="2651759"/>
            <a:ext cx="571991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2E33A45-A47A-4AF4-9551-48E951F0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4069" y="2651759"/>
            <a:ext cx="553703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UPDATE / INSERT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35244DD-EA42-410E-A326-DA16B577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867911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D0411821-DD1B-4919-A726-E9D391A3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41DAE5E-AE0D-4755-80ED-2D1A0057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0416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9C8174B-2FF8-4C2D-B621-07F4381C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105655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Attention — piège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7B661F7-2D46-49C6-B97C-D8A42DB0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709159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INSERT simple = doublons garantis à la 2e exécution. La preuve d'idempotence (count(*) stable) est non négociable.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E5AABBB-96E3-42EE-8E6D-9C313E21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3867911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05A61B8-4F8E-48EC-95CD-2279D977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A74A358-BCF0-4C68-9765-A0A9A78D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0416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E13D7FE-7F16-4427-BD0D-CF94486E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105655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Astuce de pro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4673AAF-D68A-44A3-A6CA-C07DBEF3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4709159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La task store touche la DB (ressource externe) → on lui met des retries ; les tasks de calcul pur, non.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CF54B2C1-B94B-4569-976A-D6051CD3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043F667-899F-4CBB-AFA9-70253337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Upsert (ON CONFLICT … DO UPDATE) → 2 runs = 0 doublon.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D3EF5CA-E4EB-4F4F-966E-C69A627A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7CCC3A57-DFD3-4EF9-AD53-772CE829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40747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60D262-5E24-4C21-B829-FAB41550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4A37259B-B92F-4364-AD89-70CC2D45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08E8BE8-C1C0-47D9-A75B-7F84110B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Le piège data : la cible « date » seule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F6AF638-31B3-46AC-8EE6-F47D9472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Oublier l'heure de l'incident décale la fenêtre et fausse silencieusement la prévalence des pannes.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7AC5382-673C-45AB-97AD-AA233573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8771890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AEA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064E9F5-7DB1-45FF-80F1-1A6F04E0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3227832"/>
            <a:ext cx="8186673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1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date seule → 4,8914 %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CC5E4C10-805A-4311-A9C7-3EBEAFE3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402335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BB0A82C-4A2B-4849-9E08-1DD53089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3931920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heure = minuit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14AA1747-8C1C-451F-BA2E-3BF082A1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448055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BBD91C2-36DF-4CCE-BCCA-47725439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4389120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3 210 pannes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6FB20B5-162E-41C1-A4DA-8FEFE57D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493775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EB93BBE-6807-4CF8-A295-DE8BA680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" y="4846320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+73 faux positifs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A2B712A-E8FC-4C10-B582-23616C39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0650" y="2971800"/>
            <a:ext cx="8771890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AEA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909931D-6288-4BA9-BB95-6B7D2BA0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8" y="3227832"/>
            <a:ext cx="8186673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1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date + time → 4,7802 %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C48B6F18-2B76-4BF7-9CA0-235BF4CF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8" y="402335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1055905-C43C-4FAB-B4A9-3DD5F2FF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002" y="3931920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horodatage exact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C584274F-601D-46DF-986F-5C649CEE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8" y="448055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6DD6234-A803-4E3E-B27D-C7FA94D8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002" y="4389120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3 137 pannes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415D501D-35CE-43D5-95EC-FE6F7903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3258" y="4937759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7F4A6F5-E138-4474-A740-DFCD22CC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002" y="4846320"/>
            <a:ext cx="7948929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7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= référence 95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82CD02EA-78B7-4177-95CF-5A24BF19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81228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17867B43-C070-4C7B-917D-1374B219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701344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FF5DFFD-274B-409C-A170-94B56910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698601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1803D51-0116-4DE9-99E2-DED918D0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705002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Cas réel InduSense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5D4532C-E278-45BC-991E-00C5EE61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765352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Symptôme : panne.mean() ≈ 4,89 %. Diagnostic : incident_ts.dt.time à minuit. Correction : date+time. Retour à 4,78 %.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20F025E8-118A-47EB-800C-4EB1C853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681228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A2EACEDB-03E0-4E7D-B334-39B859F6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701344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BBC7909-738B-4380-87D6-E1296D71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698601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0C5C48E-3CAB-4C2F-9496-923436D3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705002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Le saviez-vous ?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A81256A-0E9C-408C-9DB6-E6CEF621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765352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+0,11 point de prévalence paraît minuscule… mais ce sont 73 fausses alarmes qui dégradent la confiance dans le modèle.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6831B5C6-71BB-4240-A60F-3EB7B7D4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16409CC2-594F-4E22-ACEB-E5CE3065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 prod, le diable est dans le time : toujours combiner date + time.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CA545F23-292B-47BD-B101-697E21D4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F2BC5DF8-758E-4A72-A5F9-973A3D39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697310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5819131-8CE8-4B85-883C-7CD7FD2A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4FF2887-AF38-40D6-9FB8-FF3F05C2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64FFFF1-6A0C-4A3C-80CE-8D01AD17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L'upsert, en vrai (idempotence + horodatage)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35B4A1E-D69B-47C1-A6AB-041E71B6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On historise dans predictions, clé (machine, prediction_ts) ; rejouer ne duplique pas.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340A0F2-422E-486C-8DFD-DF7C971F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06039"/>
            <a:ext cx="18000980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B9B4524-16A5-4823-BE96-2B6A5E48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52344"/>
            <a:ext cx="17269460" cy="22128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75"/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INSERT INTO predictions (machine, prediction_ts, proba_panne, decision, written_at)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75"/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VALUES (...)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75"/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ON CONFLICT (machine, prediction_ts) DO UPDATE SET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75"/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proba_panne = EXCLUDED.proba_panne, decision = EXCLUDED.decision,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75"/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written_at = EXCLUDED.written_at;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75"/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-- 2 exécutions -&gt; count(*) IDENTIQUE (0 doublon)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275"/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-- horodatage incident : pd.to_datetime(date + ' ' + time)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3892A44-7F87-48E5-A54A-DD313CF0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25780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4EAB694-1E94-401B-BB8B-14923536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54589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114C0C2-1890-4521-8424-14BA1D0A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543153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90B8C33-085E-4579-9214-3B9D9E88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549554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Le saviez-vous 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F26D81D-802C-4F38-A97D-CDB4A6FA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609904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date seule (minuit) -&gt; 4,8914 % (+73 FP) ; date+time -&gt; 4,7802 % (jeu complet ; echantillon data/sample ~10,5 %).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64F2CA3-2179-413E-8F49-1EF89913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525780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8FE80B24-9057-4A54-B302-88D6D20B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54589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01BCF4E-53DC-4805-9AC9-5DE01647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543153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→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0E95E69-B4F5-4AD5-92DF-3BB0F0FA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5495544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Cas réel InduSense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5BB2546-E4B6-48CB-8324-E5A7BBCA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609904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store touche la DB (ressource externe) -&gt; retries ; les tasks de calcul pur, non.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F0CF528-269E-48AB-B3F6-54D9A997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96BD114-5A71-4FCC-8C4E-CC237380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Preuve d'idempotence : 2 runs -&gt; même count(*). C6/C7.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9F6FDBD-DFA6-41DD-BAD3-62FC3C3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47CAC56-D11A-49B2-84DF-EACDC2CE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583103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37EB67D-77D4-4373-BF88-C622CD64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DBAFE048-D4C3-4513-A7B0-55BC7899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4D3B83D-77BE-41AC-A097-AACA28D8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 en 3 points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2CF7AFED-1CA9-4049-839E-E00F9175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F51B0D2-6983-42D6-82C4-D75AC554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L'upsert évite les doublons.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A9AC4A51-10E8-46AA-A989-01B1A9C4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4963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9B464DF-F277-4C95-AACC-04386719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8658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Deux runs → count(*) stable : c'est la preuve d'idempotence.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D9763CB2-951C-49FF-8368-D2C62D26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083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2726241-CF7A-40BB-B82C-4F1CF2EB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89864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flow idempotent se rejoue sans dégât.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9715709-228A-4985-9B6D-AE896EC9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A5C05C7-2777-48AB-8209-F46057E4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9028334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C7C3035-BDD8-4668-8D67-FAC0134F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79ED658-5EB7-41E0-A1A7-D4DC2472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93860E3-72AB-410B-BB6E-1AFA11CF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Travaux dirigés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8C7055E-C24F-4C78-BFAE-17162DED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30 — TP guidé, correction au fil de l'eau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2E9024F-F587-4165-97F8-B7273E88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71935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12951C-E491-4456-A04E-5B44F722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272FC4F-7E63-4C9A-9D73-BE0A5627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FE3A2D2-D3E0-49E3-B089-1613D0B4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predict &amp; store (upsert)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6F9219B-B96A-4B5E-9196-B97537D1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A42DF32-8A5A-4AA6-BECE-D2A5A120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INSERT INTO predictions(machine,prediction_ts,proba_panne,decision,written_at)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VALUES(...) ON CONFLICT (machine,prediction_ts)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DO UPDATE SET proba_panne=EXCLUDED.proba_panne, decision=EXCLUDED.decision, written_at=EXCLUDED.written_at;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75D1D41-628A-4D52-A4DD-5185023A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30464C0-079A-4F99-90AB-E9DFA8E7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B45B3FC-C004-45C1-A89E-C316A539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520440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store a des retries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C'est une ressource externe (DB) → pannes transitoires possibles.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8C9AEFC-5280-468E-BF1D-9C191431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6D0EED1-56C3-455E-969E-61457B07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8864746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DDBD08-420D-4CE2-AC79-8A5B0D9F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6D0C67C-1F2E-482A-9195-335D6BEA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BDC9986-021B-4DD9-AC98-EB993938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preuve d'idempotence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DB21803-C662-42EE-86B0-235E1812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B36638C-92D9-4C24-BCEE-3CDC1505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 PostgreSQL · Compose @db:5432 · définir $sourceData · exécuter 2×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docker compose run --rm --no-deps -e PREFECT_PROFILE=ephemeral -e INDUSENSE_DATA_DIR=/d -v "${sourceData}:/d:ro" api python -m indusense.flows.predict_flow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# Windows · SQLite : $env:INDUSENSE_DB_URL="sqlite:///predictions.db" ; uv run python -m indusense.flows.predict_flow  # 2×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53D6862-BFE7-4BE8-8CDB-B22B6665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274CC33-3B88-4AC8-9250-5E4A9732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0FF7F3D-D5CA-4DE9-9C4A-90B25199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520440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✅ Preuve attendue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2 exécutions → même count(*) (0 doublon) ; panne ≈ 4,78 %.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9AB0355-724B-4245-807D-623DF0A2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A0783BA-0A1A-4A20-9888-5C13E7AF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0300317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EBF84D5-50EB-48D9-AF7F-BC990694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A75A4DE-1969-4A55-AA72-485A5CBC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FAE225D-7ABA-4F46-982B-CEC553B4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Autonomie tutorée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0C35CBD-E7DE-4A06-AE94-E2754972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30 — vous avancez, le formateur reste disponible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DAAA881-1D40-4007-9989-B138695B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4729604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9CE6187-B36F-41CA-A970-E5CA5DE2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9AFFFBF-9E61-449C-8505-51CF7785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7E4C99C-B755-42FA-BBA5-F13E47D6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Autonomie tutorée — enrichir le flow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BF3A61F-0378-4B91-9D10-7EA8F2D9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Avancez à votre rythme. Le formateur reste disponible.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4A6699EC-DE2D-463D-8D74-1FD9AFC3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EA49B81-D6D2-45A1-8B1A-9B8F240B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Ajouter une colonne decision (proba &gt; seuil) à la table + au store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EE1764D5-E376-477A-9E83-6B9DF252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2278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FB5E01C-0058-49F3-A130-F9E115AD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118103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OU Prefect 3 : predict_flow.serve(name="indusense-06h", cron="0 6 * * *")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01E5521-8FC4-4BFB-B1FF-0718A915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03320"/>
            <a:ext cx="18000980" cy="146303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1C808364-CB8D-4273-B57C-D0ED36C1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904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E1ACC9-E418-4965-A9C6-3A3A7B24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87705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44ECB11-FFDE-4C3E-8461-4D945843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941063"/>
            <a:ext cx="1690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Posture en distanciel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D0F1A4B-7E2E-4633-A7F3-C68E85C6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544568"/>
            <a:ext cx="17269460" cy="5029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Repli SQLite si pas de Postgres : même logique d'upsert. Montrez vos deux count(*) pour valider l'idempotence.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55E3003-B689-4E70-9395-BC80D88F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6FC707B-2142-4D2D-9E56-8CE4AF21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3493834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F98A64-B85A-46E1-8106-0ADB642B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6A1BAE1-84D9-45A9-8C4B-FA4B3D71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07B5BE9-24D7-4568-8BC7-294ADCDC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Definition of Done &amp; transition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E1C2AD66-603C-45E4-AA2A-40657B9A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5A3CC19-236B-4C93-8D1C-2450E725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DoD : flow exécutable, prédictions persistées, relance idempotente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A7991C6-1DE6-4C5C-8C1F-F418C02B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C746F42-07BE-4463-8BC2-8CDD2446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0B550C-2758-4075-A515-FD9201B3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2551176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Transition → Module 31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 pipeline tourne : on surveille la dérive des données (drift).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F4F8F6A-9208-4588-A14F-5305AFAB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98DAA9E-EB11-488B-A2DA-FAAAEE3E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47484719"/>
      </p:ext>
    </p:extLst>
  </p:cSld>
</p:sld>
</file>

<file path=ppt/theme/theme1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2026-08-24T07:13:14.8270000Z</dcterms:created>
  <dcterms:modified xsi:type="dcterms:W3CDTF">2026-08-24T07:13:14.8270000Z</dcterms:modified>
</coreProperties>
</file>