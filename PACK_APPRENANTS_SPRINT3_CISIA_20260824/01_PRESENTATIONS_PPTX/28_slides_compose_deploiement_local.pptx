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8da3137ac94791" /><Relationship Type="http://schemas.openxmlformats.org/officeDocument/2006/relationships/extended-properties" Target="/docProps/app.xml" Id="R891777a52901460e" /><Relationship Type="http://schemas.openxmlformats.org/officeDocument/2006/relationships/officeDocument" Target="/ppt/presentation.xml" Id="R6597182680354d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c7f546f3a846c3"/>
  </p:sldMasterIdLst>
  <p:notesMasterIdLst>
    <p:notesMasterId xmlns:r="http://schemas.openxmlformats.org/officeDocument/2006/relationships" r:id="Ra5d694ea0078460f"/>
  </p:notesMasterIdLst>
  <p:sldIdLst>
    <p:sldId xmlns:r="http://schemas.openxmlformats.org/officeDocument/2006/relationships" id="256" r:id="R3cdc35f952fd40ee"/>
    <p:sldId xmlns:r="http://schemas.openxmlformats.org/officeDocument/2006/relationships" id="257" r:id="Rf2e47cf8534148ab"/>
    <p:sldId xmlns:r="http://schemas.openxmlformats.org/officeDocument/2006/relationships" id="258" r:id="R226045c40a45487e"/>
    <p:sldId xmlns:r="http://schemas.openxmlformats.org/officeDocument/2006/relationships" id="259" r:id="R4fd532a5551f4543"/>
    <p:sldId xmlns:r="http://schemas.openxmlformats.org/officeDocument/2006/relationships" id="260" r:id="R5d0ce53e471c4b4c"/>
    <p:sldId xmlns:r="http://schemas.openxmlformats.org/officeDocument/2006/relationships" id="261" r:id="R92680e92cde94a0b"/>
    <p:sldId xmlns:r="http://schemas.openxmlformats.org/officeDocument/2006/relationships" id="262" r:id="R4ee0b6a0043a451c"/>
    <p:sldId xmlns:r="http://schemas.openxmlformats.org/officeDocument/2006/relationships" id="263" r:id="R5d291dae954d4cb5"/>
    <p:sldId xmlns:r="http://schemas.openxmlformats.org/officeDocument/2006/relationships" id="264" r:id="R28ca4010e82a4ad7"/>
    <p:sldId xmlns:r="http://schemas.openxmlformats.org/officeDocument/2006/relationships" id="265" r:id="Raa50dcfeede947e4"/>
    <p:sldId xmlns:r="http://schemas.openxmlformats.org/officeDocument/2006/relationships" id="266" r:id="R3cc4cf87a28e41e4"/>
    <p:sldId xmlns:r="http://schemas.openxmlformats.org/officeDocument/2006/relationships" id="267" r:id="Rf6785def171747ee"/>
    <p:sldId xmlns:r="http://schemas.openxmlformats.org/officeDocument/2006/relationships" id="268" r:id="R918cc0c4042e4b82"/>
    <p:sldId xmlns:r="http://schemas.openxmlformats.org/officeDocument/2006/relationships" id="269" r:id="Rd6b3cf3145b544a3"/>
    <p:sldId xmlns:r="http://schemas.openxmlformats.org/officeDocument/2006/relationships" id="270" r:id="Rf359caa2bfbd403b"/>
  </p:sldIdLst>
  <p:sldSz cx="20104100" cy="11309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eb38ace3544443" /><Relationship Type="http://schemas.openxmlformats.org/officeDocument/2006/relationships/slideMaster" Target="/ppt/slideMasters/slideMaster1.xml" Id="R95c7f546f3a846c3" /><Relationship Type="http://schemas.openxmlformats.org/officeDocument/2006/relationships/notesMaster" Target="/ppt/notesMasters/notesMaster1.xml" Id="Ra5d694ea0078460f" /><Relationship Type="http://schemas.openxmlformats.org/officeDocument/2006/relationships/presProps" Target="/ppt/presProps.xml" Id="R84a3355c8eec4509" /><Relationship Type="http://schemas.openxmlformats.org/officeDocument/2006/relationships/viewProps" Target="/ppt/viewProps.xml" Id="R2af92b0caf55461a" /><Relationship Type="http://schemas.openxmlformats.org/officeDocument/2006/relationships/tableStyles" Target="/ppt/tableStyles.xml" Id="R1b7b5e93de1f48ae" /><Relationship Type="http://schemas.openxmlformats.org/officeDocument/2006/relationships/slide" Target="/ppt/slides/slide1.xml" Id="R3cdc35f952fd40ee" /><Relationship Type="http://schemas.openxmlformats.org/officeDocument/2006/relationships/slide" Target="/ppt/slides/slide2.xml" Id="Rf2e47cf8534148ab" /><Relationship Type="http://schemas.openxmlformats.org/officeDocument/2006/relationships/slide" Target="/ppt/slides/slide3.xml" Id="R226045c40a45487e" /><Relationship Type="http://schemas.openxmlformats.org/officeDocument/2006/relationships/slide" Target="/ppt/slides/slide4.xml" Id="R4fd532a5551f4543" /><Relationship Type="http://schemas.openxmlformats.org/officeDocument/2006/relationships/slide" Target="/ppt/slides/slide5.xml" Id="R5d0ce53e471c4b4c" /><Relationship Type="http://schemas.openxmlformats.org/officeDocument/2006/relationships/slide" Target="/ppt/slides/slide6.xml" Id="R92680e92cde94a0b" /><Relationship Type="http://schemas.openxmlformats.org/officeDocument/2006/relationships/slide" Target="/ppt/slides/slide7.xml" Id="R4ee0b6a0043a451c" /><Relationship Type="http://schemas.openxmlformats.org/officeDocument/2006/relationships/slide" Target="/ppt/slides/slide8.xml" Id="R5d291dae954d4cb5" /><Relationship Type="http://schemas.openxmlformats.org/officeDocument/2006/relationships/slide" Target="/ppt/slides/slide9.xml" Id="R28ca4010e82a4ad7" /><Relationship Type="http://schemas.openxmlformats.org/officeDocument/2006/relationships/slide" Target="/ppt/slides/slide10.xml" Id="Raa50dcfeede947e4" /><Relationship Type="http://schemas.openxmlformats.org/officeDocument/2006/relationships/slide" Target="/ppt/slides/slide11.xml" Id="R3cc4cf87a28e41e4" /><Relationship Type="http://schemas.openxmlformats.org/officeDocument/2006/relationships/slide" Target="/ppt/slides/slide12.xml" Id="Rf6785def171747ee" /><Relationship Type="http://schemas.openxmlformats.org/officeDocument/2006/relationships/slide" Target="/ppt/slides/slide13.xml" Id="R918cc0c4042e4b82" /><Relationship Type="http://schemas.openxmlformats.org/officeDocument/2006/relationships/slide" Target="/ppt/slides/slide14.xml" Id="Rd6b3cf3145b544a3" /><Relationship Type="http://schemas.openxmlformats.org/officeDocument/2006/relationships/slide" Target="/ppt/slides/slide15.xml" Id="Rf359caa2bfbd40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69bd5ef57e43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34e7fd50be4e0a" /><Relationship Type="http://schemas.openxmlformats.org/officeDocument/2006/relationships/notesMaster" Target="/ppt/notesMasters/notesMaster1.xml" Id="R7528809774af49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6c1f69e24f4032" /><Relationship Type="http://schemas.openxmlformats.org/officeDocument/2006/relationships/notesMaster" Target="/ppt/notesMasters/notesMaster1.xml" Id="R6bd2e83eadbc4e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e616abc6fc4234" /><Relationship Type="http://schemas.openxmlformats.org/officeDocument/2006/relationships/notesMaster" Target="/ppt/notesMasters/notesMaster1.xml" Id="Rfa83fea2dcca4c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88abe7dc264e92" /><Relationship Type="http://schemas.openxmlformats.org/officeDocument/2006/relationships/notesMaster" Target="/ppt/notesMasters/notesMaster1.xml" Id="R90928ae486f547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702448efad4b19" /><Relationship Type="http://schemas.openxmlformats.org/officeDocument/2006/relationships/notesMaster" Target="/ppt/notesMasters/notesMaster1.xml" Id="Ref91b08ad38a42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6e906e98444d78" /><Relationship Type="http://schemas.openxmlformats.org/officeDocument/2006/relationships/notesMaster" Target="/ppt/notesMasters/notesMaster1.xml" Id="Rca38ea35afc040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09bae7398c431d" /><Relationship Type="http://schemas.openxmlformats.org/officeDocument/2006/relationships/notesMaster" Target="/ppt/notesMasters/notesMaster1.xml" Id="R5531b80733fe41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be93c8fb4047ea" /><Relationship Type="http://schemas.openxmlformats.org/officeDocument/2006/relationships/notesMaster" Target="/ppt/notesMasters/notesMaster1.xml" Id="R42f09d5a25574e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5648dee44a4493" /><Relationship Type="http://schemas.openxmlformats.org/officeDocument/2006/relationships/notesMaster" Target="/ppt/notesMasters/notesMaster1.xml" Id="R5f0de7bc6c5c4f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cc360cbfd044e6" /><Relationship Type="http://schemas.openxmlformats.org/officeDocument/2006/relationships/notesMaster" Target="/ppt/notesMasters/notesMaster1.xml" Id="Rc652b30d45564f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59b27e69eb4e4a" /><Relationship Type="http://schemas.openxmlformats.org/officeDocument/2006/relationships/notesMaster" Target="/ppt/notesMasters/notesMaster1.xml" Id="R0793e19ec1ee43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f79af8e9004c31" /><Relationship Type="http://schemas.openxmlformats.org/officeDocument/2006/relationships/notesMaster" Target="/ppt/notesMasters/notesMaster1.xml" Id="R748e76b108c540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d0ad4bc2fc47d9" /><Relationship Type="http://schemas.openxmlformats.org/officeDocument/2006/relationships/notesMaster" Target="/ppt/notesMasters/notesMaster1.xml" Id="R204a4ef994de4a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4d4bea0456844e6" /><Relationship Type="http://schemas.openxmlformats.org/officeDocument/2006/relationships/notesMaster" Target="/ppt/notesMasters/notesMaster1.xml" Id="R4d50c26e419f45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a3d7e7f1564498" /><Relationship Type="http://schemas.openxmlformats.org/officeDocument/2006/relationships/notesMaster" Target="/ppt/notesMasters/notesMaster1.xml" Id="Redd6be1e4c1446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f9a1bc283e4efe" /><Relationship Type="http://schemas.openxmlformats.org/officeDocument/2006/relationships/image" Target="/ppt/media/image.png" Id="R87a338f894c146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704e67d8dd49d1" /><Relationship Type="http://schemas.openxmlformats.org/officeDocument/2006/relationships/image" Target="/ppt/media/image2.png" Id="R3841ca5633934a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74d4ea00f1472e" /><Relationship Type="http://schemas.openxmlformats.org/officeDocument/2006/relationships/image" Target="/ppt/media/image3.png" Id="R5dd9bd8534fa48da" /><Relationship Type="http://schemas.openxmlformats.org/officeDocument/2006/relationships/image" Target="/ppt/media/image4.png" Id="R00a6b5a92a2d44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b96bc8cde7402a" /><Relationship Type="http://schemas.openxmlformats.org/officeDocument/2006/relationships/image" Target="/ppt/media/image5.png" Id="R70ba35700d47440a" /><Relationship Type="http://schemas.openxmlformats.org/officeDocument/2006/relationships/image" Target="/ppt/media/image4.png" Id="Rbc2bbdee0a124915" /><Relationship Type="http://schemas.openxmlformats.org/officeDocument/2006/relationships/image" Target="/ppt/media/image6.png" Id="Rb71a8fe80a4442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6fc89a81d44a16" /><Relationship Type="http://schemas.openxmlformats.org/officeDocument/2006/relationships/image" Target="/ppt/media/image5.png" Id="R4df240e49667481d" /><Relationship Type="http://schemas.openxmlformats.org/officeDocument/2006/relationships/image" Target="/ppt/media/image4.png" Id="R8a888f24af86442c" /><Relationship Type="http://schemas.openxmlformats.org/officeDocument/2006/relationships/image" Target="/ppt/media/image6.png" Id="Rb3cfb911dd1d41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76b12748804f44" /><Relationship Type="http://schemas.openxmlformats.org/officeDocument/2006/relationships/image" Target="/ppt/media/image5.png" Id="Rd38be4f7f74640e5" /><Relationship Type="http://schemas.openxmlformats.org/officeDocument/2006/relationships/image" Target="/ppt/media/image4.png" Id="R087183fcb3ba4611" /><Relationship Type="http://schemas.openxmlformats.org/officeDocument/2006/relationships/image" Target="/ppt/media/image6.png" Id="R061f967036a8444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2dbc559e9749bc" /><Relationship Type="http://schemas.openxmlformats.org/officeDocument/2006/relationships/image" Target="/ppt/media/image5.png" Id="R9b00182465a14031" /><Relationship Type="http://schemas.openxmlformats.org/officeDocument/2006/relationships/image" Target="/ppt/media/image4.png" Id="R6864c5f88de44524" /><Relationship Type="http://schemas.openxmlformats.org/officeDocument/2006/relationships/image" Target="/ppt/media/image6.png" Id="R4e9bde91e84c4df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8f3669b3e477e" /><Relationship Type="http://schemas.openxmlformats.org/officeDocument/2006/relationships/image" Target="/ppt/media/image5.png" Id="R98e2944981654691" /><Relationship Type="http://schemas.openxmlformats.org/officeDocument/2006/relationships/image" Target="/ppt/media/image4.png" Id="R55178561894a486d" /><Relationship Type="http://schemas.openxmlformats.org/officeDocument/2006/relationships/image" Target="/ppt/media/image6.png" Id="R62fc178795e84ee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dbce87a48e4d93" /><Relationship Type="http://schemas.openxmlformats.org/officeDocument/2006/relationships/image" Target="/ppt/media/image7.png" Id="R4658f19d679c4f2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fc4a4e1e84af6" /><Relationship Type="http://schemas.openxmlformats.org/officeDocument/2006/relationships/image" Target="/ppt/media/image8.png" Id="Rf1dafd7d65b3439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e160eea2474a8c" /><Relationship Type="http://schemas.openxmlformats.org/officeDocument/2006/relationships/image" Target="/ppt/media/image9.png" Id="Rb95977ca122c4f5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08e97ad1a467c" /><Relationship Type="http://schemas.openxmlformats.org/officeDocument/2006/relationships/image" Target="/ppt/media/image10.png" Id="R3fee55e623b64b2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3bde20c1e4ed8" /><Relationship Type="http://schemas.openxmlformats.org/officeDocument/2006/relationships/image" Target="/ppt/media/image11.png" Id="R5ee7ca42f20f4b2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ac40bea5c4e03" /><Relationship Type="http://schemas.openxmlformats.org/officeDocument/2006/relationships/image" Target="/ppt/media/image12.png" Id="R9bb2fa3720004ff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4915dd1d041a3" /><Relationship Type="http://schemas.openxmlformats.org/officeDocument/2006/relationships/image" Target="/ppt/media/image13.png" Id="R51b256f5aa434407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d3b518d064586" /><Relationship Type="http://schemas.openxmlformats.org/officeDocument/2006/relationships/image" Target="/ppt/media/image2.png" Id="R4803ec681e434c1d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b19320b77849bf" /><Relationship Type="http://schemas.openxmlformats.org/officeDocument/2006/relationships/image" Target="/ppt/media/image14.png" Id="R65b6f520f4a44c0f" /><Relationship Type="http://schemas.openxmlformats.org/officeDocument/2006/relationships/image" Target="/ppt/media/image15.png" Id="R1e0abe61e5b149f5" /></Relationships>
</file>

<file path=ppt/slideLayouts/slideLayout1.xml><?xml version="1.0" encoding="utf-8"?>
<p:sldLayout xmlns:p="http://schemas.openxmlformats.org/presentationml/2006/main" preserve="1" userDrawn="1">
  <p:cSld name="17_Disposition personnalisée">
    <p:bg>
      <p:bgPr>
        <a:blipFill xmlns:a="http://schemas.openxmlformats.org/drawingml/2006/main" rotWithShape="1">
          <a:blip xmlns:r="http://schemas.openxmlformats.org/officeDocument/2006/relationships" r:embed="R87a338f894c146f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8">
            <a:extLst xmlns:a="http://schemas.openxmlformats.org/drawingml/2006/main">
              <a:ext uri="{FF2B5EF4-FFF2-40B4-BE49-F238E27FC236}">
                <a16:creationId xmlns:a16="http://schemas.microsoft.com/office/drawing/2014/main" id="{5E7576F2-96D7-4879-C595-31AEF196E4F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39962" y="4862587"/>
            <a:ext cx="61722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000" b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Nom du formateur</a:t>
            </a:r>
          </a:p>
        </p:txBody>
      </p:sp>
      <p:sp>
        <p:nvSpPr>
          <p:cNvPr id="3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C84FB502-4701-30C4-540E-C8A8154B5FB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39962" y="7507138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4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Intitulé de la formation</a:t>
            </a:r>
          </a:p>
        </p:txBody>
      </p:sp>
      <p:sp>
        <p:nvSpPr>
          <p:cNvPr id="9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1B8F86BD-B5C7-B927-A9D3-2B75CFF0D7F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39962" y="6891585"/>
            <a:ext cx="7620000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 sz="32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Thématique de la formation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9_Disposition personnalisée">
    <p:bg>
      <p:bgPr>
        <a:blipFill xmlns:a="http://schemas.openxmlformats.org/drawingml/2006/main" rotWithShape="1">
          <a:blip xmlns:r="http://schemas.openxmlformats.org/officeDocument/2006/relationships" r:embed="R3841ca5633934a38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2E351256-75CD-2ED8-4BB9-764EC4F953F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179842" y="1622227"/>
            <a:ext cx="9067800" cy="2078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Sommaire</a:t>
            </a:r>
          </a:p>
        </p:txBody>
      </p:sp>
      <p:sp>
        <p:nvSpPr>
          <p:cNvPr id="3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E4210765-D18A-93AA-5401-6FE46CD1B5A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495111" y="75290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4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C21EE629-EB1A-113D-97A8-9978DF1EE8D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495111" y="51827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5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DF353674-E326-FAC4-8E39-A794B8C892D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9495111" y="5946876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6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6FB8EC16-DCC1-A56A-2FCA-A8161FB9A73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9475986" y="6737939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7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A1C31546-D63A-76DA-451E-F5E3BC95B39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9475986" y="4418602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7C8B2001-5977-1C01-BE50-4A3FAA65C3B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495111" y="832006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itre et contenu">
    <p:bg>
      <p:bgPr>
        <a:blipFill xmlns:a="http://schemas.openxmlformats.org/drawingml/2006/main" rotWithShape="1">
          <a:blip xmlns:r="http://schemas.openxmlformats.org/officeDocument/2006/relationships" r:embed="R5dd9bd8534fa48da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ZoneTexte 6">
            <a:extLst xmlns:a="http://schemas.openxmlformats.org/drawingml/2006/main">
              <a:ext uri="{FF2B5EF4-FFF2-40B4-BE49-F238E27FC236}">
                <a16:creationId xmlns:a16="http://schemas.microsoft.com/office/drawing/2014/main" id="{5347DE8B-CF68-40E8-B8D8-090B18DC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8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01</a:t>
            </a:r>
          </a:p>
        </p:txBody>
      </p:sp>
      <p:pic>
        <p:nvPicPr>
          <p:cNvPr id="25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6b5a92a2d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3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66603E52-899B-4BE9-93E0-B72BDAEC294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22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B2C1FB38-60A8-4700-B272-5C798855A97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1_Title and Content">
    <p:bg>
      <p:bgPr>
        <a:blipFill xmlns:a="http://schemas.openxmlformats.org/drawingml/2006/main" rotWithShape="1">
          <a:blip xmlns:r="http://schemas.openxmlformats.org/officeDocument/2006/relationships" r:embed="R70ba35700d47440a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bbdee0a1249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a8fe80a4442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02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2_Title and Content">
    <p:bg>
      <p:bgPr>
        <a:blipFill xmlns:a="http://schemas.openxmlformats.org/drawingml/2006/main" rotWithShape="1">
          <a:blip xmlns:r="http://schemas.openxmlformats.org/officeDocument/2006/relationships" r:embed="R4df240e49667481d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88f24af8644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fb911dd1d4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03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3_Title and Content">
    <p:bg>
      <p:bgPr>
        <a:blipFill xmlns:a="http://schemas.openxmlformats.org/drawingml/2006/main" rotWithShape="1">
          <a:blip xmlns:r="http://schemas.openxmlformats.org/officeDocument/2006/relationships" r:embed="Rd38be4f7f74640e5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183fcb3ba46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f967036a844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04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Title and Content">
    <p:bg>
      <p:bgPr>
        <a:blipFill xmlns:a="http://schemas.openxmlformats.org/drawingml/2006/main" rotWithShape="1">
          <a:blip xmlns:r="http://schemas.openxmlformats.org/officeDocument/2006/relationships" r:embed="R9b00182465a14031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4c5f88de44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bde91e84c4d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05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5_Title and Content">
    <p:bg>
      <p:bgPr>
        <a:blipFill xmlns:a="http://schemas.openxmlformats.org/drawingml/2006/main" rotWithShape="1">
          <a:blip xmlns:r="http://schemas.openxmlformats.org/officeDocument/2006/relationships" r:embed="R98e2944981654691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78561894a48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98439" y="8278783"/>
            <a:ext cx="482423" cy="471935"/>
          </a:xfrm>
          <a:prstGeom xmlns:a="http://schemas.openxmlformats.org/drawingml/2006/main" prst="rect">
            <a:avLst/>
          </a:prstGeom>
        </p:spPr>
      </p:pic>
      <p:sp>
        <p:nvSpPr>
          <p:cNvPr id="17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D9A42879-4001-4FD1-9124-24DA9AC15A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594850" y="3216275"/>
            <a:ext cx="9067800" cy="487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8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C85F864-F8C9-4A5A-AA9B-F6596A0B708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0280650" y="8245475"/>
            <a:ext cx="8382000" cy="47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600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Sous titre du chapitre (détails)</a:t>
            </a:r>
          </a:p>
        </p:txBody>
      </p:sp>
      <p:pic>
        <p:nvPicPr>
          <p:cNvPr id="26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c178795e84e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1416" y="5654675"/>
            <a:ext cx="2943234" cy="118619"/>
          </a:xfrm>
          <a:prstGeom xmlns:a="http://schemas.openxmlformats.org/drawingml/2006/main" prst="rect">
            <a:avLst/>
          </a:prstGeom>
        </p:spPr>
      </p:pic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9FBA6651-62DF-4853-AB06-C083145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" y="2174745"/>
            <a:ext cx="10972800" cy="7355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70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 </a:t>
            </a:r>
            <a:r>
              <a:rPr sz="47200" b="1" spc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06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Title Slide">
    <p:bg>
      <p:bgPr>
        <a:blipFill xmlns:a="http://schemas.openxmlformats.org/drawingml/2006/main" rotWithShape="1">
          <a:blip xmlns:r="http://schemas.openxmlformats.org/officeDocument/2006/relationships" r:embed="R4658f19d679c4f2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2_Disposition personnalisée">
    <p:bg>
      <p:bgPr>
        <a:blipFill xmlns:a="http://schemas.openxmlformats.org/drawingml/2006/main" rotWithShape="1">
          <a:blip xmlns:r="http://schemas.openxmlformats.org/officeDocument/2006/relationships" r:embed="Rf1dafd7d65b3439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preserve="1" userDrawn="1">
  <p:cSld name="3_Disposition personnalisée">
    <p:bg>
      <p:bgPr>
        <a:blipFill xmlns:a="http://schemas.openxmlformats.org/drawingml/2006/main" rotWithShape="1">
          <a:blip xmlns:r="http://schemas.openxmlformats.org/officeDocument/2006/relationships" r:embed="Rb95977ca122c4f5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preserve="1" userDrawn="1">
  <p:cSld name="6_Disposition personnalisée">
    <p:bg>
      <p:bgPr>
        <a:blipFill xmlns:a="http://schemas.openxmlformats.org/drawingml/2006/main" rotWithShape="1">
          <a:blip xmlns:r="http://schemas.openxmlformats.org/officeDocument/2006/relationships" r:embed="R3fee55e623b64b2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preserve="1" userDrawn="1">
  <p:cSld name="10_Disposition personnalisée">
    <p:bg>
      <p:bgPr>
        <a:blipFill xmlns:a="http://schemas.openxmlformats.org/drawingml/2006/main" rotWithShape="1">
          <a:blip xmlns:r="http://schemas.openxmlformats.org/officeDocument/2006/relationships" r:embed="R5ee7ca42f20f4b2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showMasterSp="0" type="obj" preserve="1">
  <p:cSld name="1_Blank">
    <p:bg>
      <p:bgPr>
        <a:blipFill xmlns:a="http://schemas.openxmlformats.org/drawingml/2006/main" rotWithShape="1">
          <a:blip xmlns:r="http://schemas.openxmlformats.org/officeDocument/2006/relationships" r:embed="R9bb2fa3720004ff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preserve="1" userDrawn="1">
  <p:cSld name="18_Disposition personnalisée">
    <p:bg>
      <p:bgPr>
        <a:blipFill xmlns:a="http://schemas.openxmlformats.org/drawingml/2006/main" rotWithShape="1">
          <a:blip xmlns:r="http://schemas.openxmlformats.org/officeDocument/2006/relationships" r:embed="R51b256f5aa43440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6.xml><?xml version="1.0" encoding="utf-8"?>
<p:sldLayout xmlns:p="http://schemas.openxmlformats.org/presentationml/2006/main" preserve="1" userDrawn="1">
  <p:cSld name="20_Disposition personnalisée">
    <p:bg>
      <p:bgPr>
        <a:blipFill xmlns:a="http://schemas.openxmlformats.org/drawingml/2006/main" rotWithShape="1">
          <a:blip xmlns:r="http://schemas.openxmlformats.org/officeDocument/2006/relationships" r:embed="R4803ec681e434c1d">
            <a:lum/>
          </a:blip>
          <a:srcRect l="0" t="0" r="0" b="0"/>
          <a:stretch>
            <a:fillRect l="0" t="-4000" r="0" b="-4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 preserve="1" userDrawn="1">
  <p:cSld name="Disposition personnalisée">
    <p:bg>
      <p:bgPr>
        <a:blipFill xmlns:a="http://schemas.openxmlformats.org/drawingml/2006/main" rotWithShape="1">
          <a:blip xmlns:r="http://schemas.openxmlformats.org/officeDocument/2006/relationships" r:embed="R65b6f520f4a44c0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abe61e5b149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002" y="542107"/>
            <a:ext cx="18902097" cy="5040560"/>
          </a:xfrm>
          <a:prstGeom xmlns:a="http://schemas.openxmlformats.org/drawingml/2006/main" prst="roundRect">
            <a:avLst>
              <a:gd name="adj" fmla="val 9607"/>
            </a:avLst>
          </a:prstGeom>
        </p:spPr>
      </p:pic>
      <p:sp>
        <p:nvSpPr>
          <p:cNvPr id="6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86C7ADBF-7FE4-9BE8-94E3-4FAC04EE5D9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35025" y="6230739"/>
            <a:ext cx="14587149" cy="10801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6000" b="1">
                <a:solidFill>
                  <a:schemeClr val="bg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Merci de votre attention !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02397515774b2b" /><Relationship Type="http://schemas.openxmlformats.org/officeDocument/2006/relationships/slideLayout" Target="/ppt/slideLayouts/slideLayout1.xml" Id="R8cb3384d0658469a" /><Relationship Type="http://schemas.openxmlformats.org/officeDocument/2006/relationships/slideLayout" Target="/ppt/slideLayouts/slideLayout2.xml" Id="Rd2c61b6eb9d242e1" /><Relationship Type="http://schemas.openxmlformats.org/officeDocument/2006/relationships/slideLayout" Target="/ppt/slideLayouts/slideLayout3.xml" Id="Ra65340aee9574190" /><Relationship Type="http://schemas.openxmlformats.org/officeDocument/2006/relationships/slideLayout" Target="/ppt/slideLayouts/slideLayout4.xml" Id="Rd9cfc400b57b4404" /><Relationship Type="http://schemas.openxmlformats.org/officeDocument/2006/relationships/slideLayout" Target="/ppt/slideLayouts/slideLayout5.xml" Id="R385c31891c2f4ba7" /><Relationship Type="http://schemas.openxmlformats.org/officeDocument/2006/relationships/slideLayout" Target="/ppt/slideLayouts/slideLayout6.xml" Id="R84142cc924c141cd" /><Relationship Type="http://schemas.openxmlformats.org/officeDocument/2006/relationships/slideLayout" Target="/ppt/slideLayouts/slideLayout7.xml" Id="R411471160843451b" /><Relationship Type="http://schemas.openxmlformats.org/officeDocument/2006/relationships/slideLayout" Target="/ppt/slideLayouts/slideLayout8.xml" Id="R04e85e811fc24153" /><Relationship Type="http://schemas.openxmlformats.org/officeDocument/2006/relationships/slideLayout" Target="/ppt/slideLayouts/slideLayout9.xml" Id="R1bb556b1a95840ee" /><Relationship Type="http://schemas.openxmlformats.org/officeDocument/2006/relationships/slideLayout" Target="/ppt/slideLayouts/slideLayout10.xml" Id="Rff6b1ff1ede94b46" /><Relationship Type="http://schemas.openxmlformats.org/officeDocument/2006/relationships/slideLayout" Target="/ppt/slideLayouts/slideLayout11.xml" Id="Rea7c2d7878f54a9c" /><Relationship Type="http://schemas.openxmlformats.org/officeDocument/2006/relationships/slideLayout" Target="/ppt/slideLayouts/slideLayout12.xml" Id="Rac181ba227fa42fd" /><Relationship Type="http://schemas.openxmlformats.org/officeDocument/2006/relationships/slideLayout" Target="/ppt/slideLayouts/slideLayout13.xml" Id="R38f609d376a44664" /><Relationship Type="http://schemas.openxmlformats.org/officeDocument/2006/relationships/slideLayout" Target="/ppt/slideLayouts/slideLayout14.xml" Id="R7444a33db5314eae" /><Relationship Type="http://schemas.openxmlformats.org/officeDocument/2006/relationships/slideLayout" Target="/ppt/slideLayouts/slideLayout15.xml" Id="Ref471d0f42914cb9" /><Relationship Type="http://schemas.openxmlformats.org/officeDocument/2006/relationships/slideLayout" Target="/ppt/slideLayouts/slideLayout16.xml" Id="R4e42de978243487e" /><Relationship Type="http://schemas.openxmlformats.org/officeDocument/2006/relationships/slideLayout" Target="/ppt/slideLayouts/slideLayout17.xml" Id="R5059b4d11e7141b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b3384d0658469a"/>
    <p:sldLayoutId xmlns:r="http://schemas.openxmlformats.org/officeDocument/2006/relationships" id="2147483650" r:id="Rd2c61b6eb9d242e1"/>
    <p:sldLayoutId xmlns:r="http://schemas.openxmlformats.org/officeDocument/2006/relationships" id="2147483651" r:id="Ra65340aee9574190"/>
    <p:sldLayoutId xmlns:r="http://schemas.openxmlformats.org/officeDocument/2006/relationships" id="2147483652" r:id="Rd9cfc400b57b4404"/>
    <p:sldLayoutId xmlns:r="http://schemas.openxmlformats.org/officeDocument/2006/relationships" id="2147483653" r:id="R385c31891c2f4ba7"/>
    <p:sldLayoutId xmlns:r="http://schemas.openxmlformats.org/officeDocument/2006/relationships" id="2147483654" r:id="R84142cc924c141cd"/>
    <p:sldLayoutId xmlns:r="http://schemas.openxmlformats.org/officeDocument/2006/relationships" id="2147483655" r:id="R411471160843451b"/>
    <p:sldLayoutId xmlns:r="http://schemas.openxmlformats.org/officeDocument/2006/relationships" id="2147483656" r:id="R04e85e811fc24153"/>
    <p:sldLayoutId xmlns:r="http://schemas.openxmlformats.org/officeDocument/2006/relationships" id="2147483657" r:id="R1bb556b1a95840ee"/>
    <p:sldLayoutId xmlns:r="http://schemas.openxmlformats.org/officeDocument/2006/relationships" id="2147483658" r:id="Rff6b1ff1ede94b46"/>
    <p:sldLayoutId xmlns:r="http://schemas.openxmlformats.org/officeDocument/2006/relationships" id="2147483659" r:id="Rea7c2d7878f54a9c"/>
    <p:sldLayoutId xmlns:r="http://schemas.openxmlformats.org/officeDocument/2006/relationships" id="2147483660" r:id="Rac181ba227fa42fd"/>
    <p:sldLayoutId xmlns:r="http://schemas.openxmlformats.org/officeDocument/2006/relationships" id="2147483661" r:id="R38f609d376a44664"/>
    <p:sldLayoutId xmlns:r="http://schemas.openxmlformats.org/officeDocument/2006/relationships" id="2147483662" r:id="R7444a33db5314eae"/>
    <p:sldLayoutId xmlns:r="http://schemas.openxmlformats.org/officeDocument/2006/relationships" id="2147483663" r:id="Ref471d0f42914cb9"/>
    <p:sldLayoutId xmlns:r="http://schemas.openxmlformats.org/officeDocument/2006/relationships" id="2147483664" r:id="R4e42de978243487e"/>
    <p:sldLayoutId xmlns:r="http://schemas.openxmlformats.org/officeDocument/2006/relationships" id="2147483665" r:id="R5059b4d11e7141b7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10a64cc811e4f20" /><Relationship Type="http://schemas.openxmlformats.org/officeDocument/2006/relationships/image" Target="/ppt/media/image15.png" Id="Rf50f2ca8c5034cc1" /><Relationship Type="http://schemas.openxmlformats.org/officeDocument/2006/relationships/notesSlide" Target="/ppt/notesSlides/notesSlide1.xml" Id="Rf860992343a04e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1e5d123f5794664" /><Relationship Type="http://schemas.openxmlformats.org/officeDocument/2006/relationships/notesSlide" Target="/ppt/notesSlides/notesSlide2.xml" Id="R9b8d661fe16540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d5bbe67f5f545b9" /><Relationship Type="http://schemas.openxmlformats.org/officeDocument/2006/relationships/notesSlide" Target="/ppt/notesSlides/notesSlide3.xml" Id="R9409b58c41cf44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a062e878a924b1f" /><Relationship Type="http://schemas.openxmlformats.org/officeDocument/2006/relationships/notesSlide" Target="/ppt/notesSlides/notesSlide4.xml" Id="R3013b5c331e24e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05fa1f769944b02" /><Relationship Type="http://schemas.openxmlformats.org/officeDocument/2006/relationships/notesSlide" Target="/ppt/notesSlides/notesSlide5.xml" Id="R41b57f1a03144e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5eb0b5aa9a34056" /><Relationship Type="http://schemas.openxmlformats.org/officeDocument/2006/relationships/notesSlide" Target="/ppt/notesSlides/notesSlide6.xml" Id="Re230480a78e647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d78f343a7c04b2f" /><Relationship Type="http://schemas.openxmlformats.org/officeDocument/2006/relationships/notesSlide" Target="/ppt/notesSlides/notesSlide7.xml" Id="R96ee281803324e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2e0971b888541bb" /><Relationship Type="http://schemas.openxmlformats.org/officeDocument/2006/relationships/notesSlide" Target="/ppt/notesSlides/notesSlide8.xml" Id="R8aa119f2dbce49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fa16098c6054c83" /><Relationship Type="http://schemas.openxmlformats.org/officeDocument/2006/relationships/notesSlide" Target="/ppt/notesSlides/notesSlide9.xml" Id="R8f143d528b1744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69441e68c2a4eb5" /><Relationship Type="http://schemas.openxmlformats.org/officeDocument/2006/relationships/notesSlide" Target="/ppt/notesSlides/notesSlide10.xml" Id="Rae0f7cf6302e4f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7d5d760d2464556" /><Relationship Type="http://schemas.openxmlformats.org/officeDocument/2006/relationships/notesSlide" Target="/ppt/notesSlides/notesSlide11.xml" Id="Rb63565f3b44847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ca4343f294d4f3c" /><Relationship Type="http://schemas.openxmlformats.org/officeDocument/2006/relationships/notesSlide" Target="/ppt/notesSlides/notesSlide12.xml" Id="R95cf5d6a933146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db00c6cc51346e5" /><Relationship Type="http://schemas.openxmlformats.org/officeDocument/2006/relationships/notesSlide" Target="/ppt/notesSlides/notesSlide13.xml" Id="R3c1e3dd3b5f449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b2ba3c2b745439e" /><Relationship Type="http://schemas.openxmlformats.org/officeDocument/2006/relationships/notesSlide" Target="/ppt/notesSlides/notesSlide14.xml" Id="R2ba8cdf011884b8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082f9dfa99b4947" /><Relationship Type="http://schemas.openxmlformats.org/officeDocument/2006/relationships/notesSlide" Target="/ppt/notesSlides/notesSlide15.xml" Id="Ra885b2d0d4c74f0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B95CB8-46ED-4D46-A098-2F549D58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f2ca8c5034c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1560" y="868680"/>
            <a:ext cx="3931920" cy="1048512"/>
          </a:xfrm>
          <a:prstGeom xmlns:a="http://schemas.openxmlformats.org/drawingml/2006/main" prst="rect">
            <a:avLst/>
          </a:prstGeom>
        </p:spPr>
      </p:pic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13583555-24D1-494C-86FD-FF29126B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6908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D7126E9-93B4-4948-A707-5981AE7A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41648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28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43131D2-F492-407D-956A-6727C763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3657600"/>
            <a:ext cx="1694942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Aft>
                <a:spcPts val="600"/>
              </a:spcAft>
              <a:buNone/>
            </a:pPr>
            <a:r>
              <a:rPr sz="5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Déploiement local &amp; compose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C5AF203-4D0F-465B-A0B4-E18D1323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5943600"/>
            <a:ext cx="169494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US3.3 · C6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A0D8668-CED5-41E1-91B4-F910ECF9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029190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0" i="0">
                <a:solidFill>
                  <a:srgbClr val="EAEAEA"/>
                </a:solidFill>
                <a:latin typeface="Arial"/>
                <a:ea typeface="Arial"/>
                <a:cs typeface="Arial"/>
              </a:rPr>
              <a:t>Sprint 3 — Industrialisation &amp; déploiement  ·  Certification CISIA  ·  Formation à distance</a:t>
            </a:r>
          </a:p>
        </p:txBody>
      </p:sp>
    </p:spTree>
    <p:extLst>
      <p:ext uri="{BB962C8B-B14F-4D97-AF65-F5344CB8AC3E}">
        <p14:creationId xmlns:p14="http://schemas.microsoft.com/office/powerpoint/2010/main" val="5415516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CB1B3F1-11D9-416B-9131-13FB48D3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ECF1A1C-83A8-432A-B7C5-32A291E5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4DEE51D-37C6-469C-92BA-3DAD700A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Objectifs &amp; déroulé de la séance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2568CB9-0D1A-4329-B3B0-58094A78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65960"/>
            <a:ext cx="936050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À l'issue, vous serez capable de :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5385691F-8605-4FD6-A546-CF91140D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9748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4144F9A-FC46-478C-8326-3780FF7F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7004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8AE4E7A-B3B7-4457-B5F8-A530CD24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697480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Composer API + PostgreSQL avec healthchecks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F3B31CB4-9500-41BF-AF31-377E76F9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4728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62913CA-1CB0-4558-B331-20BF66FF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1985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A09F645-8EFE-4097-99F0-FCF0BD25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447288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Externaliser la config / secrets via .env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2A823F55-A8D3-4488-961A-F5C4B22C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97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E9ECB2D-B9B5-4A1C-838D-21A1CCE9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9664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E14CA47-0DAC-4828-BDD4-6A3A6DC0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197096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Écrire des smoke tests d'intégration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F19F8F7C-4C96-4095-B88D-A4BD8E01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3717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D5DBDD3-A81A-4F88-B7BB-87B8AB72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809744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›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6E9A8D8-DD40-4A10-8D16-F7DCED77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837176"/>
            <a:ext cx="849756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20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Distinguer smoke / intégration ; principes canary/rollback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E48BEBF-0C39-42EA-AF91-DB9B888D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108" y="1965960"/>
            <a:ext cx="7920431" cy="4663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67269B0-0E16-447C-A7B4-92E38DA4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2240280"/>
            <a:ext cx="709747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Déroulé de la séance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884CCDDA-4E60-4D35-B929-EE1C7896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92608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AE1FAA7-758C-4E2B-BD6B-D120D30B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289864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EE0CED5-F548-4FD7-BC42-28412D53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2926080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Théorie   les concepts clés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6CA81213-5FFE-4D59-BF83-FF8B2705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758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A70D32B-3451-46E7-85A4-21285CBF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3648456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7F17766-9FEF-4499-885E-1EFE8213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3675888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Travaux dirigés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TP guidé, correction au fil de l'eau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3772BA90-E94E-4A19-A2FE-2C57B712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425696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BE300C5-6ABC-431B-A907-166B92E8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439826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8912DA1-9CD7-4F9E-B1B1-AED39707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4425696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Autonomie tutorée</a:t>
            </a:r>
            <a:r>
              <a:rPr sz="16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   vous avancez, formateur dispo</a:t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FA905628-29E3-4BF9-8071-98EA3B70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755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F1FB015-0898-45BB-949A-5B50AEF3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020" y="51480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224A54A-DE0E-4DBB-B348-9E209807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7948" y="5175504"/>
            <a:ext cx="6548831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Bilan   synthèse + preuves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5ABDF447-0DB7-4113-9D45-461F298C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588" y="5989320"/>
            <a:ext cx="7097471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EC7B826-0058-442D-B0C2-FCB7C71E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188" y="6035040"/>
            <a:ext cx="6731711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PREUVE FINALE   </a:t>
            </a:r>
            <a:r>
              <a:rPr sz="16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 compose up -d --wait → healthy · smoke test vert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A3BAA620-9727-4EB1-B143-6B692A46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CB0025D-5E0A-4CF3-AC54-6ADDA4A3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280825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4F8913E-FFF6-449E-9CE6-EB75ABFE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31635A7-A390-416F-A60F-C23FD15A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ADF3BF9-E0F5-4DAF-B8C8-D1268280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Théorie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79BC11-ABBA-4C52-A2D2-5489E91E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28 — les concepts clés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5CFCFFB-3EF6-4CB3-A33E-CCF4665D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156866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5862220-E381-483A-B156-D17E6B17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4C0AF20D-D081-4C8D-B102-2237E0E5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D743076-95B0-48E0-A241-3E742480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Scénario atelier &amp; enjeux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64B37A6-7551-4705-A796-DA5C05A5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Ton service a besoin d'une base, d'un collecteur de métriques et d'un dashboard. Les lancer un par un est ingérable : compose démarre tout l'écosystème d'une seule commande.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BF8E27F-1D14-4CE7-BB4C-7AE0A9B5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18000980" cy="1600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22AAAFB-754A-40F0-8029-C7ADF039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201168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F76BAF6-96C7-4C01-B0D0-E6D1252C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063240"/>
            <a:ext cx="173609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Angle éthique / risque (C2)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Des services qui se parlent, ce sont des données qui circulent. Cloisonner (réseaux, variables d'environnement) protège les accès.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970D05-BE5E-446B-BD76-C4EE3044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6220E30-F1F0-4E2E-B211-2826E019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98127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622A402-5C2F-4A1A-9D39-F3C45C62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4965B034-14F6-4637-B2A7-8EA932CB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41AD225-BF23-4B48-A7CF-EE827648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Contexte &amp; outils — pourquoi ce module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EA7E962-D094-4668-B6CA-E3BE2A33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Contexte : une vraie appli, c'est plusieurs services. Pourquoi : on les orchestre ensemble (API + base + monitoring) en une commande.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60484AB2-7BF4-49B4-A5D4-5307A72C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815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D31F31F-84D1-48DF-BC59-DE1C30B8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71800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docker-compose : déclare les services et leur réseau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421CF33C-A723-42D2-8313-ABD8D09F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59359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6E7C89-4D9F-45D4-ABA0-B1377A97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48386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PostgreSQL : la base de données du projet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82BA56B1-0A6F-4189-80A1-6BB0B1F8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10565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D1E94AA-1246-4834-93CD-732C451C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99592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healthchecks : démarrage ordonné (la base prête avant l'API)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432F0414-8D2C-4A2B-ABA1-764FEEB6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61772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4009366-65E4-4AE9-B34A-ADC95CD8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507992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.env : configuration et secrets HORS de l'image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877E5C9D-6082-4D9B-8150-EA02452E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512978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AC2C119-0208-4337-BE5F-82208339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020056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DNS interne : un service appelle l'autre par son nom (db:5432)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1515B44-4001-42E1-ADE2-FF4E5296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605272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C3609B6-B052-42D1-AFFF-1D3873CE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605272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E9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AF51329-2982-4C34-96D0-D88862AF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5696712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2E7E92"/>
                </a:solidFill>
                <a:latin typeface="Manrope"/>
                <a:ea typeface="Manrope"/>
                <a:cs typeface="Manrope"/>
              </a:rPr>
              <a:t>Objectif du module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Toute la stack qui se lance avec un seul `docker compose up`.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735FC8A-E8BC-48ED-A48A-3C67D401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54FF63B-54FE-4035-B2B3-4C783300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133610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39911F-E039-4B34-8D80-1E7DAC90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E54EBA2E-5ADB-4A63-A25D-10FC79E8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EF43B2-71CB-470C-85C6-64F91F50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Plusieurs services qui se parlent : docker-compose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09AA36E-A305-4E77-B0A8-C392C420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docker-compose décrit plusieurs services (API, base…) et leur réseau privé dans un seul fichier.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1365099-3DB6-4121-B369-5467ECAC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5D57528-756E-4297-BCF0-3FB687E8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api : 8000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0028A68-71CB-4420-AD09-224DFC6C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760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3632747-F546-4051-8705-0DB2DF20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961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D21934C-9FF7-497D-AA68-F38E8EFE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401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réseau privé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C4CF987-A506-4F2D-9B01-C681C6D1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162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0A55F52D-B477-4CC7-9E5B-BF892FB5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2362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83830BA-B737-4AE2-9479-ACD4D7C7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802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db : 5432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555DC0C-79CE-4A6D-A925-F4280363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0563" y="3017520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6E550A1-2F57-4D6A-9F32-749046F3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7762" y="3017520"/>
            <a:ext cx="4184777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1D4A864-E996-4A1C-B4AB-624F4CDA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9203" y="3017520"/>
            <a:ext cx="4001897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volume pgdata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20690499-EF43-43C0-AE00-EF8C006C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23367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95C73B76-E04F-482A-8A29-85A0B7D2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301D5A8-204A-429A-93E3-5A49305C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?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153D20E-9F7E-4544-A563-5F7B7D0A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Idée reçue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26F8A50-384F-4DE1-96E4-AB8FEF14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507492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« L'API joint la base sur localhost. » FAUX dans Compose : localhost désigne le conteneur lui-même ; il faut le NOM du service (db).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D2E6CE2D-4C7B-4E84-8E76-98675F3C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4233672"/>
            <a:ext cx="8817610" cy="2194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D1BE1EB5-75A9-4A90-89D6-2C10FA49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348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C416FF5-99E6-4633-87CB-F2077479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4074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87F98DA-3F92-474C-AA1A-71EA2B01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471416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Le jargon décodé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86CBE72-F1DC-4A99-8FEF-947209BA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5074920"/>
            <a:ext cx="8086089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Service = un conteneur déclaré. Volume = stockage persistant. Smoke test = test rapide « ça démarre et répond ? ».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0376EAED-A865-4010-A6F2-521E73F8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882E2ED5-4FA1-4EC4-AAB7-AF5F5C16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Dans le réseau compose, on joint un service par son nom (db:5432).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9918B73-565A-433C-A6B2-2184BDA0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A019AB7-ECE2-4F98-B0F5-CE00AD2B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33844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761B5AE-8085-4308-A898-8A6C98E5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03DFF5E-F7F2-4AF4-BD84-9C0BF35A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3D89A8C-F7EA-4D61-8A53-9B6E0037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« Démarré » n'est pas « prêt » : les healthchecks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344DD78-EE5D-4BC1-AD55-B2A8175E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depends_on garantit qu'un service est lancé, pas qu'il est prêt — d'où le healthcheck.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BD36ECC-81C5-47F2-BD48-EA113976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51759"/>
            <a:ext cx="571991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4DA0FD1-0B70-4C92-9B75-CA0C27AB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51759"/>
            <a:ext cx="553703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db démarre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2A15E56-D28F-439D-A92F-F8686C34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894" y="2651759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890B38D-E371-49F5-A132-60FA0930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094" y="2651759"/>
            <a:ext cx="571991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8D9A997-F7C5-4ADF-BE0D-C692DBE3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534" y="2651759"/>
            <a:ext cx="553703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pg_isready ?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F9F38C9-DA24-4615-8F2A-1D02A1BB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5429" y="2651759"/>
            <a:ext cx="420624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1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1F44DC9-D6C5-496B-A6D7-D9EE86DF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2629" y="2651759"/>
            <a:ext cx="571991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90CCAD9-52BA-4969-AADF-5808F2B4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4069" y="2651759"/>
            <a:ext cx="553703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api démarre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CD5B916-DC98-4414-99D1-1F0AE4EE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867911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D159E998-29AF-4066-89DD-8D1B430A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BA930E6-9067-49B7-8916-148F4914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40416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12316D0-92CE-41F3-85F9-C7B478AE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105655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Attention — piège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29E8BB9-1627-419B-A3AB-49E35CE8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709159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Un bug intermittent au démarrage = quasi toujours une course : le service dépendant n'attend pas que l'autre soit PRÊT.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A12CB92-6E8C-442A-93F8-1E513B59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3867911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F3B5F532-E2BC-4AE2-9C02-8AB54806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069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48238E0-60A6-4944-B1FF-DAE8B9AF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40416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F04519D-75AD-4440-805F-C91E5F6F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4105655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À retenir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8D6EF5A-666E-4747-ACFB-4577F952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4709159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Config et secrets dans un .env non versionné ; on ne versionne que .env.example (les clés, sans les valeurs).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35433871-A1FD-432A-9A74-6672F5B5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21C3AB4-5FD7-44EF-936D-70D93E3A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Healthcheck + condition: service_healthy = fin des bugs de démarrage.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51199A7-C5B4-4F5B-A6F2-6479210E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3DB4A5C-DE6F-4183-BAB4-A4CD00D2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572529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DAC5B92-BE46-4FA8-B5F7-C958AA58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EDA2299-8E76-4424-8E98-A56E853C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FD5DD73-6F3C-4D9E-9B8F-5BD183C5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Le docker-compose, en vrai (api + db + healthcheck)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571AF05-5587-493B-A904-043B8931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Plusieurs services, un réseau privé : on joint par le nom (db), jamais localhost.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73F6AA6-70A3-40A8-8701-D8453B27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606039"/>
            <a:ext cx="18000980" cy="3931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1A5E94E-BD3A-41FB-A436-79022C90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752344"/>
            <a:ext cx="17269460" cy="3675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350"/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services: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350"/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api: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350"/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build: 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350"/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depends_on: { db: { condition: service_healthy } }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350"/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environment: { INDUSENSE_DB_URL: postgresql+psycopg://...@db:5432/indusense }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350"/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db: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350"/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image: postgres:16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350"/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healthcheck: { test: ["CMD-SHELL","pg_isready -U indusense"] }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350"/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prometheus: { image: prom/prometheus:v2.53.0 }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350"/>
            </a:pPr>
            <a:r>
              <a:rPr sz="135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grafana:    { image: grafana/grafana:11.1.0 }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35BB6CF-28EB-4B4D-AC78-1B305603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72084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35D54ED0-30E2-4321-84D6-78D0A2A0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6922007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FFAFA08-A5FF-4179-A88A-E1887231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6894575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?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1C5877F-B434-4C18-8491-5FE79EE8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6958583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Idée reçue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78546F3-658C-420B-959F-29105094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756208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« L'API joint la base sur localhost. » FAUX : dans compose, localhost = le conteneur lui-même -&gt; db:5432.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AF0854A-17DC-45B2-8BD1-E73E5916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4930" y="6720840"/>
            <a:ext cx="881761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A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EFEB9CB8-5EE3-4AD1-9786-2B1A7509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6922007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064CF3A-303D-4600-9446-2DF497AC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810" y="6894575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!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A7DD55B-28E6-4BF5-A5E4-D6B290D7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042" y="6958583"/>
            <a:ext cx="772033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Attention — piège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D2923C1-8453-4004-B973-145A9C9B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690" y="7562088"/>
            <a:ext cx="808608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depends_on sans healthcheck = course au démarrage (plante par intermittence).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FF0BF88-6334-4F00-8E17-AC4DA627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526270"/>
            <a:ext cx="1800098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F01BD5A-0C8B-4C52-BCFC-14BA61B9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9599422"/>
            <a:ext cx="1726946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600" b="1" i="0">
                <a:solidFill>
                  <a:srgbClr val="4BACC6"/>
                </a:solidFill>
                <a:latin typeface="Manrope"/>
                <a:ea typeface="Manrope"/>
                <a:cs typeface="Manrope"/>
              </a:rPr>
              <a:t>EN UNE PHRASE    </a:t>
            </a: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condition: service_healthy = on démarre l'API quand la base est PRÊTE, pas juste lancée.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D71F680-10B6-4BB9-BC99-1EA97CD9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CE38893-FD9D-4047-8D41-94E1C375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341824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61E3E0D-AE6A-44C0-93A9-CAB1C241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0F574409-959E-4293-8BA5-222BD40A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AE44147-3AD0-43B8-B2DB-E4F0F391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À retenir en 3 points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D47CF84A-7C29-4F8F-8C7A-CD608A95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F5DDC8C-83C2-4FA3-94EC-0CCA58B1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compose orchestre plusieurs services d'une seule commande.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DD3A82C2-AE43-4F0E-A237-9311E170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49631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3DA9EB2-7350-4FB3-9870-2AFEDA83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86584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depends_on + healthcheck = démarrage ordonné.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298623F4-149B-485E-A12B-3A395F46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00837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B6312A7-E71C-4497-B1DA-1DDADB50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898648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Les secrets vivent dans des variables d'environnement, jamais en dur.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761D984-CB2A-48D3-BF85-77C534A7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95B5B20-1F79-4C71-AE18-31E09719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810314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47B3CE-86C5-4A58-B2CD-99ED5D05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5C54572-F245-470C-BA1D-D144AC08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41183AB-1961-4729-87EB-49EA8EB5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Travaux dirigés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7640A10-244A-4814-B078-78997E32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28 — TP guidé, correction au fil de l'eau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259E100-3F8D-4455-8B10-8D332F69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40834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4F57E2F-A1D2-4B31-B3BA-1DBE4B2D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0577983-3839-4244-AB45-934C9509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11CFFFF-85C3-4968-81D5-6777DAFC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compose API + DB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82839C2-4F82-43E3-82DC-858BB54A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0F6BBEF-4342-4E71-A5DC-E6A2F1A6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020824"/>
            <a:ext cx="17269460" cy="1847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services: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api: { build: ., ports: ["8000:8000"],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 depends_on: { db: { condition: service_healthy } } }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db:  { image: postgres:16,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</a:pPr>
            <a:r>
              <a:rPr sz="1700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 healthcheck: { test: ["CMD-SHELL","pg_isready -U indusense"] } }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988F6D2-664C-4B89-A1C5-F0875A52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180009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814B427-99EA-48F4-899C-F36006CE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20116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EAFD6AF-BE97-4DDA-9A11-AB9D5AAB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4251959"/>
            <a:ext cx="173609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✅ Point de contrôle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docker compose ps → api + db HEALTHY.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533AD62-DB38-47CD-871F-D163870B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4358E20-A587-4EEE-924B-E9829F1F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842378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306B287-E7F0-4E5D-9ADB-18994BCA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C150D58F-3622-41E2-873F-77E7B928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AF9BD7B-4A29-41F2-B801-E8D99956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TP — smoke tests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88120DB-F448-4169-A73E-909C99C9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2AEEBF9-D038-49EB-B973-E1AFF03D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2020824"/>
            <a:ext cx="17269460" cy="1527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125"/>
            </a:pPr>
            <a:r>
              <a:rPr sz="11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docker compose up -d --wait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125"/>
            </a:pPr>
            <a:r>
              <a:rPr sz="112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uv run pytest tests/test_smoke_compose.py -q  # test à créer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125"/>
            </a:pPr>
            <a:r>
              <a:rPr sz="1125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curl.exe -i http://localhost:8000/predict-tabular  # 401 sans clé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200"/>
              </a:spcAft>
              <a:buNone/>
              <a:defRPr sz="1125"/>
            </a:pPr>
            <a:r>
              <a:rPr sz="1125" b="0" i="0">
                <a:solidFill>
                  <a:srgbClr val="4BACC6"/>
                </a:solidFill>
                <a:latin typeface="Courier New"/>
                <a:ea typeface="Courier New"/>
                <a:cs typeface="Courier New"/>
              </a:rPr>
              <a:t>curl.exe -H "X-API-Key: dev-key" -H "Content-Type: application/json" --data-binary "@payload.json" http://localhost:8000/predict-tabular  # 200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46E85B7-30C5-4D47-B0F7-0BF5F5D9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180009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139D10B-34D7-4DBA-AD5A-09FDC081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20116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5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529C05C-60A6-4BEB-87DF-D6229213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3520440"/>
            <a:ext cx="173609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DB jointe par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db:5432 (nom de service), surtout pas localhost.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3AF1213-8D34-4FF6-9BC1-18694C5C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1954AC2-A6CA-4671-ABD3-1F9B88B0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1071228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8BBF34B-1460-4947-9B54-65CCAEDC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6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9EBF07A-B086-48A3-A303-C0E9683C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371600"/>
            <a:ext cx="822960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1B25974-A67D-4BB2-BFFD-ABD02FC3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071995"/>
            <a:ext cx="180009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4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Autonomie tutorée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2D8A92F-F56C-42CE-9D28-622C2A81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6367907"/>
            <a:ext cx="180009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Module 28 — vous avancez, le formateur reste disponible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E61DCC-06A9-4BE4-8FAA-E34BCB56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4BACC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31637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BE24310-DE57-4DD1-9173-7860C843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812E009-2A3F-4F2F-8059-6537C201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7336575-C3B9-4D2F-A299-47663586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Autonomie tutorée — étendre la stack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DC73E89-E58B-454D-B2C8-F1F5BC7C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19"/>
            <a:ext cx="180009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sz="2200" b="0" i="1">
                <a:solidFill>
                  <a:srgbClr val="0B4F6C"/>
                </a:solidFill>
                <a:latin typeface="Arial"/>
                <a:ea typeface="Arial"/>
                <a:cs typeface="Arial"/>
              </a:rPr>
              <a:t>Avancez à votre rythme. Le formateur reste disponible.</a:t>
            </a:r>
          </a:p>
        </p:txBody>
      </p:sp>
      <p:sp>
        <p:nvSpPr>
          <p:cNvPr id="6" name="Oval 5">
            <a:extLst xmlns:a="http://schemas.openxmlformats.org/drawingml/2006/main">
              <a:ext uri="{FF2B5EF4-FFF2-40B4-BE49-F238E27FC236}">
                <a16:creationId xmlns:a16="http://schemas.microsoft.com/office/drawing/2014/main" id="{98BE4EF4-A52F-40FE-8DE3-820BC9AC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27157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EA08A1C-650B-46A7-AAE3-CA717713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3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Ajouter un service adminer (UI Postgres)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AD424ECA-B233-4A77-8D26-4D574BC5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2278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D4A7157-4EBC-4806-B4ED-51E0205B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118103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OU brancher le smoke test dans la CI (module 24)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89B3D5D-E36C-4F3A-84B6-AC1A1367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03320"/>
            <a:ext cx="18000980" cy="146303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30216433-6710-48D2-8D32-69208618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904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803F0F9-5C82-4188-9BE8-6C08FF1E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39" y="3877056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+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D1C2171-B348-462D-BD3C-55C77F45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941063"/>
            <a:ext cx="1690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Posture en distanciel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2C0A6A3-7094-4B6B-8914-0CDC1398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19" y="4544568"/>
            <a:ext cx="17269460" cy="5029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6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Objectif : tout démarre d'une commande — make up &amp;&amp; make smoke. Partagez votre docker compose ps en cas de service unhealthy.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6EE4075-4513-4B73-90A4-85BA5169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763ED41-90AD-4B5B-9322-2626F349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7220459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88B8032-250B-41D4-B6EE-9B02EFDA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1130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2D6F307-12A8-49D2-AF7F-079A4AAE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786384"/>
            <a:ext cx="310896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DDADBF4-D2BB-4280-907E-212124FF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3504"/>
            <a:ext cx="17452339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400" b="1" i="0">
                <a:solidFill>
                  <a:srgbClr val="093544"/>
                </a:solidFill>
                <a:latin typeface="Manrope"/>
                <a:ea typeface="Manrope"/>
                <a:cs typeface="Manrope"/>
              </a:rPr>
              <a:t>Definition of Done &amp; transition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4469FD14-42BD-494F-B3AD-2020B0A9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198424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ACC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AFE3E3D-9517-4482-B01B-FEFD76B9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874519"/>
            <a:ext cx="1745233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DoD : compose up healthy + smoke vert + .env propre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D715B8F-D1E5-45E8-981C-F7F0ECC2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59736"/>
            <a:ext cx="180009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3C96011-F018-4661-998C-FC876226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59736"/>
            <a:ext cx="20116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154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DF9DAA2-D3AA-4F4E-9941-E8A36CC2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9" y="2551176"/>
            <a:ext cx="173609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</a:pPr>
            <a:r>
              <a:rPr sz="1800" b="1" i="0">
                <a:solidFill>
                  <a:srgbClr val="ED1548"/>
                </a:solidFill>
                <a:latin typeface="Manrope"/>
                <a:ea typeface="Manrope"/>
                <a:cs typeface="Manrope"/>
              </a:rPr>
              <a:t>Transition → Module 29  </a:t>
            </a:r>
            <a:r>
              <a:rPr sz="1800" b="0" i="0">
                <a:solidFill>
                  <a:srgbClr val="093544"/>
                </a:solidFill>
                <a:latin typeface="Arial"/>
                <a:ea typeface="Arial"/>
                <a:cs typeface="Arial"/>
              </a:rPr>
              <a:t>La stack tourne ; on automatise le cycle de prédiction (Prefect).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D1F6893-53D1-4CCD-810E-71FD7B5E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0778998"/>
            <a:ext cx="1260068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0B4F6C"/>
                </a:solidFill>
                <a:latin typeface="Manrope"/>
                <a:ea typeface="Manrope"/>
                <a:cs typeface="Manrope"/>
              </a:rPr>
              <a:t>AELION  </a:t>
            </a: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·  Sprint 3 — InduSense 4.0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59EBBC2-DC6E-4D7D-8470-F42CE37B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380" y="10778998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5A6B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39760593"/>
      </p:ext>
    </p:extLst>
  </p:cSld>
</p:sld>
</file>

<file path=ppt/theme/theme1.xml><?xml version="1.0" encoding="utf-8"?>
<a:theme xmlns:a="http://schemas.openxmlformats.org/drawingml/2006/main" name="Thème Office">
  <a:themeElements>
    <a:clrScheme name="Couleurs Aelion">
      <a:dk1>
        <a:srgbClr val="093544"/>
      </a:dk1>
      <a:lt1>
        <a:sysClr val="window" lastClr="FFFFFF"/>
      </a:lt1>
      <a:dk2>
        <a:srgbClr val="0B4F6C"/>
      </a:dk2>
      <a:lt2>
        <a:srgbClr val="EAEAEA"/>
      </a:lt2>
      <a:accent1>
        <a:srgbClr val="0B4F6C"/>
      </a:accent1>
      <a:accent2>
        <a:srgbClr val="ED1548"/>
      </a:accent2>
      <a:accent3>
        <a:srgbClr val="EAEAEA"/>
      </a:accent3>
      <a:accent4>
        <a:srgbClr val="0B4F6C"/>
      </a:accent4>
      <a:accent5>
        <a:srgbClr val="4BACC6"/>
      </a:accent5>
      <a:accent6>
        <a:srgbClr val="093544"/>
      </a:accent6>
      <a:hlink>
        <a:srgbClr val="FFFFFF"/>
      </a:hlink>
      <a:folHlink>
        <a:srgbClr val="ED1548"/>
      </a:folHlink>
    </a:clrScheme>
    <a:fontScheme name="Personnalisé 3">
      <a:majorFont>
        <a:latin typeface="Manrope"/>
        <a:ea typeface=""/>
        <a:cs typeface=""/>
      </a:majorFont>
      <a:minorFont>
        <a:latin typeface="Arial"/>
        <a:ea typeface=""/>
        <a:cs typeface=""/>
      </a:minorFont>
    </a:fontScheme>
    <a:fmtScheme name="Couleurs Ael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2026-08-24T07:13:10.6080000Z</dcterms:created>
  <dcterms:modified xsi:type="dcterms:W3CDTF">2026-08-24T07:13:10.6080000Z</dcterms:modified>
</coreProperties>
</file>