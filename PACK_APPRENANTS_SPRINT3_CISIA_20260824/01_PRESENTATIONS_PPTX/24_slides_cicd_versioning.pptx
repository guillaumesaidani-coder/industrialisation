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ff4c82ee124378" /><Relationship Type="http://schemas.openxmlformats.org/officeDocument/2006/relationships/extended-properties" Target="/docProps/app.xml" Id="R4cd9c1bdf0fe424f" /><Relationship Type="http://schemas.openxmlformats.org/officeDocument/2006/relationships/officeDocument" Target="/ppt/presentation.xml" Id="Raa9921ffb7f548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5070f5103249ad"/>
  </p:sldMasterIdLst>
  <p:notesMasterIdLst>
    <p:notesMasterId xmlns:r="http://schemas.openxmlformats.org/officeDocument/2006/relationships" r:id="R0dc1824e6f664c59"/>
  </p:notesMasterIdLst>
  <p:sldIdLst>
    <p:sldId xmlns:r="http://schemas.openxmlformats.org/officeDocument/2006/relationships" id="256" r:id="R32d88f94b06d4292"/>
    <p:sldId xmlns:r="http://schemas.openxmlformats.org/officeDocument/2006/relationships" id="257" r:id="R01046dafd5b54273"/>
    <p:sldId xmlns:r="http://schemas.openxmlformats.org/officeDocument/2006/relationships" id="258" r:id="R8221c0d0be444216"/>
    <p:sldId xmlns:r="http://schemas.openxmlformats.org/officeDocument/2006/relationships" id="259" r:id="R9118c8c8438340c4"/>
    <p:sldId xmlns:r="http://schemas.openxmlformats.org/officeDocument/2006/relationships" id="260" r:id="R941bdc0deac042b1"/>
    <p:sldId xmlns:r="http://schemas.openxmlformats.org/officeDocument/2006/relationships" id="261" r:id="Rca43dcc5d6ec4fd6"/>
    <p:sldId xmlns:r="http://schemas.openxmlformats.org/officeDocument/2006/relationships" id="262" r:id="R11c3cf05afd1465a"/>
    <p:sldId xmlns:r="http://schemas.openxmlformats.org/officeDocument/2006/relationships" id="263" r:id="R810e0a43e7b742b8"/>
    <p:sldId xmlns:r="http://schemas.openxmlformats.org/officeDocument/2006/relationships" id="264" r:id="Ree01e67e934d40af"/>
    <p:sldId xmlns:r="http://schemas.openxmlformats.org/officeDocument/2006/relationships" id="265" r:id="Rf2305feb5df34649"/>
    <p:sldId xmlns:r="http://schemas.openxmlformats.org/officeDocument/2006/relationships" id="266" r:id="R6fdab966c30b4651"/>
    <p:sldId xmlns:r="http://schemas.openxmlformats.org/officeDocument/2006/relationships" id="267" r:id="R8d55a7f26ac74ee7"/>
    <p:sldId xmlns:r="http://schemas.openxmlformats.org/officeDocument/2006/relationships" id="268" r:id="Ra7a33ab6aabd4643"/>
    <p:sldId xmlns:r="http://schemas.openxmlformats.org/officeDocument/2006/relationships" id="269" r:id="Raaa65251d44049ff"/>
    <p:sldId xmlns:r="http://schemas.openxmlformats.org/officeDocument/2006/relationships" id="270" r:id="Rc905d903fe0d48e8"/>
    <p:sldId xmlns:r="http://schemas.openxmlformats.org/officeDocument/2006/relationships" id="271" r:id="R878691de366242c5"/>
    <p:sldId xmlns:r="http://schemas.openxmlformats.org/officeDocument/2006/relationships" id="272" r:id="R4549022306ec4f6a"/>
    <p:sldId xmlns:r="http://schemas.openxmlformats.org/officeDocument/2006/relationships" id="273" r:id="Re56a83bf69404279"/>
    <p:sldId xmlns:r="http://schemas.openxmlformats.org/officeDocument/2006/relationships" id="274" r:id="R8aab53c9e68b43ea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5d498427c04788" /><Relationship Type="http://schemas.openxmlformats.org/officeDocument/2006/relationships/slideMaster" Target="/ppt/slideMasters/slideMaster1.xml" Id="Re65070f5103249ad" /><Relationship Type="http://schemas.openxmlformats.org/officeDocument/2006/relationships/notesMaster" Target="/ppt/notesMasters/notesMaster1.xml" Id="R0dc1824e6f664c59" /><Relationship Type="http://schemas.openxmlformats.org/officeDocument/2006/relationships/presProps" Target="/ppt/presProps.xml" Id="R02bfe09eed844387" /><Relationship Type="http://schemas.openxmlformats.org/officeDocument/2006/relationships/viewProps" Target="/ppt/viewProps.xml" Id="R4de1ff1656144905" /><Relationship Type="http://schemas.openxmlformats.org/officeDocument/2006/relationships/tableStyles" Target="/ppt/tableStyles.xml" Id="Rf622327183984f6e" /><Relationship Type="http://schemas.openxmlformats.org/officeDocument/2006/relationships/slide" Target="/ppt/slides/slide1.xml" Id="R32d88f94b06d4292" /><Relationship Type="http://schemas.openxmlformats.org/officeDocument/2006/relationships/slide" Target="/ppt/slides/slide2.xml" Id="R01046dafd5b54273" /><Relationship Type="http://schemas.openxmlformats.org/officeDocument/2006/relationships/slide" Target="/ppt/slides/slide3.xml" Id="R8221c0d0be444216" /><Relationship Type="http://schemas.openxmlformats.org/officeDocument/2006/relationships/slide" Target="/ppt/slides/slide4.xml" Id="R9118c8c8438340c4" /><Relationship Type="http://schemas.openxmlformats.org/officeDocument/2006/relationships/slide" Target="/ppt/slides/slide5.xml" Id="R941bdc0deac042b1" /><Relationship Type="http://schemas.openxmlformats.org/officeDocument/2006/relationships/slide" Target="/ppt/slides/slide6.xml" Id="Rca43dcc5d6ec4fd6" /><Relationship Type="http://schemas.openxmlformats.org/officeDocument/2006/relationships/slide" Target="/ppt/slides/slide7.xml" Id="R11c3cf05afd1465a" /><Relationship Type="http://schemas.openxmlformats.org/officeDocument/2006/relationships/slide" Target="/ppt/slides/slide8.xml" Id="R810e0a43e7b742b8" /><Relationship Type="http://schemas.openxmlformats.org/officeDocument/2006/relationships/slide" Target="/ppt/slides/slide9.xml" Id="Ree01e67e934d40af" /><Relationship Type="http://schemas.openxmlformats.org/officeDocument/2006/relationships/slide" Target="/ppt/slides/slide10.xml" Id="Rf2305feb5df34649" /><Relationship Type="http://schemas.openxmlformats.org/officeDocument/2006/relationships/slide" Target="/ppt/slides/slide11.xml" Id="R6fdab966c30b4651" /><Relationship Type="http://schemas.openxmlformats.org/officeDocument/2006/relationships/slide" Target="/ppt/slides/slide12.xml" Id="R8d55a7f26ac74ee7" /><Relationship Type="http://schemas.openxmlformats.org/officeDocument/2006/relationships/slide" Target="/ppt/slides/slide13.xml" Id="Ra7a33ab6aabd4643" /><Relationship Type="http://schemas.openxmlformats.org/officeDocument/2006/relationships/slide" Target="/ppt/slides/slide14.xml" Id="Raaa65251d44049ff" /><Relationship Type="http://schemas.openxmlformats.org/officeDocument/2006/relationships/slide" Target="/ppt/slides/slide15.xml" Id="Rc905d903fe0d48e8" /><Relationship Type="http://schemas.openxmlformats.org/officeDocument/2006/relationships/slide" Target="/ppt/slides/slide16.xml" Id="R878691de366242c5" /><Relationship Type="http://schemas.openxmlformats.org/officeDocument/2006/relationships/slide" Target="/ppt/slides/slide17.xml" Id="R4549022306ec4f6a" /><Relationship Type="http://schemas.openxmlformats.org/officeDocument/2006/relationships/slide" Target="/ppt/slides/slide18.xml" Id="Re56a83bf69404279" /><Relationship Type="http://schemas.openxmlformats.org/officeDocument/2006/relationships/slide" Target="/ppt/slides/slide19.xml" Id="R8aab53c9e68b43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b7a156cbca4d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b94813b4a84e2a" /><Relationship Type="http://schemas.openxmlformats.org/officeDocument/2006/relationships/notesMaster" Target="/ppt/notesMasters/notesMaster1.xml" Id="Rd738f072406248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203841d966428b" /><Relationship Type="http://schemas.openxmlformats.org/officeDocument/2006/relationships/notesMaster" Target="/ppt/notesMasters/notesMaster1.xml" Id="Rb53c8bc9be3f4f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68cf1e86d84621" /><Relationship Type="http://schemas.openxmlformats.org/officeDocument/2006/relationships/notesMaster" Target="/ppt/notesMasters/notesMaster1.xml" Id="R29414d57f2084b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bbab1b7c4841d7" /><Relationship Type="http://schemas.openxmlformats.org/officeDocument/2006/relationships/notesMaster" Target="/ppt/notesMasters/notesMaster1.xml" Id="Re5c89ebc5bf445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0d57dc77d340fc" /><Relationship Type="http://schemas.openxmlformats.org/officeDocument/2006/relationships/notesMaster" Target="/ppt/notesMasters/notesMaster1.xml" Id="R09eb1e6d30684f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8e54ae44c54123" /><Relationship Type="http://schemas.openxmlformats.org/officeDocument/2006/relationships/notesMaster" Target="/ppt/notesMasters/notesMaster1.xml" Id="Ra7458bd00ee44c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ab2b2356974b7f" /><Relationship Type="http://schemas.openxmlformats.org/officeDocument/2006/relationships/notesMaster" Target="/ppt/notesMasters/notesMaster1.xml" Id="R2eaa9214898a4e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61a9e54c254f85" /><Relationship Type="http://schemas.openxmlformats.org/officeDocument/2006/relationships/notesMaster" Target="/ppt/notesMasters/notesMaster1.xml" Id="Rc7550a0fef6b40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81f932bc514536" /><Relationship Type="http://schemas.openxmlformats.org/officeDocument/2006/relationships/notesMaster" Target="/ppt/notesMasters/notesMaster1.xml" Id="R360024ebbbd149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4a4ae3298b4858" /><Relationship Type="http://schemas.openxmlformats.org/officeDocument/2006/relationships/notesMaster" Target="/ppt/notesMasters/notesMaster1.xml" Id="R6753955231e641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460f4f3f274bdf" /><Relationship Type="http://schemas.openxmlformats.org/officeDocument/2006/relationships/notesMaster" Target="/ppt/notesMasters/notesMaster1.xml" Id="R48acbafde3c845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ef813e7fac4470" /><Relationship Type="http://schemas.openxmlformats.org/officeDocument/2006/relationships/notesMaster" Target="/ppt/notesMasters/notesMaster1.xml" Id="R57c65e48611d48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0a915fb66343a0" /><Relationship Type="http://schemas.openxmlformats.org/officeDocument/2006/relationships/notesMaster" Target="/ppt/notesMasters/notesMaster1.xml" Id="R7a42083c4d0740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eeed8fceec4e77" /><Relationship Type="http://schemas.openxmlformats.org/officeDocument/2006/relationships/notesMaster" Target="/ppt/notesMasters/notesMaster1.xml" Id="R731afa92353144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a5aa5d68a744d3" /><Relationship Type="http://schemas.openxmlformats.org/officeDocument/2006/relationships/notesMaster" Target="/ppt/notesMasters/notesMaster1.xml" Id="Rf43b45881c3244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f6a799f3da45fe" /><Relationship Type="http://schemas.openxmlformats.org/officeDocument/2006/relationships/notesMaster" Target="/ppt/notesMasters/notesMaster1.xml" Id="R4ea1ac34169f45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7abcae327e4f55" /><Relationship Type="http://schemas.openxmlformats.org/officeDocument/2006/relationships/notesMaster" Target="/ppt/notesMasters/notesMaster1.xml" Id="Rfc25ebe5b32c44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296b218fe041ed" /><Relationship Type="http://schemas.openxmlformats.org/officeDocument/2006/relationships/notesMaster" Target="/ppt/notesMasters/notesMaster1.xml" Id="R9d26ad8ebc7248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f079ad4a7064315" /><Relationship Type="http://schemas.openxmlformats.org/officeDocument/2006/relationships/notesMaster" Target="/ppt/notesMasters/notesMaster1.xml" Id="Ra56dcb43a3384e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095a72bd6481a" /><Relationship Type="http://schemas.openxmlformats.org/officeDocument/2006/relationships/image" Target="/ppt/media/image.png" Id="R9fee21b00f5b49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8ec8f412f4de5" /><Relationship Type="http://schemas.openxmlformats.org/officeDocument/2006/relationships/image" Target="/ppt/media/image2.png" Id="R2816963359194d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dc92177df4a84" /><Relationship Type="http://schemas.openxmlformats.org/officeDocument/2006/relationships/image" Target="/ppt/media/image3.png" Id="R17715355f06d4b44" /><Relationship Type="http://schemas.openxmlformats.org/officeDocument/2006/relationships/image" Target="/ppt/media/image4.png" Id="R9e4a899dbf8b4b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f5c12527145ec" /><Relationship Type="http://schemas.openxmlformats.org/officeDocument/2006/relationships/image" Target="/ppt/media/image5.png" Id="R495d64fb1f164353" /><Relationship Type="http://schemas.openxmlformats.org/officeDocument/2006/relationships/image" Target="/ppt/media/image4.png" Id="Rca57174ed9b14dbc" /><Relationship Type="http://schemas.openxmlformats.org/officeDocument/2006/relationships/image" Target="/ppt/media/image6.png" Id="Rb2c89c2deedd4d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ea7d819e54a75" /><Relationship Type="http://schemas.openxmlformats.org/officeDocument/2006/relationships/image" Target="/ppt/media/image5.png" Id="R4b8c1cf11cf34470" /><Relationship Type="http://schemas.openxmlformats.org/officeDocument/2006/relationships/image" Target="/ppt/media/image4.png" Id="Rb37057f9a9e74f38" /><Relationship Type="http://schemas.openxmlformats.org/officeDocument/2006/relationships/image" Target="/ppt/media/image6.png" Id="R84683dc758be4e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22244231a0499c" /><Relationship Type="http://schemas.openxmlformats.org/officeDocument/2006/relationships/image" Target="/ppt/media/image5.png" Id="Ra60082534bb94c18" /><Relationship Type="http://schemas.openxmlformats.org/officeDocument/2006/relationships/image" Target="/ppt/media/image4.png" Id="Rd9098ce5d5314570" /><Relationship Type="http://schemas.openxmlformats.org/officeDocument/2006/relationships/image" Target="/ppt/media/image6.png" Id="Rc66c9471163348f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b6d7417c44d3d" /><Relationship Type="http://schemas.openxmlformats.org/officeDocument/2006/relationships/image" Target="/ppt/media/image5.png" Id="R66c0657890874ab7" /><Relationship Type="http://schemas.openxmlformats.org/officeDocument/2006/relationships/image" Target="/ppt/media/image4.png" Id="R770385fa4194455d" /><Relationship Type="http://schemas.openxmlformats.org/officeDocument/2006/relationships/image" Target="/ppt/media/image6.png" Id="R025f33faf1bc458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6e660a1c54a0f" /><Relationship Type="http://schemas.openxmlformats.org/officeDocument/2006/relationships/image" Target="/ppt/media/image5.png" Id="R1994a1fee3f14d72" /><Relationship Type="http://schemas.openxmlformats.org/officeDocument/2006/relationships/image" Target="/ppt/media/image4.png" Id="R50e1020070db400f" /><Relationship Type="http://schemas.openxmlformats.org/officeDocument/2006/relationships/image" Target="/ppt/media/image6.png" Id="Rf2ebef1830874fc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d00774f004a18" /><Relationship Type="http://schemas.openxmlformats.org/officeDocument/2006/relationships/image" Target="/ppt/media/image7.png" Id="R9347a1ba62ff40c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96eacec0840bd" /><Relationship Type="http://schemas.openxmlformats.org/officeDocument/2006/relationships/image" Target="/ppt/media/image8.png" Id="R81d16f5a9ee645a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6b7a7d49e4690" /><Relationship Type="http://schemas.openxmlformats.org/officeDocument/2006/relationships/image" Target="/ppt/media/image9.png" Id="R0a8b09a23dd14a4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bf1fae8ac4e8d" /><Relationship Type="http://schemas.openxmlformats.org/officeDocument/2006/relationships/image" Target="/ppt/media/image10.png" Id="R6ff988307b444c7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b6bff424a4bf8" /><Relationship Type="http://schemas.openxmlformats.org/officeDocument/2006/relationships/image" Target="/ppt/media/image11.png" Id="R2d977a63e5f4403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cd512c3fc4649" /><Relationship Type="http://schemas.openxmlformats.org/officeDocument/2006/relationships/image" Target="/ppt/media/image12.png" Id="R1a66ac54d05a4c0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0aef042ca48f6" /><Relationship Type="http://schemas.openxmlformats.org/officeDocument/2006/relationships/image" Target="/ppt/media/image13.png" Id="R7da928ac00c140d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274db285b4f29" /><Relationship Type="http://schemas.openxmlformats.org/officeDocument/2006/relationships/image" Target="/ppt/media/image2.png" Id="R593a6a948895404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c87ffca6b472e" /><Relationship Type="http://schemas.openxmlformats.org/officeDocument/2006/relationships/image" Target="/ppt/media/image14.png" Id="Rd83453b58f2f461f" /><Relationship Type="http://schemas.openxmlformats.org/officeDocument/2006/relationships/image" Target="/ppt/media/image15.png" Id="Rfe58f5aa2f5e4db3" /></Relationships>
</file>

<file path=ppt/slideLayouts/slideLayout1.xml><?xml version="1.0" encoding="utf-8"?>
<p:sldLayout xmlns:p="http://schemas.openxmlformats.org/presentationml/2006/main" preserve="1" userDrawn="1">
  <p:cSld name="17_Disposition personnalisée">
    <p:bg>
      <p:bgPr>
        <a:blipFill xmlns:a="http://schemas.openxmlformats.org/drawingml/2006/main" rotWithShape="1">
          <a:blip xmlns:r="http://schemas.openxmlformats.org/officeDocument/2006/relationships" r:embed="R9fee21b00f5b498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5E7576F2-96D7-4879-C595-31AEF196E4F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39962" y="4862587"/>
            <a:ext cx="61722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Nom du formateur</a:t>
            </a:r>
          </a:p>
        </p:txBody>
      </p:sp>
      <p:sp>
        <p:nvSpPr>
          <p:cNvPr id="3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C84FB502-4701-30C4-540E-C8A8154B5FB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39962" y="7507138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Intitulé de la formation</a:t>
            </a:r>
          </a:p>
        </p:txBody>
      </p:sp>
      <p:sp>
        <p:nvSpPr>
          <p:cNvPr id="9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1B8F86BD-B5C7-B927-A9D3-2B75CFF0D7F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39962" y="6891585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32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Thématique de la formation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9_Disposition personnalisée">
    <p:bg>
      <p:bgPr>
        <a:blipFill xmlns:a="http://schemas.openxmlformats.org/drawingml/2006/main" rotWithShape="1">
          <a:blip xmlns:r="http://schemas.openxmlformats.org/officeDocument/2006/relationships" r:embed="R2816963359194d3a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2E351256-75CD-2ED8-4BB9-764EC4F953F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179842" y="1622227"/>
            <a:ext cx="9067800" cy="2078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Sommaire</a:t>
            </a:r>
          </a:p>
        </p:txBody>
      </p:sp>
      <p:sp>
        <p:nvSpPr>
          <p:cNvPr id="3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E4210765-D18A-93AA-5401-6FE46CD1B5A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495111" y="75290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4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C21EE629-EB1A-113D-97A8-9978DF1EE8D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495111" y="51827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5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DF353674-E326-FAC4-8E39-A794B8C892D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495111" y="5946876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6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6FB8EC16-DCC1-A56A-2FCA-A8161FB9A73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9475986" y="67379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7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A1C31546-D63A-76DA-451E-F5E3BC95B3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9475986" y="44186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7C8B2001-5977-1C01-BE50-4A3FAA65C3B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495111" y="832006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re et contenu">
    <p:bg>
      <p:bgPr>
        <a:blipFill xmlns:a="http://schemas.openxmlformats.org/drawingml/2006/main" rotWithShape="1">
          <a:blip xmlns:r="http://schemas.openxmlformats.org/officeDocument/2006/relationships" r:embed="R17715355f06d4b44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neTexte 6">
            <a:extLst xmlns:a="http://schemas.openxmlformats.org/drawingml/2006/main">
              <a:ext uri="{FF2B5EF4-FFF2-40B4-BE49-F238E27FC236}">
                <a16:creationId xmlns:a16="http://schemas.microsoft.com/office/drawing/2014/main" id="{5347DE8B-CF68-40E8-B8D8-090B18DC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01</a:t>
            </a:r>
          </a:p>
        </p:txBody>
      </p:sp>
      <p:pic>
        <p:nvPicPr>
          <p:cNvPr id="2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a899dbf8b4b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66603E52-899B-4BE9-93E0-B72BDAEC294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2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B2C1FB38-60A8-4700-B272-5C798855A97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Title and Content">
    <p:bg>
      <p:bgPr>
        <a:blipFill xmlns:a="http://schemas.openxmlformats.org/drawingml/2006/main" rotWithShape="1">
          <a:blip xmlns:r="http://schemas.openxmlformats.org/officeDocument/2006/relationships" r:embed="R495d64fb1f164353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7174ed9b14d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89c2deedd4d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02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Title and Content">
    <p:bg>
      <p:bgPr>
        <a:blipFill xmlns:a="http://schemas.openxmlformats.org/drawingml/2006/main" rotWithShape="1">
          <a:blip xmlns:r="http://schemas.openxmlformats.org/officeDocument/2006/relationships" r:embed="R4b8c1cf11cf34470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057f9a9e74f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83dc758be4e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03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Title and Content">
    <p:bg>
      <p:bgPr>
        <a:blipFill xmlns:a="http://schemas.openxmlformats.org/drawingml/2006/main" rotWithShape="1">
          <a:blip xmlns:r="http://schemas.openxmlformats.org/officeDocument/2006/relationships" r:embed="Ra60082534bb94c18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98ce5d53145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c9471163348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04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Title and Content">
    <p:bg>
      <p:bgPr>
        <a:blipFill xmlns:a="http://schemas.openxmlformats.org/drawingml/2006/main" rotWithShape="1">
          <a:blip xmlns:r="http://schemas.openxmlformats.org/officeDocument/2006/relationships" r:embed="R66c0657890874ab7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385fa419445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f33faf1bc45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05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Title and Content">
    <p:bg>
      <p:bgPr>
        <a:blipFill xmlns:a="http://schemas.openxmlformats.org/drawingml/2006/main" rotWithShape="1">
          <a:blip xmlns:r="http://schemas.openxmlformats.org/officeDocument/2006/relationships" r:embed="R1994a1fee3f14d72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1020070db40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bef1830874f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06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Title Slide">
    <p:bg>
      <p:bgPr>
        <a:blipFill xmlns:a="http://schemas.openxmlformats.org/drawingml/2006/main" rotWithShape="1">
          <a:blip xmlns:r="http://schemas.openxmlformats.org/officeDocument/2006/relationships" r:embed="R9347a1ba62ff40c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2_Disposition personnalisée">
    <p:bg>
      <p:bgPr>
        <a:blipFill xmlns:a="http://schemas.openxmlformats.org/drawingml/2006/main" rotWithShape="1">
          <a:blip xmlns:r="http://schemas.openxmlformats.org/officeDocument/2006/relationships" r:embed="R81d16f5a9ee645a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Disposition personnalisée">
    <p:bg>
      <p:bgPr>
        <a:blipFill xmlns:a="http://schemas.openxmlformats.org/drawingml/2006/main" rotWithShape="1">
          <a:blip xmlns:r="http://schemas.openxmlformats.org/officeDocument/2006/relationships" r:embed="R0a8b09a23dd14a4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6_Disposition personnalisée">
    <p:bg>
      <p:bgPr>
        <a:blipFill xmlns:a="http://schemas.openxmlformats.org/drawingml/2006/main" rotWithShape="1">
          <a:blip xmlns:r="http://schemas.openxmlformats.org/officeDocument/2006/relationships" r:embed="R6ff988307b444c7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10_Disposition personnalisée">
    <p:bg>
      <p:bgPr>
        <a:blipFill xmlns:a="http://schemas.openxmlformats.org/drawingml/2006/main" rotWithShape="1">
          <a:blip xmlns:r="http://schemas.openxmlformats.org/officeDocument/2006/relationships" r:embed="R2d977a63e5f4403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showMasterSp="0" type="obj" preserve="1">
  <p:cSld name="1_Blank">
    <p:bg>
      <p:bgPr>
        <a:blipFill xmlns:a="http://schemas.openxmlformats.org/drawingml/2006/main" rotWithShape="1">
          <a:blip xmlns:r="http://schemas.openxmlformats.org/officeDocument/2006/relationships" r:embed="R1a66ac54d05a4c0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18_Disposition personnalisée">
    <p:bg>
      <p:bgPr>
        <a:blipFill xmlns:a="http://schemas.openxmlformats.org/drawingml/2006/main" rotWithShape="1">
          <a:blip xmlns:r="http://schemas.openxmlformats.org/officeDocument/2006/relationships" r:embed="R7da928ac00c140d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20_Disposition personnalisée">
    <p:bg>
      <p:bgPr>
        <a:blipFill xmlns:a="http://schemas.openxmlformats.org/drawingml/2006/main" rotWithShape="1">
          <a:blip xmlns:r="http://schemas.openxmlformats.org/officeDocument/2006/relationships" r:embed="R593a6a9488954045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Disposition personnalisée">
    <p:bg>
      <p:bgPr>
        <a:blipFill xmlns:a="http://schemas.openxmlformats.org/drawingml/2006/main" rotWithShape="1">
          <a:blip xmlns:r="http://schemas.openxmlformats.org/officeDocument/2006/relationships" r:embed="Rd83453b58f2f461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8f5aa2f5e4d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002" y="542107"/>
            <a:ext cx="18902097" cy="5040560"/>
          </a:xfrm>
          <a:prstGeom xmlns:a="http://schemas.openxmlformats.org/drawingml/2006/main" prst="roundRect">
            <a:avLst>
              <a:gd name="adj" fmla="val 9607"/>
            </a:avLst>
          </a:prstGeom>
        </p:spPr>
      </p:pic>
      <p:sp>
        <p:nvSpPr>
          <p:cNvPr id="6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86C7ADBF-7FE4-9BE8-94E3-4FAC04EE5D9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5025" y="6230739"/>
            <a:ext cx="14587149" cy="108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60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Merci de votre attention !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198422f5884daa" /><Relationship Type="http://schemas.openxmlformats.org/officeDocument/2006/relationships/slideLayout" Target="/ppt/slideLayouts/slideLayout1.xml" Id="R3ce080d002d542fb" /><Relationship Type="http://schemas.openxmlformats.org/officeDocument/2006/relationships/slideLayout" Target="/ppt/slideLayouts/slideLayout2.xml" Id="R623e3743c9314d55" /><Relationship Type="http://schemas.openxmlformats.org/officeDocument/2006/relationships/slideLayout" Target="/ppt/slideLayouts/slideLayout3.xml" Id="R0b7e4204fe4541d0" /><Relationship Type="http://schemas.openxmlformats.org/officeDocument/2006/relationships/slideLayout" Target="/ppt/slideLayouts/slideLayout4.xml" Id="R665f17eb5830476d" /><Relationship Type="http://schemas.openxmlformats.org/officeDocument/2006/relationships/slideLayout" Target="/ppt/slideLayouts/slideLayout5.xml" Id="Rfe56ee7ed3b84c6e" /><Relationship Type="http://schemas.openxmlformats.org/officeDocument/2006/relationships/slideLayout" Target="/ppt/slideLayouts/slideLayout6.xml" Id="Ra31dde39a80249f8" /><Relationship Type="http://schemas.openxmlformats.org/officeDocument/2006/relationships/slideLayout" Target="/ppt/slideLayouts/slideLayout7.xml" Id="R2167b698e6b64bcd" /><Relationship Type="http://schemas.openxmlformats.org/officeDocument/2006/relationships/slideLayout" Target="/ppt/slideLayouts/slideLayout8.xml" Id="R6e14430af1da486f" /><Relationship Type="http://schemas.openxmlformats.org/officeDocument/2006/relationships/slideLayout" Target="/ppt/slideLayouts/slideLayout9.xml" Id="R89a391c411bc40b7" /><Relationship Type="http://schemas.openxmlformats.org/officeDocument/2006/relationships/slideLayout" Target="/ppt/slideLayouts/slideLayout10.xml" Id="Rc2bca02d146d4e92" /><Relationship Type="http://schemas.openxmlformats.org/officeDocument/2006/relationships/slideLayout" Target="/ppt/slideLayouts/slideLayout11.xml" Id="Rde9ed8129e714fbd" /><Relationship Type="http://schemas.openxmlformats.org/officeDocument/2006/relationships/slideLayout" Target="/ppt/slideLayouts/slideLayout12.xml" Id="Rfd65537a87064de4" /><Relationship Type="http://schemas.openxmlformats.org/officeDocument/2006/relationships/slideLayout" Target="/ppt/slideLayouts/slideLayout13.xml" Id="Rdddd351966a844f1" /><Relationship Type="http://schemas.openxmlformats.org/officeDocument/2006/relationships/slideLayout" Target="/ppt/slideLayouts/slideLayout14.xml" Id="R94a1061ed7f14dce" /><Relationship Type="http://schemas.openxmlformats.org/officeDocument/2006/relationships/slideLayout" Target="/ppt/slideLayouts/slideLayout15.xml" Id="Rfc1adf3ea98d43b0" /><Relationship Type="http://schemas.openxmlformats.org/officeDocument/2006/relationships/slideLayout" Target="/ppt/slideLayouts/slideLayout16.xml" Id="R1941d1964ed546b4" /><Relationship Type="http://schemas.openxmlformats.org/officeDocument/2006/relationships/slideLayout" Target="/ppt/slideLayouts/slideLayout17.xml" Id="R7d704cfa5c794aa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e080d002d542fb"/>
    <p:sldLayoutId xmlns:r="http://schemas.openxmlformats.org/officeDocument/2006/relationships" id="2147483650" r:id="R623e3743c9314d55"/>
    <p:sldLayoutId xmlns:r="http://schemas.openxmlformats.org/officeDocument/2006/relationships" id="2147483651" r:id="R0b7e4204fe4541d0"/>
    <p:sldLayoutId xmlns:r="http://schemas.openxmlformats.org/officeDocument/2006/relationships" id="2147483652" r:id="R665f17eb5830476d"/>
    <p:sldLayoutId xmlns:r="http://schemas.openxmlformats.org/officeDocument/2006/relationships" id="2147483653" r:id="Rfe56ee7ed3b84c6e"/>
    <p:sldLayoutId xmlns:r="http://schemas.openxmlformats.org/officeDocument/2006/relationships" id="2147483654" r:id="Ra31dde39a80249f8"/>
    <p:sldLayoutId xmlns:r="http://schemas.openxmlformats.org/officeDocument/2006/relationships" id="2147483655" r:id="R2167b698e6b64bcd"/>
    <p:sldLayoutId xmlns:r="http://schemas.openxmlformats.org/officeDocument/2006/relationships" id="2147483656" r:id="R6e14430af1da486f"/>
    <p:sldLayoutId xmlns:r="http://schemas.openxmlformats.org/officeDocument/2006/relationships" id="2147483657" r:id="R89a391c411bc40b7"/>
    <p:sldLayoutId xmlns:r="http://schemas.openxmlformats.org/officeDocument/2006/relationships" id="2147483658" r:id="Rc2bca02d146d4e92"/>
    <p:sldLayoutId xmlns:r="http://schemas.openxmlformats.org/officeDocument/2006/relationships" id="2147483659" r:id="Rde9ed8129e714fbd"/>
    <p:sldLayoutId xmlns:r="http://schemas.openxmlformats.org/officeDocument/2006/relationships" id="2147483660" r:id="Rfd65537a87064de4"/>
    <p:sldLayoutId xmlns:r="http://schemas.openxmlformats.org/officeDocument/2006/relationships" id="2147483661" r:id="Rdddd351966a844f1"/>
    <p:sldLayoutId xmlns:r="http://schemas.openxmlformats.org/officeDocument/2006/relationships" id="2147483662" r:id="R94a1061ed7f14dce"/>
    <p:sldLayoutId xmlns:r="http://schemas.openxmlformats.org/officeDocument/2006/relationships" id="2147483663" r:id="Rfc1adf3ea98d43b0"/>
    <p:sldLayoutId xmlns:r="http://schemas.openxmlformats.org/officeDocument/2006/relationships" id="2147483664" r:id="R1941d1964ed546b4"/>
    <p:sldLayoutId xmlns:r="http://schemas.openxmlformats.org/officeDocument/2006/relationships" id="2147483665" r:id="R7d704cfa5c794aa3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21c99c363c34537" /><Relationship Type="http://schemas.openxmlformats.org/officeDocument/2006/relationships/image" Target="/ppt/media/image15.png" Id="R47e5af9fd3e94e07" /><Relationship Type="http://schemas.openxmlformats.org/officeDocument/2006/relationships/notesSlide" Target="/ppt/notesSlides/notesSlide1.xml" Id="Rbfb80a62481f4f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1a4b3967de14da5" /><Relationship Type="http://schemas.openxmlformats.org/officeDocument/2006/relationships/notesSlide" Target="/ppt/notesSlides/notesSlide2.xml" Id="R9130d1c44fe14a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f36268744934fce" /><Relationship Type="http://schemas.openxmlformats.org/officeDocument/2006/relationships/notesSlide" Target="/ppt/notesSlides/notesSlide3.xml" Id="Rac49999f4a2747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720709c98574066" /><Relationship Type="http://schemas.openxmlformats.org/officeDocument/2006/relationships/notesSlide" Target="/ppt/notesSlides/notesSlide4.xml" Id="R31d4057e022e47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e121f86f4f144ac" /><Relationship Type="http://schemas.openxmlformats.org/officeDocument/2006/relationships/notesSlide" Target="/ppt/notesSlides/notesSlide5.xml" Id="Rbf888f9cfaeb43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2c5017c917f4d28" /><Relationship Type="http://schemas.openxmlformats.org/officeDocument/2006/relationships/notesSlide" Target="/ppt/notesSlides/notesSlide6.xml" Id="Re769b3f6e64742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b56bf2c0c0648e7" /><Relationship Type="http://schemas.openxmlformats.org/officeDocument/2006/relationships/notesSlide" Target="/ppt/notesSlides/notesSlide7.xml" Id="Rec9bc926e87247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03f6c31d20242b1" /><Relationship Type="http://schemas.openxmlformats.org/officeDocument/2006/relationships/notesSlide" Target="/ppt/notesSlides/notesSlide8.xml" Id="Ra379335e1fba43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2c2ae87e13d4df9" /><Relationship Type="http://schemas.openxmlformats.org/officeDocument/2006/relationships/notesSlide" Target="/ppt/notesSlides/notesSlide9.xml" Id="R7ea4c468a76441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d0e5e2e7b084540" /><Relationship Type="http://schemas.openxmlformats.org/officeDocument/2006/relationships/notesSlide" Target="/ppt/notesSlides/notesSlide10.xml" Id="Rd4e6f8b1c6d648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357330d95954089" /><Relationship Type="http://schemas.openxmlformats.org/officeDocument/2006/relationships/notesSlide" Target="/ppt/notesSlides/notesSlide11.xml" Id="R0782ac92d3604f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0523c454d72410e" /><Relationship Type="http://schemas.openxmlformats.org/officeDocument/2006/relationships/notesSlide" Target="/ppt/notesSlides/notesSlide12.xml" Id="R8849100a3ff246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6692889e59b4be3" /><Relationship Type="http://schemas.openxmlformats.org/officeDocument/2006/relationships/notesSlide" Target="/ppt/notesSlides/notesSlide13.xml" Id="Rc577348143104a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af19d77cfa14ef9" /><Relationship Type="http://schemas.openxmlformats.org/officeDocument/2006/relationships/notesSlide" Target="/ppt/notesSlides/notesSlide14.xml" Id="Rd34ea648a78241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9592a3c194d4cf6" /><Relationship Type="http://schemas.openxmlformats.org/officeDocument/2006/relationships/notesSlide" Target="/ppt/notesSlides/notesSlide15.xml" Id="R51a04c339f7543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e61c04458ff4e7e" /><Relationship Type="http://schemas.openxmlformats.org/officeDocument/2006/relationships/notesSlide" Target="/ppt/notesSlides/notesSlide16.xml" Id="R41ab795904844c3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62bfed4722b4c62" /><Relationship Type="http://schemas.openxmlformats.org/officeDocument/2006/relationships/notesSlide" Target="/ppt/notesSlides/notesSlide17.xml" Id="R486b4103d9ab4ff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b77dfe543c1411c" /><Relationship Type="http://schemas.openxmlformats.org/officeDocument/2006/relationships/notesSlide" Target="/ppt/notesSlides/notesSlide18.xml" Id="R3b14fe2f54914fa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9738a18268d4638" /><Relationship Type="http://schemas.openxmlformats.org/officeDocument/2006/relationships/notesSlide" Target="/ppt/notesSlides/notesSlide19.xml" Id="R5eecf46921ec4b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EA99E0-9F8B-445A-9ACB-964FEA4D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5af9fd3e94e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868680"/>
            <a:ext cx="3931920" cy="1048512"/>
          </a:xfrm>
          <a:prstGeom xmlns:a="http://schemas.openxmlformats.org/drawingml/2006/main" prst="rect">
            <a:avLst/>
          </a:prstGeom>
        </p:spPr>
      </p:pic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220ED816-A65A-4370-9F8E-C618846D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D860B04-161C-4709-9AAA-2B938D3E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41648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24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9A0BA0A-4509-41EE-AA00-2FD9BB46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657600"/>
            <a:ext cx="169494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5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CI/CD + tests + versioning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570EAF9-C2A0-4B9B-A194-E26ADEB7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943600"/>
            <a:ext cx="169494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US3.1 · C6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8FD1E61-E4A9-4FDA-8F85-0E010DDA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029190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EAEAEA"/>
                </a:solidFill>
                <a:latin typeface="Arial"/>
                <a:ea typeface="Arial"/>
                <a:cs typeface="Arial"/>
              </a:rPr>
              <a:t>Sprint 3 — Industrialisation &amp; déploiement  ·  Certification CISIA  ·  Formation à distance</a:t>
            </a:r>
          </a:p>
        </p:txBody>
      </p:sp>
    </p:spTree>
    <p:extLst>
      <p:ext uri="{BB962C8B-B14F-4D97-AF65-F5344CB8AC3E}">
        <p14:creationId xmlns:p14="http://schemas.microsoft.com/office/powerpoint/2010/main" val="6269176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434CD9-1CAD-401F-8642-8A2377DC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7D6911B-AF7B-4CD8-82A0-64856E39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1C6BA1A-1E92-4392-81D3-41F2BA24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Objectifs &amp; déroulé de la séance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452F157-2DDC-4B5F-8730-96319D3F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936050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À l'issue, vous serez capable de :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B62483E9-46EB-44A6-BF15-F7071A86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9748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3B8C864-6DD1-4C86-9BA5-AFD23697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700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1A0B48D-8A86-47E4-8DEE-24B52734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69748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Écrire un workflow GitHub Actions (lint + test + build)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533A9D1-5CE5-4608-A194-18697B01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4728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F80057C-2A61-4A97-A86A-DE6EC2A5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1985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3595F59-7CE0-445E-987C-EF59D6F0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4728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Configurer pre-commit (ruff, black, gitleaks)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CF4D699B-6588-428E-AA6C-DE101412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97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200734D-2055-4FCD-B3E6-B9E60138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966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48833CC-793A-4F82-8731-578CEB6C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197096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Versionner données (DVC) et modèle (registry MLflow)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AFB31185-1F9D-4000-8EBB-E737BF7C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4690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D39BDBE-AD81-42D0-8725-3EA6D125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1947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D288F46-CF2C-4405-B473-B46B83FB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946904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Gérer les secrets sans jamais les committer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84A9F47-AF79-4F02-97BC-28A50B0D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108" y="1965960"/>
            <a:ext cx="7920431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AD8E071-28C8-477F-AE65-574611CB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2240280"/>
            <a:ext cx="709747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Déroulé de la séance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E24053B-2E98-49E8-B8B1-E4114FFB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9260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D07A7F9-2F61-45E3-A659-D0D6BC16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8986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B0951D2-A3EF-474A-915F-DC26BB0E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2926080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Théorie   les concepts clés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5CB52A1E-6C71-4A0B-99F0-EB694941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75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A5D44F5-EC67-4345-B4C5-5F49098A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224FF53-F65D-4DBE-ADEA-781F85D7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3675888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Travaux dirigés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TP guidé, correction au fil de l'eau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E82B66A2-D218-47C7-943C-1C7BCABC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4256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3BCC14F-9BAD-488E-955E-2B487987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39826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1DCFC1F-2D9F-4CBF-B785-72AC860A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4425696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Autonomie tutorée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vous avancez, formateur dispo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6AB7C1DB-177B-4AB1-B4A4-F4009D06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755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7C2D509-BBEB-4058-AF75-1796EE70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480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623F7D9-A7E0-49B3-A593-2CD33535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5175504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Bilan   synthèse + preuves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D4E3A07A-A95D-460D-8881-E619DDEB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5989320"/>
            <a:ext cx="7097471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952534D-CB88-4938-9A5E-1780A7F0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188" y="6035040"/>
            <a:ext cx="6731711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PREUVE FINALE   </a:t>
            </a:r>
            <a:r>
              <a:rPr sz="1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Pipeline CI vert sur une PR · dvc status propre · 0 secret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0980FC2-2762-4D3D-9F8A-A87ECD1A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6CAB6217-FD91-4E9E-8B99-C43D79A2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854286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3F1BB17-03C2-4A85-B55C-1DD554D0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3BFFBBD-C976-4212-9ADF-60ABF719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B53BDB1-276A-46D5-8B50-0713CF7F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Théorie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F4DDA34-0EAB-4E9D-A2A1-8BE4BD96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24 — les concepts clés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EBB8976-AFCA-4920-8335-7600E1EB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318959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37250F-6870-4771-8558-21BC720F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4E7B8AF0-6CE8-4D01-9E3E-466477A8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C8058D8-0EDF-4B03-9C97-AFFA40A7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Scénario atelier &amp; enjeux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1EA48FF-0E60-483B-A1CE-D34E41D7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Vendredi 18 h, un push fait à la va-vite casse la prod du lundi — avec, au passage, un mot de passe oublié dans le code. Une usine automatique aurait tout bloqué.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A3A09F0-8AE4-463A-A7A8-43C77F2B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BF8DF0C-8B89-435C-A777-B010E991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66B315D-BECF-447C-8FB6-156A18B7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Angle éthique / risque (C2)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secret committé = une fuite de données. Le blocage des secrets (gitleaks) est un garde-fou réglementaire, pas un gadget.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E091CE68-4BB9-43A0-8238-E5297119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8646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12233DA-F1D2-47CE-B9F1-A1D84C92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75488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Éco-conception : une CI qui ne recalcule que le nécessaire (cache) consomme moins : pense au coût et au carbone des exécutions.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253B7AD-8AD8-4851-A4D6-B0915744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FFC7940-9F22-4E02-A994-BF37F72A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85475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B31F762-1E91-444C-B0BA-7F8E9F57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1EFC197-C855-4B6A-A5BC-1E3B033A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D3C4F68-7640-467D-8171-FD0A0DDD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Contexte &amp; outils — pourquoi ce module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0776AD-B8F3-4DC0-B3A9-C759F1A7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Contexte : prouver la qualité à la main est fragile. Pourquoi : on automatise la preuve à chaque push et on versionne données + modèle.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CE6D31F7-108A-41C4-A309-0851EA8C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AA0D259-D0B5-46E6-A490-3E70CD20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GitHub Actions (CI) : rejoue lint + tests + build à chaque push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BDA2829-9835-4C83-89CD-0731E05F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593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F2F673E-D212-4ACB-B7FD-290A0176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8386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pre-commit : lance ruff/black/gitleaks AVANT le commit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73CC7581-46AA-4364-A815-2F529E0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10565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2903E3B-45C8-43BD-BEC6-F30703A9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9592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gitleaks : bloque un secret avant qu'il n'entre dans l'historique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18FE9431-B15D-445E-9F60-3746A950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6177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5AD089E-7203-4AE9-AA64-E18FDA7B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507992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DVC : versionne les gros fichiers (pointeur dans Git + contenu sur un remote)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8E8BAC0B-3F5D-4346-BE49-EE53C8C0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294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EA6AE02-E784-4AC2-B2C6-DC3B0353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184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MLflow : trace chaque entraînement + registre de versions du modèle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2831E96-411F-406F-BA79-C9437B32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69864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06A9582-D465-4BCF-A82D-9B5EBDEB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69864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6E599F5-FA6E-47A4-8692-836D05A1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5861304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2E7E92"/>
                </a:solidFill>
                <a:latin typeface="Manrope"/>
                <a:ea typeface="Manrope"/>
                <a:cs typeface="Manrope"/>
              </a:rPr>
              <a:t>Objectif du module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Une branche main toujours verte et un résultat reproductible : code + données + modèle.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6712D3A-1A16-464F-A9DC-19845489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D81238C-979B-4DED-B213-B0E666F0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313563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E573C53-0EA0-4B1E-A87C-F3B31461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C900707-BF8F-488E-BB7B-27322A71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46064F8-F7AA-462E-9491-ECAF2E0C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La CI : un robot qui rejoue tout, à chaque fois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AFABF0B-6639-409D-AB7C-672C3605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La CI relance automatiquement lint + tests + build à chaque modification, pour que la branche main reste toujours verte.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B2F4C43-0395-41FB-A4FD-2CC1446A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4FCFCA1-CFCB-4830-9753-6599E25A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commit / PR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6CD0008-2C26-4931-8293-7D722D2D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680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19852B4-CA2A-46E8-8395-CF07BD9A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880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9D0ED4E-B0B3-4A4F-BEE5-21C0DB54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320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lint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DECCCA1-865B-4183-A9DD-B8EAC208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001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3AD307C-CD57-41D0-9D40-7C56D6CA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201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E310F7F-B65E-411B-9D5C-DC8CF546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1641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test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DF57127-4F3F-4B35-9F4D-003804DC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322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31D8D67-0E34-4C70-9DF2-D42F3181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522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726C6FF-72B4-4FBB-A830-754E0475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5962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build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91990E9-4233-4B18-82B0-AF3B412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643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F71E6D0-17CF-4507-94C7-4C4FB74D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8843" y="3017520"/>
            <a:ext cx="3263696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A732146-2552-4016-A53C-E0B5384F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0283" y="3017520"/>
            <a:ext cx="308081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artefact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F40061B-605B-4159-A9A0-F84C2870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33672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CA995B7C-8947-4E1B-8914-242EA211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1450493-1CBC-4BF1-A18B-AB0CC2DD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0D8A62C-FEDC-4DDF-A3BD-9A0F8433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Le jargon décodé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A7C1C02-0EFC-4C1A-A772-E512BBC5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074920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CI = intégration continue. CD = livraison/déploiement continus. Pipeline = suite d'étapes automatisées.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75D6F49-26E6-44A4-A40D-43701161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233672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8CBB455B-9F83-4143-912B-7C0B6BCD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2C85C8D-659B-4BEC-80ED-F8A31117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≈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3DF72BB-44E6-465F-A796-0549CD94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L'analogie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1F8BD72-F6F6-4CD6-9C09-0AEB21B1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074920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La CI, c'est le contrôle qualité en bout de chaîne : aucun produit ne sort sans avoir passé les tests.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E8737CF-2C4F-478F-AED4-6C1DAB30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112C400-09C9-4537-AEE4-2FFC5398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 est un contrat : elle compile et passe les tests, toujours.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0C8B337-A122-48BA-BB41-1A0C3CCE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D37AA45-3F5A-4E3E-9703-5E82224B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707577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4296F6B-DA27-4422-9F31-B5972D35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9DABDA6-F548-421F-9B5A-2F9329B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3591621-EAA1-4541-99EC-B3BB3BD4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pre-commit &amp; secrets : la première ligne de défense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1589F61-0267-44B7-8881-7279FDF9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pre-commit bloque les erreurs (et les secrets) AVANT qu'ils n'entrent dans l'historique Git.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AB21BDEC-34E7-4023-B36F-456492BD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85C4834-B9E6-4D12-8EA8-BDF34E1B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Hooks locaux : ruff, black, et gitleaks (détection de secrets)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115DC0B-7B40-47D0-8AD5-213E8626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AAF6BB-13E7-44FD-8417-CD7194CC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secret committé est compromis à vie : même supprimé, il reste dans l'historique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DA2D5551-4AB9-44DA-83FA-4122AE06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904487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E10EAF-8CFE-48CA-A8BB-581C7372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79475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Réflexe correct : RÉVOQUER la clé, pas seulement l'effacer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70AC583-A2C3-4F49-8A2A-A8BB346F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79975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6D688364-9205-4B31-81CE-766BAD0C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581143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1ACDDEF-39A1-4DA9-B732-1FEB9484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553711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0C599FB-3038-4679-B2CB-B3D31FF5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617719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2A3E264-C0E0-4589-B8D6-C736127E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221223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Effacer un secret d'un fichier ne le retire pas de l'historique Git. Il faut le révoquer.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08ECD27-2B88-4990-8B8C-49DA475D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379975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046CFF2A-D0E7-4791-ADF5-A90B48FB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581143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7393900-6664-4C34-A2E1-435B95B3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553711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8CC4F27-9A55-4533-A8C6-84F55EAF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617719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Le saviez-vous ?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FF4B093-1EE4-4294-95B8-8C402C78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221223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Des bots scannent GitHub en continu : une clé AWS poussée par erreur peut être exploitée en quelques minutes.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57710EB-CDAE-46E3-B4DE-4EC44E44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61BAE90-C491-4F4F-9B31-78C80E90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pre-commit local + gitleaks en CI = double filet contre les secrets.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ECB68B7-062A-42CE-9A66-F524AB99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12922A9-E9B6-4257-8378-FC126526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078238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3F49BC-EA3F-4E64-870F-0558462C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C9CA858-CE99-4913-A197-9F165047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CE9DA15-3F94-48C9-9DED-5200C1ED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Versionner données &amp; modèle : DVC + MLflow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A166989-F21A-4BBB-80D8-79E29BA0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Git versionne le code ; DVC versionne les gros fichiers ; MLflow gère le cycle de vie du modèle.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AD7AE25-D0DD-4E2F-B8E3-EBA62F6B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CDA104E-D277-40B1-BE27-D1D92123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candidate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6FE66DE-1287-4969-86AB-72BE5EE3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60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2387377-ECC1-4927-9D8B-582E4895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961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7949DD1-E6CC-4A33-AA9A-4B692894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401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Staging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8951D4-DA61-4150-A20C-1C8AF6DD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162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3854563-B024-4825-86CE-902CF0F6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362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977F42F-E46E-4FB1-AA38-2C6F603E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802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Production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E1E1BA-38C9-4753-8798-BAF24F7C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0563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824778E-F35F-4A5E-BC68-E4A963D1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7762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2CBDFDC-CF64-4C7B-A3AE-84B43FA0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203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Archived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02E9D6D-1E32-4FE7-9595-CB84CCE3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3B15625-2565-4148-840F-D2E7BA8A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F007AC2-F3F8-451D-96AC-E80FC148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3061E6F-C7BA-49BC-A2ED-9B67D83C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Le jargon décodé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5B75D66-88A3-43C1-9703-38CE0F15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DVC = pointeur léger (.dvc) dans Git + contenu sur un remote. Registry MLflow = catalogue versionné des modèles avec stages.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5750A293-6013-4F23-A01B-EE3AB850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04F0C9DC-39FC-485D-ADDF-650FFF18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380E0F2-A069-4CEF-A133-E45AD810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695E163-5F0A-43B2-ADC9-66F4A279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Idée reçue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D1913BE-0299-42E7-A560-CBA031D9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« Je peux mettre mon dataset dans Git. » FAUX : Git gère mal le binaire volumineux — c'est le rôle de DVC.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4FAC8FDA-09A4-4E37-83F2-F310BCF3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5DBDFEA-89B1-4913-B8A1-45D99F21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Reproduire = même version de code + données + modèle, les trois ensemble.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C687A35-9F3D-412A-9782-08B91A0F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9602ED6-63AA-41A7-B33A-1D9352AA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45538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2DC1C49-49FA-4CB1-89C3-FB85EB9D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EDCE8B0B-DA65-44E7-B191-8AF69526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4AE628-0B06-447C-B3DC-D3F14C9F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Lire un log CI : par étape, pas en panique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03A8AF-0EB3-4922-A6FF-45F142DC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Démo PR rouge vers verte : on repère l'étape qui a échoué, on corrige, on relance.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EE4EB1EE-FEB4-4A54-830B-57DF291E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A0E8C00-F328-4F42-918C-01E30428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Onglet Actions sur GitHub (ou démo locale : casser un test)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C3DE5238-5A39-43C8-9A84-D40DB777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06B4DB6-DBBC-4456-BA24-6D965014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Question : quel symptôme ? quelle étape a échoué ?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089635D5-AED7-457A-9C15-82159FE4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73989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44C7698-9D3C-44BD-BF67-8439DE97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63016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Correction, puis uv run pytest -q (vert)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31B3267-F392-4950-94C1-17E6DE17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15383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7EDED39-64F0-42F1-8599-DA6305EB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15383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5F58D07-5599-420D-A065-AEA71480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4306823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La CI ne remplace pas les tests : elle empêche juste d'oublier de les lancer.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EA7AF95-03CD-4ED2-AD51-DD117208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382A97B-2078-479C-9062-A236EBE3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 log CI se lit étape par étape — chaque étape répond oui ou non.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D742594-1421-4049-A7ED-53908799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0ED2027-9134-45FB-B45C-9FDA5F7F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245776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22364FB-6F66-43BE-AAC3-688CCE63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F68C47F-3580-4576-8B3E-AF8801C5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1472DE-0E46-44B0-9682-A47734F6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 job build : ne fabriquer que du code testé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9681304-505A-4AB5-87C1-E800C46D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Le squelette a un job quality ; on ajoute build, qui ne démarre que si quality passe.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22BEDC2-8D30-4AA7-AD0A-F15CE8D1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06039"/>
            <a:ext cx="1800098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36DD918-74AF-4197-B6D2-F1AA1DDC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52344"/>
            <a:ext cx="17269460" cy="3310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build: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needs: quality          # ne build que si les tests passent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runs-on: ubuntu-latest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steps: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- uses: actions/checkout@v4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- uses: astral-sh/setup-uv@v3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- run: uv build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- uses: actions/upload-artifact@v4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with: { name: indusense-wheel, path: dist/*.whl }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91FCE1B-326D-4D05-AE34-1304E581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E3EEEAE-8FDA-4904-9BC0-24395F38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needs: quality = pas d'artefact à partir d'un code qui ne passe pas les tests.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0A9D77B-74C6-4D04-9144-E125D566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1A367F0-2325-439B-B743-A05F6A07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48526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D7B005E-3EEE-4FCC-820D-5A9BB969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950041FF-D4BF-40B3-992E-F7029FE5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6153BA5-2333-4C4E-8196-0AFD547C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Stratégie de versioning : code + données + modèle + secrets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32686DFB-3B07-4D83-B555-0A3C3992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0202100-F0EC-450F-B20A-C9837E36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Code : PR + CI verte obligatoire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F3267503-1DBB-4739-B992-2A8BA87E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7A0A37A-A5F7-4F7C-904D-ABD9FC5C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Données : DVC (Git ne garde que le pointeur .dvc)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B494695E-EBFF-4052-B920-74BEA86E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08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97E008-060E-485F-B86A-024CC690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898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Modèle : model_metadata.json, Candidate vers Staging vers Production vers Archived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046F602-96CF-4712-88E7-95BD0B73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6850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956A3AB-F434-46F2-954D-C0D47379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57530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Secrets : .env local + secrets GitHub — jamais dans le code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94E54C8-75E5-4165-B3FB-291E42AB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8080BAF-C228-4E87-BA3E-CDA308EE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306824"/>
            <a:ext cx="17269460" cy="12368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500"/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dvc init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500"/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dvc add data/sample/capteurs_temperature.csv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500"/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git status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500"/>
            </a:pPr>
            <a:r>
              <a:rPr sz="15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dvc status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58E1F97-1AD3-4BB9-A5BF-0E355CEF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15000"/>
            <a:ext cx="18000980" cy="14630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5E6272BE-7962-48CC-8DEE-E919D789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9161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A333AAB-C318-4DAC-ADF1-E3837F9B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88873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32A41DF-6484-4B0E-8EF8-55B5D8DF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5952744"/>
            <a:ext cx="1690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Idée reçue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879FDF4-3E55-4D9E-B38D-37C3EC5B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6556248"/>
            <a:ext cx="17269460" cy="502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« CI verte en local = verte sur GitHub. » Pas toujours : un test non hermétique (fichier local) passe chez toi et échoue en CI.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4EBC7B5-54D7-4907-A16A-836509DA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4FE5FE3-8C7E-46B8-8FE1-D9D33855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Reproduire un résultat = retrouver le code + les données + le modèle, ensemble.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49A2852-7A09-4EA7-A8BE-DD340A42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1D2E740-8371-4B14-B63E-FA85FB98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331490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710FDC-51D5-477D-B20C-6AF29CCD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92BBEAA-CAB8-483C-8069-87C71A30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482363-6119-4AF3-AF92-B7152F6B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 en 3 points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5A98C765-EB42-4175-9E68-0A497DAC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B2EFFEC-0574-41D6-878C-3EEF6DCE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La CI teste et construit à chaque push.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F47AEB08-8C8D-4C34-8003-B83C1864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109E85F-701C-456F-A9ED-E286E528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gitleaks bloque les secrets AVANT le commit.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D88C6F1F-3BF2-4068-BF6E-117D7199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08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9391D8C-33E1-480E-BE9A-2ABB6201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898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DVC versionne les données, MLflow versionne les modèles.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81DC475-89B0-4384-8286-109D19EB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91924CC-5273-4241-AE22-1DD39A22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848550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6E07C4-D3C5-42D3-8F96-7695EDA7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33E392F-D079-4000-A13B-F7556B2B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157B275-80BC-430B-A2F0-D4411CC2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Travaux dirigés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9A9F548-CD12-4E06-9866-3F749808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24 — TP guidé, correction au fil de l'eau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C0BE4F7-71F5-4B1D-81CE-B0AF83F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523460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C36848-4596-42E3-AB57-5061F227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1BDCFA64-46A8-4EBA-B558-09DC0A0D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F3FE1FB-835F-40FC-B8EF-AB65B650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workflow &amp; pre-commit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8A22B0D-5C58-441C-8BE7-34154FF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418486E-BAC8-4C17-8ADF-DD713FE9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# .github/workflows/ci.yml (extrait)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- uses: actions/setup-python@v5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with: { python-version: "3.13" }   # PAS 3.11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- run: ruff check . &amp;&amp; black --check . &amp;&amp; pytest -q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2AB71B0-DC48-4E0D-A4F7-08E05AC4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A70BA84-A361-4CCA-8C2C-576E5AF8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54A8926-FEE9-48A6-A55E-8F691FA3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88620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✅ Point de contrôle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Sur une PR : job quality puis build (needs). Un faux secret est bloqué par gitleaks.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B306D65-E4DB-46C8-99AF-0E11C82B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9BD1E5-96AC-4D78-9541-034F04A7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4975752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40408C6-1B7E-401D-8950-8DE56E5F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3EB079A-56A2-45CB-A63A-2DD3886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85EC033-D060-4230-A6BD-7FEC0566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DVC &amp; stratégie de versioning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45658D6-4D47-4599-A260-6D80BC26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67DA010-A725-4436-A215-2D62782F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8680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dvc init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dvc remote add -d -f localstore ..\dvc-store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git rm --cached -- data/gold/gold_dataset.csv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dvc add data/gold/gold_dataset.csv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git add .dvc data/gold/gold_dataset.csv.dvc data/gold/.gitignore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975"/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dvc push; uv run dvc status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CBC1B70E-3527-4C82-859A-41A096A7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5387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9342398-0146-4683-94DB-A1C81AEC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290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Documenter versioning_strategy.md (données + modèle + secrets)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2B9D3D8-BBF7-4E07-B240-9D559EBA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07356CC-2C24-4741-BE17-986F83F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4113453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6792CE-D744-4EA9-B119-BEBCA4E6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411C546-23BB-4FF9-8787-CB797F76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7BD69D-2CF5-4716-9E9C-91E3F6C3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debug express (3 cas à corriger)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5B381A9-4631-4185-9AEF-688720B9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877189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AEA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B080CE8-F95E-489B-BB93-951B7109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2130552"/>
            <a:ext cx="8186673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1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Symptôme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145EC3E5-F337-47FA-9CBE-0A4F4EC0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292607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9D018F6-66AA-4C68-B192-BC2E758C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2834639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CI verte en local, rouge en CI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9E22E9A0-46B4-444B-A424-330AA848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338327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CDC28C2-59DC-4FFF-A472-30E0A5FE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3291839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Build malgré des tests rouges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9387EF12-1F09-4914-BB0B-96C3CF84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384047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6C4355-8D02-4383-92DB-3C090BA3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3749039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Secret retiré du dernier commit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F90FEE4-FC45-4F3C-A032-9CDD6F47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0650" y="1874519"/>
            <a:ext cx="877189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AEA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0AF20A2-A811-485A-8D38-AA0F9162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2130552"/>
            <a:ext cx="8186673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1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Cause / correction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3B223941-3554-4F49-AC46-AC835114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292607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97F0ED2-CC57-4AE2-BE76-1D752B0A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002" y="2834639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Test non hermétique (fichier local)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59E3C0D8-44DE-42AF-BE5C-0AECC467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3584447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4817FBF-6A54-4DF9-91FD-688A8905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002" y="3493007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needs: quality oublié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2CEB2D8E-BAE6-4A47-A51B-A695920B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4041647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ECB3D32-828E-4567-9330-5E984406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002" y="3950207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Insuffisant : RÉVOQUER la clé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845C888-CEEF-43F8-9477-B7F52BB3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52E037A-392B-49DA-A604-6183159C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plupart des échecs CI = test non hermétique, ou dépendance d'étape oubliée.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DC1AB19-77C5-4CC9-9974-4EBF5455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53A986F-24DB-4E43-A3EE-F5AEA169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891187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1262B1-628A-4933-91EC-1062F21E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0B942D7-2227-42E8-A3FA-4201FAD0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A5C9BCC-6509-4CB5-8ABD-197F9ED6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Autonomie tutorée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E894BDA-21A8-4BF5-B04C-D4C506D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24 — vous avancez, le formateur reste disponible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4E83693-DEB4-4A19-99B9-614A9A4B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6790133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240FDAF-ED05-43C9-BF6C-F7F72965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9CA9D8F-C7CA-4969-88C8-C1859B26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495E29A-43AB-4781-A9A0-45197A3E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Autonomie tutorée — durcir la CI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6C9BF46-3D86-4BD0-BA55-51578AA4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Avancez à votre rythme. Le formateur reste disponible.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DB1F513B-2880-4C32-9146-16147358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065A4A5-DA37-4331-9924-A1CE37CA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Ajouter un job build qui upload le wheel en artefact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5ADEBC96-4CEB-4D17-957B-FEE225E1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CD1BF66-6437-44DC-8122-65DB15FB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OU enregistrer un modèle dans le registry MLflow (stage Staging)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108006-6184-45E7-85B1-3276A784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03320"/>
            <a:ext cx="18000980" cy="14630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4B9B59B-7AAD-46D6-A9A4-03075BCA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904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29AED8C-2857-422A-9BB0-B4B0AE7E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877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F433546-C50F-4F2F-93C0-7E3458DE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41063"/>
            <a:ext cx="1690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Posture en distanciel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5CBF0CC-9C6C-4B1B-9525-168DA939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544568"/>
            <a:ext cx="17269460" cy="502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On compare les pipelines (vert/rouge) en fin de séance, écran partagé. Appelez à l'aide dès qu'un job reste rouge plus de 5 min.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9F66C86-E3FB-4B10-9916-448283C2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663D201-9A77-4ECE-A827-BDF1AE26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3953335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21EB949-D65C-4256-B595-4C60DE91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69C98C3-6786-47DD-A371-0CD82FA5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0D247BC-F089-455D-988A-52E0AFD4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Definition of Done &amp; transition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C5A497F2-9728-42AD-B0BA-73B68F09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69E382-6A83-4528-B05E-25953268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DoD : pipeline vert, versioning_strategy.md, 0 secret en clair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7576226-CCB6-4668-9B21-A622D337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31D0C91-555B-4225-AB26-F52E0B21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397B316-68D6-4A61-9EEC-32E05C21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2551176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Transition → Module 25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package testé et versionné est prêt à être exposé en API REST.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4E02947-BC26-481D-85A9-6EFA3859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3C484A-ED52-4C30-9964-6BCC366E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38049811"/>
      </p:ext>
    </p:extLst>
  </p:cSld>
</p:sld>
</file>

<file path=ppt/theme/theme1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2026-08-24T07:13:01.9920000Z</dcterms:created>
  <dcterms:modified xsi:type="dcterms:W3CDTF">2026-08-24T07:13:01.9920000Z</dcterms:modified>
</coreProperties>
</file>