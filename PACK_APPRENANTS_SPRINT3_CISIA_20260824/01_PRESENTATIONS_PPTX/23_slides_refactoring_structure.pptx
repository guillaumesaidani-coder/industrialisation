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6f5b0f21cc4f3d" /><Relationship Type="http://schemas.openxmlformats.org/officeDocument/2006/relationships/extended-properties" Target="/docProps/app.xml" Id="R3a8e935c010a45a0" /><Relationship Type="http://schemas.openxmlformats.org/officeDocument/2006/relationships/officeDocument" Target="/ppt/presentation.xml" Id="R1783ecfe153741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0f5a41f9a84da9"/>
  </p:sldMasterIdLst>
  <p:notesMasterIdLst>
    <p:notesMasterId xmlns:r="http://schemas.openxmlformats.org/officeDocument/2006/relationships" r:id="Rad7e36b165ef41c7"/>
  </p:notesMasterIdLst>
  <p:sldIdLst>
    <p:sldId xmlns:r="http://schemas.openxmlformats.org/officeDocument/2006/relationships" id="256" r:id="R724b47c1616b4aaf"/>
    <p:sldId xmlns:r="http://schemas.openxmlformats.org/officeDocument/2006/relationships" id="257" r:id="Rcf1a0102c8e44840"/>
    <p:sldId xmlns:r="http://schemas.openxmlformats.org/officeDocument/2006/relationships" id="258" r:id="R4fa85c3dd724478f"/>
    <p:sldId xmlns:r="http://schemas.openxmlformats.org/officeDocument/2006/relationships" id="259" r:id="Rd5da2841429e4b2f"/>
    <p:sldId xmlns:r="http://schemas.openxmlformats.org/officeDocument/2006/relationships" id="260" r:id="R38910cd6ab33425f"/>
    <p:sldId xmlns:r="http://schemas.openxmlformats.org/officeDocument/2006/relationships" id="261" r:id="Recddae2e32e44f6c"/>
    <p:sldId xmlns:r="http://schemas.openxmlformats.org/officeDocument/2006/relationships" id="262" r:id="R8f573301220245c7"/>
    <p:sldId xmlns:r="http://schemas.openxmlformats.org/officeDocument/2006/relationships" id="263" r:id="R204b7c833d1049e5"/>
    <p:sldId xmlns:r="http://schemas.openxmlformats.org/officeDocument/2006/relationships" id="264" r:id="Rdb5c30579f364ba9"/>
    <p:sldId xmlns:r="http://schemas.openxmlformats.org/officeDocument/2006/relationships" id="265" r:id="R27dcbea974f34521"/>
    <p:sldId xmlns:r="http://schemas.openxmlformats.org/officeDocument/2006/relationships" id="266" r:id="R4cb2476787b940a9"/>
    <p:sldId xmlns:r="http://schemas.openxmlformats.org/officeDocument/2006/relationships" id="267" r:id="R468298fc7ac2415e"/>
    <p:sldId xmlns:r="http://schemas.openxmlformats.org/officeDocument/2006/relationships" id="268" r:id="R86c0ecb89c234f60"/>
    <p:sldId xmlns:r="http://schemas.openxmlformats.org/officeDocument/2006/relationships" id="269" r:id="R7acdd59cfcf243b5"/>
    <p:sldId xmlns:r="http://schemas.openxmlformats.org/officeDocument/2006/relationships" id="270" r:id="Rdb494849fc994a62"/>
    <p:sldId xmlns:r="http://schemas.openxmlformats.org/officeDocument/2006/relationships" id="271" r:id="R0fee2ceb89f34e8b"/>
    <p:sldId xmlns:r="http://schemas.openxmlformats.org/officeDocument/2006/relationships" id="272" r:id="R58b76d3192cd4f82"/>
    <p:sldId xmlns:r="http://schemas.openxmlformats.org/officeDocument/2006/relationships" id="273" r:id="R21b81113e3f5434a"/>
    <p:sldId xmlns:r="http://schemas.openxmlformats.org/officeDocument/2006/relationships" id="274" r:id="R8ed491a38b4349e2"/>
    <p:sldId xmlns:r="http://schemas.openxmlformats.org/officeDocument/2006/relationships" id="275" r:id="R3f5dbb4e6e6f4310"/>
    <p:sldId xmlns:r="http://schemas.openxmlformats.org/officeDocument/2006/relationships" id="276" r:id="Refc84f67dd254c32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e39db301ca4ca1" /><Relationship Type="http://schemas.openxmlformats.org/officeDocument/2006/relationships/slideMaster" Target="/ppt/slideMasters/slideMaster1.xml" Id="R8e0f5a41f9a84da9" /><Relationship Type="http://schemas.openxmlformats.org/officeDocument/2006/relationships/notesMaster" Target="/ppt/notesMasters/notesMaster1.xml" Id="Rad7e36b165ef41c7" /><Relationship Type="http://schemas.openxmlformats.org/officeDocument/2006/relationships/presProps" Target="/ppt/presProps.xml" Id="Re1064efb4c0a4665" /><Relationship Type="http://schemas.openxmlformats.org/officeDocument/2006/relationships/viewProps" Target="/ppt/viewProps.xml" Id="Rb05958ff927c4cc4" /><Relationship Type="http://schemas.openxmlformats.org/officeDocument/2006/relationships/tableStyles" Target="/ppt/tableStyles.xml" Id="Rafa74f3dc91046c6" /><Relationship Type="http://schemas.openxmlformats.org/officeDocument/2006/relationships/slide" Target="/ppt/slides/slide1.xml" Id="R724b47c1616b4aaf" /><Relationship Type="http://schemas.openxmlformats.org/officeDocument/2006/relationships/slide" Target="/ppt/slides/slide2.xml" Id="Rcf1a0102c8e44840" /><Relationship Type="http://schemas.openxmlformats.org/officeDocument/2006/relationships/slide" Target="/ppt/slides/slide3.xml" Id="R4fa85c3dd724478f" /><Relationship Type="http://schemas.openxmlformats.org/officeDocument/2006/relationships/slide" Target="/ppt/slides/slide4.xml" Id="Rd5da2841429e4b2f" /><Relationship Type="http://schemas.openxmlformats.org/officeDocument/2006/relationships/slide" Target="/ppt/slides/slide5.xml" Id="R38910cd6ab33425f" /><Relationship Type="http://schemas.openxmlformats.org/officeDocument/2006/relationships/slide" Target="/ppt/slides/slide6.xml" Id="Recddae2e32e44f6c" /><Relationship Type="http://schemas.openxmlformats.org/officeDocument/2006/relationships/slide" Target="/ppt/slides/slide7.xml" Id="R8f573301220245c7" /><Relationship Type="http://schemas.openxmlformats.org/officeDocument/2006/relationships/slide" Target="/ppt/slides/slide8.xml" Id="R204b7c833d1049e5" /><Relationship Type="http://schemas.openxmlformats.org/officeDocument/2006/relationships/slide" Target="/ppt/slides/slide9.xml" Id="Rdb5c30579f364ba9" /><Relationship Type="http://schemas.openxmlformats.org/officeDocument/2006/relationships/slide" Target="/ppt/slides/slide10.xml" Id="R27dcbea974f34521" /><Relationship Type="http://schemas.openxmlformats.org/officeDocument/2006/relationships/slide" Target="/ppt/slides/slide11.xml" Id="R4cb2476787b940a9" /><Relationship Type="http://schemas.openxmlformats.org/officeDocument/2006/relationships/slide" Target="/ppt/slides/slide12.xml" Id="R468298fc7ac2415e" /><Relationship Type="http://schemas.openxmlformats.org/officeDocument/2006/relationships/slide" Target="/ppt/slides/slide13.xml" Id="R86c0ecb89c234f60" /><Relationship Type="http://schemas.openxmlformats.org/officeDocument/2006/relationships/slide" Target="/ppt/slides/slide14.xml" Id="R7acdd59cfcf243b5" /><Relationship Type="http://schemas.openxmlformats.org/officeDocument/2006/relationships/slide" Target="/ppt/slides/slide15.xml" Id="Rdb494849fc994a62" /><Relationship Type="http://schemas.openxmlformats.org/officeDocument/2006/relationships/slide" Target="/ppt/slides/slide16.xml" Id="R0fee2ceb89f34e8b" /><Relationship Type="http://schemas.openxmlformats.org/officeDocument/2006/relationships/slide" Target="/ppt/slides/slide17.xml" Id="R58b76d3192cd4f82" /><Relationship Type="http://schemas.openxmlformats.org/officeDocument/2006/relationships/slide" Target="/ppt/slides/slide18.xml" Id="R21b81113e3f5434a" /><Relationship Type="http://schemas.openxmlformats.org/officeDocument/2006/relationships/slide" Target="/ppt/slides/slide19.xml" Id="R8ed491a38b4349e2" /><Relationship Type="http://schemas.openxmlformats.org/officeDocument/2006/relationships/slide" Target="/ppt/slides/slide20.xml" Id="R3f5dbb4e6e6f4310" /><Relationship Type="http://schemas.openxmlformats.org/officeDocument/2006/relationships/slide" Target="/ppt/slides/slide21.xml" Id="Refc84f67dd254c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9d268d74c443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ce37bc23cb4bb8" /><Relationship Type="http://schemas.openxmlformats.org/officeDocument/2006/relationships/notesMaster" Target="/ppt/notesMasters/notesMaster1.xml" Id="R4aea9017aa7a4e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b4028f9328442d" /><Relationship Type="http://schemas.openxmlformats.org/officeDocument/2006/relationships/notesMaster" Target="/ppt/notesMasters/notesMaster1.xml" Id="Rf0afed0f064447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a31af676d04861" /><Relationship Type="http://schemas.openxmlformats.org/officeDocument/2006/relationships/notesMaster" Target="/ppt/notesMasters/notesMaster1.xml" Id="R25a47906f34c44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3f411f96064840" /><Relationship Type="http://schemas.openxmlformats.org/officeDocument/2006/relationships/notesMaster" Target="/ppt/notesMasters/notesMaster1.xml" Id="Rebd51eac67b048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f4e75e01a249d5" /><Relationship Type="http://schemas.openxmlformats.org/officeDocument/2006/relationships/notesMaster" Target="/ppt/notesMasters/notesMaster1.xml" Id="R8d5547fe35a64b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a13136301843eb" /><Relationship Type="http://schemas.openxmlformats.org/officeDocument/2006/relationships/notesMaster" Target="/ppt/notesMasters/notesMaster1.xml" Id="Rb9f5cb28febd4a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8375fcf6544893" /><Relationship Type="http://schemas.openxmlformats.org/officeDocument/2006/relationships/notesMaster" Target="/ppt/notesMasters/notesMaster1.xml" Id="R6c87ae2e5b4644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07f00a5b0d4962" /><Relationship Type="http://schemas.openxmlformats.org/officeDocument/2006/relationships/notesMaster" Target="/ppt/notesMasters/notesMaster1.xml" Id="Rbce70adb949d4a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15494dacc14315" /><Relationship Type="http://schemas.openxmlformats.org/officeDocument/2006/relationships/notesMaster" Target="/ppt/notesMasters/notesMaster1.xml" Id="Rc93a6c8b952944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92c0c991324ed6" /><Relationship Type="http://schemas.openxmlformats.org/officeDocument/2006/relationships/notesMaster" Target="/ppt/notesMasters/notesMaster1.xml" Id="R2c225c2b09334c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888707e9c84eab" /><Relationship Type="http://schemas.openxmlformats.org/officeDocument/2006/relationships/notesMaster" Target="/ppt/notesMasters/notesMaster1.xml" Id="Ra5c1c222b34f4f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17d03b4b8e475c" /><Relationship Type="http://schemas.openxmlformats.org/officeDocument/2006/relationships/notesMaster" Target="/ppt/notesMasters/notesMaster1.xml" Id="R06eab45180f046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4d6446bc2d40d3" /><Relationship Type="http://schemas.openxmlformats.org/officeDocument/2006/relationships/notesMaster" Target="/ppt/notesMasters/notesMaster1.xml" Id="Re0a1113981a648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cff82cc9354642" /><Relationship Type="http://schemas.openxmlformats.org/officeDocument/2006/relationships/notesMaster" Target="/ppt/notesMasters/notesMaster1.xml" Id="Rcaedf9b89dd94a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443a10843f49d3" /><Relationship Type="http://schemas.openxmlformats.org/officeDocument/2006/relationships/notesMaster" Target="/ppt/notesMasters/notesMaster1.xml" Id="R89a05f76c41948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4399da45a4477c" /><Relationship Type="http://schemas.openxmlformats.org/officeDocument/2006/relationships/notesMaster" Target="/ppt/notesMasters/notesMaster1.xml" Id="R4651465a69fd4f6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31c9adeaea4037" /><Relationship Type="http://schemas.openxmlformats.org/officeDocument/2006/relationships/notesMaster" Target="/ppt/notesMasters/notesMaster1.xml" Id="Rb736b202d9524b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a55995d727b4596" /><Relationship Type="http://schemas.openxmlformats.org/officeDocument/2006/relationships/notesMaster" Target="/ppt/notesMasters/notesMaster1.xml" Id="Rd0752656d50c4f2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22db50ad6e34e89" /><Relationship Type="http://schemas.openxmlformats.org/officeDocument/2006/relationships/notesMaster" Target="/ppt/notesMasters/notesMaster1.xml" Id="R8ae8495b611140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51feb01c3774eb4" /><Relationship Type="http://schemas.openxmlformats.org/officeDocument/2006/relationships/notesMaster" Target="/ppt/notesMasters/notesMaster1.xml" Id="R51f20e436a4f4d6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7087e0e506e4a75" /><Relationship Type="http://schemas.openxmlformats.org/officeDocument/2006/relationships/notesMaster" Target="/ppt/notesMasters/notesMaster1.xml" Id="R61f6b79ad90347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449c806554b28" /><Relationship Type="http://schemas.openxmlformats.org/officeDocument/2006/relationships/image" Target="/ppt/media/image.png" Id="R36802c99a85d48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74dd2b49443c7" /><Relationship Type="http://schemas.openxmlformats.org/officeDocument/2006/relationships/image" Target="/ppt/media/image2.png" Id="R8ad1425feaf342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c3b538be94814" /><Relationship Type="http://schemas.openxmlformats.org/officeDocument/2006/relationships/image" Target="/ppt/media/image3.png" Id="R0467bd1ec2d34356" /><Relationship Type="http://schemas.openxmlformats.org/officeDocument/2006/relationships/image" Target="/ppt/media/image4.png" Id="Rfdc3ac56d6f04d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5de23f0e12496b" /><Relationship Type="http://schemas.openxmlformats.org/officeDocument/2006/relationships/image" Target="/ppt/media/image5.png" Id="Rd14105edfff841b1" /><Relationship Type="http://schemas.openxmlformats.org/officeDocument/2006/relationships/image" Target="/ppt/media/image4.png" Id="R1c1459e99fd7458d" /><Relationship Type="http://schemas.openxmlformats.org/officeDocument/2006/relationships/image" Target="/ppt/media/image6.png" Id="Rd3c56a4d3f6045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aee3977f74282" /><Relationship Type="http://schemas.openxmlformats.org/officeDocument/2006/relationships/image" Target="/ppt/media/image5.png" Id="R2729230bf3864e4d" /><Relationship Type="http://schemas.openxmlformats.org/officeDocument/2006/relationships/image" Target="/ppt/media/image4.png" Id="R242201683f1c4a85" /><Relationship Type="http://schemas.openxmlformats.org/officeDocument/2006/relationships/image" Target="/ppt/media/image6.png" Id="R734253987e554b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f06578c314812" /><Relationship Type="http://schemas.openxmlformats.org/officeDocument/2006/relationships/image" Target="/ppt/media/image5.png" Id="R9aba9db8f1664a5b" /><Relationship Type="http://schemas.openxmlformats.org/officeDocument/2006/relationships/image" Target="/ppt/media/image4.png" Id="R4607e64586ab408a" /><Relationship Type="http://schemas.openxmlformats.org/officeDocument/2006/relationships/image" Target="/ppt/media/image6.png" Id="R0d203e29c1bf4a0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ace517561429d" /><Relationship Type="http://schemas.openxmlformats.org/officeDocument/2006/relationships/image" Target="/ppt/media/image5.png" Id="R0b167f9d334b421f" /><Relationship Type="http://schemas.openxmlformats.org/officeDocument/2006/relationships/image" Target="/ppt/media/image4.png" Id="Rc717e3e409dc4dde" /><Relationship Type="http://schemas.openxmlformats.org/officeDocument/2006/relationships/image" Target="/ppt/media/image6.png" Id="Rc9b092e61215420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2a32f53e940fe" /><Relationship Type="http://schemas.openxmlformats.org/officeDocument/2006/relationships/image" Target="/ppt/media/image5.png" Id="Rc0626639055a4621" /><Relationship Type="http://schemas.openxmlformats.org/officeDocument/2006/relationships/image" Target="/ppt/media/image4.png" Id="R7c44f0c32b354238" /><Relationship Type="http://schemas.openxmlformats.org/officeDocument/2006/relationships/image" Target="/ppt/media/image6.png" Id="Rc45d149775fa484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dd414128643c4" /><Relationship Type="http://schemas.openxmlformats.org/officeDocument/2006/relationships/image" Target="/ppt/media/image7.png" Id="R440d21c8f36e467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f41735f4b475e" /><Relationship Type="http://schemas.openxmlformats.org/officeDocument/2006/relationships/image" Target="/ppt/media/image8.png" Id="Re134c27d779d4f6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41dfcaa445468b" /><Relationship Type="http://schemas.openxmlformats.org/officeDocument/2006/relationships/image" Target="/ppt/media/image9.png" Id="R609b56d1a0eb445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355dd9e604ad4" /><Relationship Type="http://schemas.openxmlformats.org/officeDocument/2006/relationships/image" Target="/ppt/media/image10.png" Id="Rbc9a1091e65f418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c08d565674637" /><Relationship Type="http://schemas.openxmlformats.org/officeDocument/2006/relationships/image" Target="/ppt/media/image11.png" Id="Rc63b4baed6874bb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6f65b74324a9d" /><Relationship Type="http://schemas.openxmlformats.org/officeDocument/2006/relationships/image" Target="/ppt/media/image12.png" Id="R6bd7d1a27234463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5eba32b2440a1" /><Relationship Type="http://schemas.openxmlformats.org/officeDocument/2006/relationships/image" Target="/ppt/media/image13.png" Id="Rb06041e7016b4ae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e31d897ec4f24" /><Relationship Type="http://schemas.openxmlformats.org/officeDocument/2006/relationships/image" Target="/ppt/media/image2.png" Id="R473f2a96749d474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618d58339452c" /><Relationship Type="http://schemas.openxmlformats.org/officeDocument/2006/relationships/image" Target="/ppt/media/image14.png" Id="R2f1f0cd00f454994" /><Relationship Type="http://schemas.openxmlformats.org/officeDocument/2006/relationships/image" Target="/ppt/media/image15.png" Id="Ref26236c75c04f1d" /></Relationships>
</file>

<file path=ppt/slideLayouts/slideLayout1.xml><?xml version="1.0" encoding="utf-8"?>
<p:sldLayout xmlns:p="http://schemas.openxmlformats.org/presentationml/2006/main" preserve="1" userDrawn="1">
  <p:cSld name="17_Disposition personnalisée">
    <p:bg>
      <p:bgPr>
        <a:blipFill xmlns:a="http://schemas.openxmlformats.org/drawingml/2006/main" rotWithShape="1">
          <a:blip xmlns:r="http://schemas.openxmlformats.org/officeDocument/2006/relationships" r:embed="R36802c99a85d482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5E7576F2-96D7-4879-C595-31AEF196E4F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39962" y="4862587"/>
            <a:ext cx="61722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Nom du formateur</a:t>
            </a:r>
          </a:p>
        </p:txBody>
      </p:sp>
      <p:sp>
        <p:nvSpPr>
          <p:cNvPr id="3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C84FB502-4701-30C4-540E-C8A8154B5FB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39962" y="7507138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Intitulé de la formation</a:t>
            </a:r>
          </a:p>
        </p:txBody>
      </p:sp>
      <p:sp>
        <p:nvSpPr>
          <p:cNvPr id="9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1B8F86BD-B5C7-B927-A9D3-2B75CFF0D7F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39962" y="6891585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32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Thématique de la formation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9_Disposition personnalisée">
    <p:bg>
      <p:bgPr>
        <a:blipFill xmlns:a="http://schemas.openxmlformats.org/drawingml/2006/main" rotWithShape="1">
          <a:blip xmlns:r="http://schemas.openxmlformats.org/officeDocument/2006/relationships" r:embed="R8ad1425feaf3427b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2E351256-75CD-2ED8-4BB9-764EC4F953F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179842" y="1622227"/>
            <a:ext cx="9067800" cy="2078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Sommaire</a:t>
            </a:r>
          </a:p>
        </p:txBody>
      </p:sp>
      <p:sp>
        <p:nvSpPr>
          <p:cNvPr id="3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E4210765-D18A-93AA-5401-6FE46CD1B5A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495111" y="75290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4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C21EE629-EB1A-113D-97A8-9978DF1EE8D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495111" y="51827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5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DF353674-E326-FAC4-8E39-A794B8C892D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495111" y="5946876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6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6FB8EC16-DCC1-A56A-2FCA-A8161FB9A73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9475986" y="67379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7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A1C31546-D63A-76DA-451E-F5E3BC95B3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9475986" y="44186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7C8B2001-5977-1C01-BE50-4A3FAA65C3B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495111" y="832006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re et contenu">
    <p:bg>
      <p:bgPr>
        <a:blipFill xmlns:a="http://schemas.openxmlformats.org/drawingml/2006/main" rotWithShape="1">
          <a:blip xmlns:r="http://schemas.openxmlformats.org/officeDocument/2006/relationships" r:embed="R0467bd1ec2d34356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oneTexte 6">
            <a:extLst xmlns:a="http://schemas.openxmlformats.org/drawingml/2006/main">
              <a:ext uri="{FF2B5EF4-FFF2-40B4-BE49-F238E27FC236}">
                <a16:creationId xmlns:a16="http://schemas.microsoft.com/office/drawing/2014/main" id="{5347DE8B-CF68-40E8-B8D8-090B18DC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8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01</a:t>
            </a:r>
          </a:p>
        </p:txBody>
      </p:sp>
      <p:pic>
        <p:nvPicPr>
          <p:cNvPr id="2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3ac56d6f04d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66603E52-899B-4BE9-93E0-B72BDAEC294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22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B2C1FB38-60A8-4700-B272-5C798855A97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Title and Content">
    <p:bg>
      <p:bgPr>
        <a:blipFill xmlns:a="http://schemas.openxmlformats.org/drawingml/2006/main" rotWithShape="1">
          <a:blip xmlns:r="http://schemas.openxmlformats.org/officeDocument/2006/relationships" r:embed="Rd14105edfff841b1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459e99fd745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56a4d3f6045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02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Title and Content">
    <p:bg>
      <p:bgPr>
        <a:blipFill xmlns:a="http://schemas.openxmlformats.org/drawingml/2006/main" rotWithShape="1">
          <a:blip xmlns:r="http://schemas.openxmlformats.org/officeDocument/2006/relationships" r:embed="R2729230bf3864e4d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201683f1c4a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253987e554b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03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3_Title and Content">
    <p:bg>
      <p:bgPr>
        <a:blipFill xmlns:a="http://schemas.openxmlformats.org/drawingml/2006/main" rotWithShape="1">
          <a:blip xmlns:r="http://schemas.openxmlformats.org/officeDocument/2006/relationships" r:embed="R9aba9db8f1664a5b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7e64586ab40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03e29c1bf4a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04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Title and Content">
    <p:bg>
      <p:bgPr>
        <a:blipFill xmlns:a="http://schemas.openxmlformats.org/drawingml/2006/main" rotWithShape="1">
          <a:blip xmlns:r="http://schemas.openxmlformats.org/officeDocument/2006/relationships" r:embed="R0b167f9d334b421f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7e3e409dc4d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092e6121542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05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Title and Content">
    <p:bg>
      <p:bgPr>
        <a:blipFill xmlns:a="http://schemas.openxmlformats.org/drawingml/2006/main" rotWithShape="1">
          <a:blip xmlns:r="http://schemas.openxmlformats.org/officeDocument/2006/relationships" r:embed="Rc0626639055a4621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4f0c32b354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d149775fa48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06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Title Slide">
    <p:bg>
      <p:bgPr>
        <a:blipFill xmlns:a="http://schemas.openxmlformats.org/drawingml/2006/main" rotWithShape="1">
          <a:blip xmlns:r="http://schemas.openxmlformats.org/officeDocument/2006/relationships" r:embed="R440d21c8f36e467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2_Disposition personnalisée">
    <p:bg>
      <p:bgPr>
        <a:blipFill xmlns:a="http://schemas.openxmlformats.org/drawingml/2006/main" rotWithShape="1">
          <a:blip xmlns:r="http://schemas.openxmlformats.org/officeDocument/2006/relationships" r:embed="Re134c27d779d4f6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3_Disposition personnalisée">
    <p:bg>
      <p:bgPr>
        <a:blipFill xmlns:a="http://schemas.openxmlformats.org/drawingml/2006/main" rotWithShape="1">
          <a:blip xmlns:r="http://schemas.openxmlformats.org/officeDocument/2006/relationships" r:embed="R609b56d1a0eb445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6_Disposition personnalisée">
    <p:bg>
      <p:bgPr>
        <a:blipFill xmlns:a="http://schemas.openxmlformats.org/drawingml/2006/main" rotWithShape="1">
          <a:blip xmlns:r="http://schemas.openxmlformats.org/officeDocument/2006/relationships" r:embed="Rbc9a1091e65f418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10_Disposition personnalisée">
    <p:bg>
      <p:bgPr>
        <a:blipFill xmlns:a="http://schemas.openxmlformats.org/drawingml/2006/main" rotWithShape="1">
          <a:blip xmlns:r="http://schemas.openxmlformats.org/officeDocument/2006/relationships" r:embed="Rc63b4baed6874bb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showMasterSp="0" type="obj" preserve="1">
  <p:cSld name="1_Blank">
    <p:bg>
      <p:bgPr>
        <a:blipFill xmlns:a="http://schemas.openxmlformats.org/drawingml/2006/main" rotWithShape="1">
          <a:blip xmlns:r="http://schemas.openxmlformats.org/officeDocument/2006/relationships" r:embed="R6bd7d1a27234463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18_Disposition personnalisée">
    <p:bg>
      <p:bgPr>
        <a:blipFill xmlns:a="http://schemas.openxmlformats.org/drawingml/2006/main" rotWithShape="1">
          <a:blip xmlns:r="http://schemas.openxmlformats.org/officeDocument/2006/relationships" r:embed="Rb06041e7016b4a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20_Disposition personnalisée">
    <p:bg>
      <p:bgPr>
        <a:blipFill xmlns:a="http://schemas.openxmlformats.org/drawingml/2006/main" rotWithShape="1">
          <a:blip xmlns:r="http://schemas.openxmlformats.org/officeDocument/2006/relationships" r:embed="R473f2a96749d4747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Disposition personnalisée">
    <p:bg>
      <p:bgPr>
        <a:blipFill xmlns:a="http://schemas.openxmlformats.org/drawingml/2006/main" rotWithShape="1">
          <a:blip xmlns:r="http://schemas.openxmlformats.org/officeDocument/2006/relationships" r:embed="R2f1f0cd00f4549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6236c75c04f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002" y="542107"/>
            <a:ext cx="18902097" cy="5040560"/>
          </a:xfrm>
          <a:prstGeom xmlns:a="http://schemas.openxmlformats.org/drawingml/2006/main" prst="roundRect">
            <a:avLst>
              <a:gd name="adj" fmla="val 9607"/>
            </a:avLst>
          </a:prstGeom>
        </p:spPr>
      </p:pic>
      <p:sp>
        <p:nvSpPr>
          <p:cNvPr id="6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86C7ADBF-7FE4-9BE8-94E3-4FAC04EE5D9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5025" y="6230739"/>
            <a:ext cx="14587149" cy="108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60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Merci de votre attention !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93ea589cce4dd5" /><Relationship Type="http://schemas.openxmlformats.org/officeDocument/2006/relationships/slideLayout" Target="/ppt/slideLayouts/slideLayout1.xml" Id="R43106f433e8e49d8" /><Relationship Type="http://schemas.openxmlformats.org/officeDocument/2006/relationships/slideLayout" Target="/ppt/slideLayouts/slideLayout2.xml" Id="Rfacec39032f04f0f" /><Relationship Type="http://schemas.openxmlformats.org/officeDocument/2006/relationships/slideLayout" Target="/ppt/slideLayouts/slideLayout3.xml" Id="R190fc801e3bc49f5" /><Relationship Type="http://schemas.openxmlformats.org/officeDocument/2006/relationships/slideLayout" Target="/ppt/slideLayouts/slideLayout4.xml" Id="R46b9986943864cac" /><Relationship Type="http://schemas.openxmlformats.org/officeDocument/2006/relationships/slideLayout" Target="/ppt/slideLayouts/slideLayout5.xml" Id="Rfc763ed7cc16455b" /><Relationship Type="http://schemas.openxmlformats.org/officeDocument/2006/relationships/slideLayout" Target="/ppt/slideLayouts/slideLayout6.xml" Id="Ra5ced2c2df284fba" /><Relationship Type="http://schemas.openxmlformats.org/officeDocument/2006/relationships/slideLayout" Target="/ppt/slideLayouts/slideLayout7.xml" Id="R3bc30329f45f48a8" /><Relationship Type="http://schemas.openxmlformats.org/officeDocument/2006/relationships/slideLayout" Target="/ppt/slideLayouts/slideLayout8.xml" Id="R12a43b145c904ea5" /><Relationship Type="http://schemas.openxmlformats.org/officeDocument/2006/relationships/slideLayout" Target="/ppt/slideLayouts/slideLayout9.xml" Id="R31b8fb0946e04a64" /><Relationship Type="http://schemas.openxmlformats.org/officeDocument/2006/relationships/slideLayout" Target="/ppt/slideLayouts/slideLayout10.xml" Id="R899fbaecb8314def" /><Relationship Type="http://schemas.openxmlformats.org/officeDocument/2006/relationships/slideLayout" Target="/ppt/slideLayouts/slideLayout11.xml" Id="Rbb069624f34f4ee4" /><Relationship Type="http://schemas.openxmlformats.org/officeDocument/2006/relationships/slideLayout" Target="/ppt/slideLayouts/slideLayout12.xml" Id="R51349f77828440b6" /><Relationship Type="http://schemas.openxmlformats.org/officeDocument/2006/relationships/slideLayout" Target="/ppt/slideLayouts/slideLayout13.xml" Id="R30f135e9dbdd408e" /><Relationship Type="http://schemas.openxmlformats.org/officeDocument/2006/relationships/slideLayout" Target="/ppt/slideLayouts/slideLayout14.xml" Id="Ra6c4b7671e2b4ecd" /><Relationship Type="http://schemas.openxmlformats.org/officeDocument/2006/relationships/slideLayout" Target="/ppt/slideLayouts/slideLayout15.xml" Id="R2ea1e410612343c6" /><Relationship Type="http://schemas.openxmlformats.org/officeDocument/2006/relationships/slideLayout" Target="/ppt/slideLayouts/slideLayout16.xml" Id="R1f21b21cca9d45bc" /><Relationship Type="http://schemas.openxmlformats.org/officeDocument/2006/relationships/slideLayout" Target="/ppt/slideLayouts/slideLayout17.xml" Id="R03ede062845a47f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106f433e8e49d8"/>
    <p:sldLayoutId xmlns:r="http://schemas.openxmlformats.org/officeDocument/2006/relationships" id="2147483650" r:id="Rfacec39032f04f0f"/>
    <p:sldLayoutId xmlns:r="http://schemas.openxmlformats.org/officeDocument/2006/relationships" id="2147483651" r:id="R190fc801e3bc49f5"/>
    <p:sldLayoutId xmlns:r="http://schemas.openxmlformats.org/officeDocument/2006/relationships" id="2147483652" r:id="R46b9986943864cac"/>
    <p:sldLayoutId xmlns:r="http://schemas.openxmlformats.org/officeDocument/2006/relationships" id="2147483653" r:id="Rfc763ed7cc16455b"/>
    <p:sldLayoutId xmlns:r="http://schemas.openxmlformats.org/officeDocument/2006/relationships" id="2147483654" r:id="Ra5ced2c2df284fba"/>
    <p:sldLayoutId xmlns:r="http://schemas.openxmlformats.org/officeDocument/2006/relationships" id="2147483655" r:id="R3bc30329f45f48a8"/>
    <p:sldLayoutId xmlns:r="http://schemas.openxmlformats.org/officeDocument/2006/relationships" id="2147483656" r:id="R12a43b145c904ea5"/>
    <p:sldLayoutId xmlns:r="http://schemas.openxmlformats.org/officeDocument/2006/relationships" id="2147483657" r:id="R31b8fb0946e04a64"/>
    <p:sldLayoutId xmlns:r="http://schemas.openxmlformats.org/officeDocument/2006/relationships" id="2147483658" r:id="R899fbaecb8314def"/>
    <p:sldLayoutId xmlns:r="http://schemas.openxmlformats.org/officeDocument/2006/relationships" id="2147483659" r:id="Rbb069624f34f4ee4"/>
    <p:sldLayoutId xmlns:r="http://schemas.openxmlformats.org/officeDocument/2006/relationships" id="2147483660" r:id="R51349f77828440b6"/>
    <p:sldLayoutId xmlns:r="http://schemas.openxmlformats.org/officeDocument/2006/relationships" id="2147483661" r:id="R30f135e9dbdd408e"/>
    <p:sldLayoutId xmlns:r="http://schemas.openxmlformats.org/officeDocument/2006/relationships" id="2147483662" r:id="Ra6c4b7671e2b4ecd"/>
    <p:sldLayoutId xmlns:r="http://schemas.openxmlformats.org/officeDocument/2006/relationships" id="2147483663" r:id="R2ea1e410612343c6"/>
    <p:sldLayoutId xmlns:r="http://schemas.openxmlformats.org/officeDocument/2006/relationships" id="2147483664" r:id="R1f21b21cca9d45bc"/>
    <p:sldLayoutId xmlns:r="http://schemas.openxmlformats.org/officeDocument/2006/relationships" id="2147483665" r:id="R03ede062845a47ff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d7ad538f1f74dea" /><Relationship Type="http://schemas.openxmlformats.org/officeDocument/2006/relationships/image" Target="/ppt/media/image15.png" Id="Re26ce540558b4e33" /><Relationship Type="http://schemas.openxmlformats.org/officeDocument/2006/relationships/notesSlide" Target="/ppt/notesSlides/notesSlide1.xml" Id="R25c2e25e375d41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eaeabc62bb7467a" /><Relationship Type="http://schemas.openxmlformats.org/officeDocument/2006/relationships/notesSlide" Target="/ppt/notesSlides/notesSlide2.xml" Id="Rc8f1ec8f5bf045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4e39bc754834eee" /><Relationship Type="http://schemas.openxmlformats.org/officeDocument/2006/relationships/notesSlide" Target="/ppt/notesSlides/notesSlide3.xml" Id="Rfd20603c26094b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bcd7c829b2441e3" /><Relationship Type="http://schemas.openxmlformats.org/officeDocument/2006/relationships/notesSlide" Target="/ppt/notesSlides/notesSlide4.xml" Id="R527d555dab1141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246005cbf054781" /><Relationship Type="http://schemas.openxmlformats.org/officeDocument/2006/relationships/notesSlide" Target="/ppt/notesSlides/notesSlide5.xml" Id="Rfaab7a3687cd4d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b1a1ec82f4a420c" /><Relationship Type="http://schemas.openxmlformats.org/officeDocument/2006/relationships/notesSlide" Target="/ppt/notesSlides/notesSlide6.xml" Id="R7afa46317e4441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e27565d2b7d4c07" /><Relationship Type="http://schemas.openxmlformats.org/officeDocument/2006/relationships/notesSlide" Target="/ppt/notesSlides/notesSlide7.xml" Id="Rfaae3bd7cbe64d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a3cf89d82264f4f" /><Relationship Type="http://schemas.openxmlformats.org/officeDocument/2006/relationships/notesSlide" Target="/ppt/notesSlides/notesSlide8.xml" Id="R8eaf97db34d540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35b3ebbac794631" /><Relationship Type="http://schemas.openxmlformats.org/officeDocument/2006/relationships/notesSlide" Target="/ppt/notesSlides/notesSlide9.xml" Id="Rf5c35da62d2048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ebced6489ea428f" /><Relationship Type="http://schemas.openxmlformats.org/officeDocument/2006/relationships/notesSlide" Target="/ppt/notesSlides/notesSlide10.xml" Id="Refe0f4b5ae4c41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cae842c979d430a" /><Relationship Type="http://schemas.openxmlformats.org/officeDocument/2006/relationships/notesSlide" Target="/ppt/notesSlides/notesSlide11.xml" Id="R66c851f8b28c4a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0a2dd315d104d11" /><Relationship Type="http://schemas.openxmlformats.org/officeDocument/2006/relationships/notesSlide" Target="/ppt/notesSlides/notesSlide12.xml" Id="R65facc5e6f1c4f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e63edd0e3c847d6" /><Relationship Type="http://schemas.openxmlformats.org/officeDocument/2006/relationships/notesSlide" Target="/ppt/notesSlides/notesSlide13.xml" Id="R4364b762376b4a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edf7c4e10994c15" /><Relationship Type="http://schemas.openxmlformats.org/officeDocument/2006/relationships/notesSlide" Target="/ppt/notesSlides/notesSlide14.xml" Id="Red4f853dabfc4c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5157b96990048ff" /><Relationship Type="http://schemas.openxmlformats.org/officeDocument/2006/relationships/notesSlide" Target="/ppt/notesSlides/notesSlide15.xml" Id="R5d26449af8ec43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4c4550020184aa5" /><Relationship Type="http://schemas.openxmlformats.org/officeDocument/2006/relationships/notesSlide" Target="/ppt/notesSlides/notesSlide16.xml" Id="R1198bedf95f046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6a2171c2aaa43cd" /><Relationship Type="http://schemas.openxmlformats.org/officeDocument/2006/relationships/notesSlide" Target="/ppt/notesSlides/notesSlide17.xml" Id="R52e2690c262c45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1302c68326e4535" /><Relationship Type="http://schemas.openxmlformats.org/officeDocument/2006/relationships/notesSlide" Target="/ppt/notesSlides/notesSlide18.xml" Id="Rfce5da3067d44df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c69cb2db96647cf" /><Relationship Type="http://schemas.openxmlformats.org/officeDocument/2006/relationships/notesSlide" Target="/ppt/notesSlides/notesSlide19.xml" Id="Rf5f1bc4366fc478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a179dbe18024088" /><Relationship Type="http://schemas.openxmlformats.org/officeDocument/2006/relationships/notesSlide" Target="/ppt/notesSlides/notesSlide20.xml" Id="Ra045a22d6327446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964ae9bafa24ca7" /><Relationship Type="http://schemas.openxmlformats.org/officeDocument/2006/relationships/notesSlide" Target="/ppt/notesSlides/notesSlide21.xml" Id="Rd603ecfba04849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575192-8658-49B4-8533-AE321D01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ce540558b4e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868680"/>
            <a:ext cx="3931920" cy="1048512"/>
          </a:xfrm>
          <a:prstGeom xmlns:a="http://schemas.openxmlformats.org/drawingml/2006/main" prst="rect">
            <a:avLst/>
          </a:prstGeom>
        </p:spPr>
      </p:pic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23A1BB89-0AB0-4E24-B4AA-3E23A682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4DD7997-C984-44FF-8E9C-495D6E92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41648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23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025CE2D-1197-4F23-8B27-7570BFD0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657600"/>
            <a:ext cx="169494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5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Refactoring &amp; structure projet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59AD728-98DD-4B91-BDB5-F2AE5CE3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943600"/>
            <a:ext cx="169494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US3.1 · C6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90D871-71F6-49AF-A080-9D6E154F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029190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EAEAEA"/>
                </a:solidFill>
                <a:latin typeface="Arial"/>
                <a:ea typeface="Arial"/>
                <a:cs typeface="Arial"/>
              </a:rPr>
              <a:t>Sprint 3 — Industrialisation &amp; déploiement  ·  Certification CISIA  ·  Formation à distance</a:t>
            </a:r>
          </a:p>
        </p:txBody>
      </p:sp>
    </p:spTree>
    <p:extLst>
      <p:ext uri="{BB962C8B-B14F-4D97-AF65-F5344CB8AC3E}">
        <p14:creationId xmlns:p14="http://schemas.microsoft.com/office/powerpoint/2010/main" val="10784715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B3BA99D-B629-4705-89CB-06AB787D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414AAA28-6090-460B-AE5F-346740F8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54E2DD6-BE7A-427D-A0D3-B34E60A4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Objectifs &amp; déroulé de la séance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A8B6981-F00C-4343-AD16-91E321E1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936050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À l'issue, vous serez capable de :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16E20680-3485-4A9A-BB3A-9E5E9BF7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9748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D3803A7-289A-42D4-8A6C-F830CDB5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700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BC8D2D3-2DB1-494A-9E1F-65ED3098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69748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Transformer un notebook en package src/ importable et testé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7EA4685-6FDF-4970-970D-C78EE5D3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4728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8206B9E-7A07-46BC-9463-66DA9D1F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1985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061AAF7-F384-40A5-8674-6F7560DE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4728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Configurer pyproject.toml (deps, scripts) avec uv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B8E25430-0B06-4B7A-AD0A-6D0048B6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97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4D26B21-3E39-4C1B-AD39-85A204DC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966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C5E098-73AD-4AED-A302-10E285F9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197096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Appliquer ruff/black + type hints ; config via pydantic-settings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639D12BB-EAC6-4463-AF22-99FA747F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4690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A4AA6A5-AB9A-4041-9BD9-E399C4C4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1947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27E310B-6EC1-4867-966F-14D25199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946904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Éviter la fuite de données et normaliser les IDs machines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434872F7-9BE7-424A-AB88-624AFA6D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108" y="1965960"/>
            <a:ext cx="7920431" cy="4663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9493E5D-6798-4C08-BE51-61895FFC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2240280"/>
            <a:ext cx="709747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Déroulé de la séance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05F5D71-CD71-43AD-9A70-DC06C558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9260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8DAB663-4C91-42A4-AF0B-E3ABBD8D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8986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2F1F3B6-FDF5-4E1C-8141-AF700E91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2926080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Théorie   les concepts clés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BF43C29B-E47A-4D2C-8EC4-C997139F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75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B6AA5E6-2B62-44EB-861D-E77FF40C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847058D-1953-49B2-B31A-B4504BA4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3675888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Travaux dirigés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TP guidé, correction au fil de l'eau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4432F21E-0A78-4418-AB95-ED696D07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4256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7CD82B7-708C-41BC-A485-AE1CB026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39826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A93F0A2-16D2-4576-A127-58C9F4EC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4425696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Autonomie tutorée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vous avancez, formateur dispo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3B66674B-4876-494F-B4A4-A4A57138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755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F5E2A53-683A-4A1E-8EDC-02217CF7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480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6B44AB6-F80A-4872-97B5-FC866C67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5175504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Bilan   synthèse + preuves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E512A0A7-FEE6-4A64-895C-AF98B9C9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5989320"/>
            <a:ext cx="7097471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00527B1-317A-48C6-8D2C-BAFABF7C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188" y="6035040"/>
            <a:ext cx="6731711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PREUVE FINALE   </a:t>
            </a:r>
            <a:r>
              <a:rPr sz="1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pytest vert · ruff check . · indusense --help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20792816-BF3F-4EE9-BC13-C12C6FA3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0298A96-CD4D-40FB-AA66-7ECF499C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253671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E1CBB1-CB0C-42DC-8FBF-99DFEC70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9B7ECCA-8EA2-438E-9900-03AC8BBD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4E22A7F-AAED-4008-8790-41A8BA29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Théorie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3F7235-712E-43AE-A370-8D36A19A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23 — les concepts clés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45D33A1-8DB0-483D-B3A3-FB64E9BF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110892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3CA3C4-1272-4609-8FA3-D2C9C63D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B61E69A-1FFB-49CE-B6F7-2F782300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4079E7E-2028-4D5E-B559-3BC2828E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Scénario atelier &amp; enjeux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DDDC48D-51A9-4D27-97EE-BCC2A642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Le notebook de modélisation fait 1 200 lignes et plus personne n'ose y toucher. Demain, un collègue doit réutiliser ton modèle : il doit pouvoir l'installer et l'appeler en deux lignes.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67EF720-FD00-40ED-8136-6F9FFD53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79169EE-73C3-41B3-85CE-AA67979B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01168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AFD21F5-EB79-4747-AA9E-68247E66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063240"/>
            <a:ext cx="173609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Angle éthique / risque (C2)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code illisible rend les décisions de l'IA non auditables. Structurer le projet, c'est aussi rendre la solution traçable et vérifiable.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290078E-84A0-4E15-A3B3-92E82772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0C1FE9D-695C-4B8E-9288-8F076BF9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111294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E859845-D080-48A4-9345-8DD0EA88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3D53DDB-B32D-4A76-AA33-AD2596B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47DD055-35EE-4B61-8A02-55DD5935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Contexte &amp; outils — pourquoi ce module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F1F1F2A-075D-4C19-9570-253570F1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Contexte : un modèle de notebook n'est ni testable ni réutilisable. Pourquoi : on le range en package pour le rendre fiable et partageable.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26EE8733-5051-4142-A8EB-6FFB74F4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025102A-E85F-450F-A46E-374E5C20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package src/ : une responsabilité par dossier (data, features, models)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60A51A25-8886-481D-9C87-75697715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5935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0121561-AC25-4C50-B068-952B2A8A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8386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pyproject.toml : déclare dépendances, Python (3.13) et la commande indusense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4CE57B58-606C-4596-B252-12542A32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270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C33823B-A517-45F7-9C22-08EAA38A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16052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uv + uv.lock : versions EXACTES figées (fini le « ça marche chez moi »)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2F7D50DE-0835-41EE-975A-2270D6A8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782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662DCC5-2128-4DF8-97AC-749C761F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67258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pytest : tests automatiques (dont l'anti-fuite temporelle)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D6B4940A-1EDD-4C76-BEDF-451CAAAE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2943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F3E14CC-97D4-4EC5-84F9-BD0A4BAF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18464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ruff / black : qualité et format du code, automatiquement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2AFDEA9-E196-4464-A094-1EDB4D5B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769864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42BF88F-D42B-49A7-8D81-534CDE82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769864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D83E7BC-D395-4701-8D8F-00B515FA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5861304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2E7E92"/>
                </a:solidFill>
                <a:latin typeface="Manrope"/>
                <a:ea typeface="Manrope"/>
                <a:cs typeface="Manrope"/>
              </a:rPr>
              <a:t>Objectif du module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code importable, testé, reproductible : la fondation de tout le sprint.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F11D65F-58A4-4042-B4ED-51742CF6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5EB6188-25DC-4A93-9D63-BCE8DEC8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93605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6B1D494-B955-4D23-9ED1-31F31124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3E391CC-F579-4D15-B799-E9E36CE0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7AA66BA-59D8-486B-A820-163CA824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Référence amont : à quel horizon prédire la panne ?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9F313E7-54B0-4CCE-BB2C-034EAFD6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Le modèle hérité du Sprint 2 prédit une probabilité de panne. En amont, une équipe data-science a tranché un arbitrage clé — à quel horizon prédire ? — qu'on industrialise sans le refaire (chiffres : référence Marine).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B68DEF73-E18C-4AD2-88AD-29F9199E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44728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4BAAC9E-E09A-4F92-9A5C-31EC8C9E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33756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6 h  →  panne 4,5 %  ·  ROC-AUC 0,84  —  facile, mais anticipe peu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111045BB-DAC9-48AA-ABED-3894EC02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95935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A23F66F-54EA-4E71-99F2-9D6B7909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84962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12 h  →  panne 8,8 %  ·  ROC-AUC 0,80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F8656484-0180-4B8C-AEFC-A9D4FFE1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47141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4586470-7053-45A8-8A6C-901F0AB7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36168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24 h  →  panne 16,6 %  ·  ROC-AUC 0,78  —  HORIZON RETENU (bon compromis)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8B776A9A-9268-4F5D-8E2A-810D344C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98348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9623291-48C2-4C83-90CA-90132F9D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873752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48 h  →  panne 25,2 %  ·  ROC-AUC 0,72  —  anticipe loin, se sépare mal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DA6FCA4-B093-4AAF-A0FC-872DCBA4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458968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905CE3E5-60A7-4442-806E-F02C0F65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66013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646D6BC-C046-48EA-90C5-C5B0BB0C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632704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2EE415-5F63-4557-9B74-1830A7DE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5696712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Arbitrage modèle (24 h)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BE4DBB2-1A0A-47B7-BD8A-411F4CE0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6300216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Baseline vs tuné « frugal » : PR-AUC quasi égale (0,619 ≈ 0,619) → on garde le plus sobre comme candidat v1.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D719BC6-0E67-426B-AD2F-E80AEB4E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5458968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EDA13138-66F9-4E24-A8A5-D5944B4D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66013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E675685-F160-421C-8F93-D9A00DD4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632704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9C10BB4-52FB-49CB-928C-59C033B8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5696712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Garde-fou chiffres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66D8B02-613D-4ABB-BE0B-3251C6CB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6300216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Chiffres de la RÉFÉRENCE Marine (15 machines, dataset HF) — PAS le gold étudiant (4 machines ≈ 10,5 %) ni le flux complet (≈ 4,78 %).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FC903D57-D8B7-4F51-82DB-2F6BDEEA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160510"/>
            <a:ext cx="18000980" cy="1280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55003DC-D450-4F34-AC2E-EFB05D7F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233662"/>
            <a:ext cx="1726946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Plus l'horizon est lointain, plus la panne est fréquente mais plus elle est dure à prédire : 24 h = le compromis retenu.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F6F0EB4-27A9-463E-B98E-322CE97C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C31CD9E-665D-446E-94F1-8926F542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562305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91D885-B74D-4119-A3CC-E0C43B2C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AB56EA2-03B5-4512-BDD7-7D312356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2907893-C0BF-491A-8BF4-E20B4750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Du notebook au package : séparer les responsabilités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EB3860-8021-450F-9B9B-7901BC61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Un projet industriel range son code par responsabilité dans un package src/, pas dans un notebook fourre-tout.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7F82CF7-B6A5-4D6B-96E7-95B8911F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3263696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517BDD2-B743-4480-8DC8-40DAE1C1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7520"/>
            <a:ext cx="30808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notebook.ipynb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414FC20-9873-41C6-8190-545C0864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680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FC8F958-B4E1-4496-BB18-FDBA58B5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880" y="3017520"/>
            <a:ext cx="3263696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EFB6FBC-DC11-4436-B6D9-FFD7BBBE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320" y="3017520"/>
            <a:ext cx="30808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src/indusense/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D4335AD-7319-4977-B7E4-CB06F18D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001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2E0E0F6-7555-4E2A-BF73-21D4A06C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201" y="3017520"/>
            <a:ext cx="3263696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D7CE35C-AD08-4960-8EA7-1AFC059E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1641" y="3017520"/>
            <a:ext cx="30808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data·features·models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020718C-9A30-413D-AF3F-8A7937A9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322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00541BB-B709-4F6C-BAC5-FB843291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522" y="3017520"/>
            <a:ext cx="3263696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1688DD4-21A7-4BF8-9584-B2A60F7E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5962" y="3017520"/>
            <a:ext cx="30808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api · cli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7FDC01C-3511-42AE-A9AF-4D7AB091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643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1BDC862-1F7F-40CA-B951-F4EA4A23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8843" y="3017520"/>
            <a:ext cx="3263696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253CF07-F853-4321-AB68-C9D11EC2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0283" y="3017520"/>
            <a:ext cx="30808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tests · configs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86E41670-91EC-4DC9-A9C7-F55CE03F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FC1B45D0-CF33-4752-B820-88A9D5D5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6738602-190A-4C37-875D-494FE63D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≈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C6922E8-FF1F-4950-9E2C-D140CDA6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L'analogie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E6C8E1E-4547-4B3C-A972-3A7581DE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Passer du notebook au package, c'est ranger un atelier en vrac en boîtes à outils étiquetées : on retrouve, on réutilise, on prête sans tout casser.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CAE12FC4-16DA-42C9-B5C3-C7D794BB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7C0382A2-8AF5-4A15-ACCD-92C8E30C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26E7A20-7AB6-4622-91FC-76E5C26F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72526CE-FA82-47B0-89A1-F033674E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Le jargon décodé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C4D170A-D077-465A-B09C-EC739101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Package = dossier importable. Module = un fichier .py. Refactoring = réorganiser sans changer le comportement.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EE79E6A-ECED-4DF6-9BCE-AB14BEF2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D06A4BFE-F584-480F-8736-1AB4B326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 éclate le notebook en modules à responsabilité unique, importables et testables.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38C6CA2-BE98-4C51-A95A-C2749C3E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7108B72C-FDED-4F79-9040-0D1A3589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573642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6E9EE2B-CA4F-4F47-9676-9603F176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031CFE7-B6BD-4D68-8657-04CC1495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08794A0-20C1-49B2-B62A-C78011E4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pyproject.toml &amp; uv : la carte d'identité du projet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58A629E-0EDC-4DE3-9CA5-358E3A38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pyproject.toml déclare tout ce dont le projet a besoin ; uv l'installe à l'identique pour tout le monde.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C3CE3697-E945-4C08-8EB6-8C891EDD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B76AB8F-7DC9-4A5B-862C-78FDCF6C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Dépendances + version de Python (&gt;=3.13,&lt;3.14) + scripts (commande indusense)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3FD5F276-E1D6-4E94-9AF5-C5EB54CA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7581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B7106D8-BB67-4825-B923-5C0CC6E5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648456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uv lit pyproject + un uv.lock = versions EXACTES figées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C75E4A8-B86E-4796-9127-3F3D5CBE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270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2DEC73-E54F-423D-A6D7-EAA77A06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16052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Ta machine, la CI et la prod installent strictement les mêmes versions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63B5D3D-4FBD-41D9-AD66-EC9434F4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45736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8F030FA-9D02-4C86-8A74-582480A1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946904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8ACFCE5-6695-4186-97C2-A092B55F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9194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ABAC28D-63B7-46AE-97C6-9A2E3683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983480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Le saviez-vous ?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FDDDCBB-D0AE-46FF-BBEF-3D0DA125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586984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 « ça marche chez moi » vient presque toujours de versions différentes. Un lockfile (uv.lock) tue ce bug : il fige jusqu'au patch.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240301B-76A0-46E2-AB90-37882F76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745736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E3530586-BAFF-45F2-9B9D-01711BB5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946904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B7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5C5EF54-3213-473B-BC5E-64B5543C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9194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3D0BCE7-8264-4EFF-883C-D1577C44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983480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5A6B73"/>
                </a:solidFill>
                <a:latin typeface="Manrope"/>
                <a:ea typeface="Manrope"/>
                <a:cs typeface="Manrope"/>
              </a:rPr>
              <a:t>Détail technique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EFA5E03-DAD7-4FEF-A9F1-BB91D521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586984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Python 3.13 est la seule version supportée : pyproject.toml et uv.lock font foi sur chaque poste.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4461A9A-864E-423D-BCC8-5504FA2F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FAC1706-D0E8-4B27-8287-0917482C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Reproductibilité = mêmes versions partout, garanties par pyproject + uv.lock.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C074652-1DF0-4015-AEFF-DA9595C3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9F5BBF6-ECC8-42F7-A0E9-B417C379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742136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2CB972C-3EAF-4077-A46F-3A6F1AEC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EC418F9-603A-46CC-9EDC-F1A1D2A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679E03C-7176-45B8-B85E-160D1132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La fuite de données : l'ennemi n°1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C91E0C9-FE13-4C35-943A-F3E426D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Si l'information du futur entre dans les données d'entraînement, le modèle « triche » et son score ment.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74399A1-81D7-4368-B34E-9FAE9FB3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877189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AEA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0EEFF2F-F4C4-4221-8028-57BB7287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3227832"/>
            <a:ext cx="8186673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1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Split aléatoire = FUITE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E823AA9E-6C67-4E25-AB7E-5605CC0D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0233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33FB1D5-D522-4B4F-8DB5-911B11FF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39319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passé + futur mélangés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B17924F1-3EB7-4A0E-9434-F8049BE8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4805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3E63F7-B3A6-45A9-8443-D36E51E5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43891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score faussement excellent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BE20EE49-8B39-4BF9-AA84-8ABB49E5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9377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823CD5A-85F6-4024-ABCE-9B1A43CA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48463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échec en production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4DE3667-E4F4-448C-84A7-34BCC7A4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0650" y="2971800"/>
            <a:ext cx="877189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AEA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7282D81-C4F4-4608-9DBC-6E217956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3227832"/>
            <a:ext cx="8186673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1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Split temporel par machine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EF9850BA-C512-44B4-BBAD-9200F418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40233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0562ABE-1110-4ED1-8BA1-63B4AD19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002" y="39319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train = passé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2E10BDA9-086F-462B-A1B4-E7C92D02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44805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E2D6EAA-5AB8-4A58-92EF-61DFC9EA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002" y="43891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test = futur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B22D2E46-3D40-42C8-B36F-31A573E7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49377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D63891D-B6FE-47CB-984C-4DDA9D7C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002" y="48463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score honnête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F707AABE-2B46-459F-809F-768BA34E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812280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BD43B273-B541-49CE-AD83-93F6D867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701344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B06D08E-1339-49FD-BED6-356BEDC4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698601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849C812-46D7-49E5-9356-0494C086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705002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7D5455F-F8FD-46D8-A1EC-E312232D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7653528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score TROP beau (AUC 0,99) doit alerter, pas réjouir : c'est souvent une fuite de données.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F7C3857F-86D0-4C66-AAD9-4D83BA6A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6812280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BEACC380-6516-4E30-BB25-10113706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701344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59555B0-1827-4A18-855D-91A0E4B8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698601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21DDD31-01B7-49EE-8FAC-87440996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705002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Cas réel InduSense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14E6DAF-2607-4AFE-91C4-E0B15410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7653528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On trie par (machine, timestamp) puis on coupe au point temporel ; un test vérifie qu'aucune ligne future n'entre dans le train.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54702313-22E9-4F20-BBB1-6A28010F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7058863-CD71-48A3-885D-573FFC3A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Découpage temporel par machine : non négociable en maintenance prédictive.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9A7449D-9545-49E0-AFF8-EA9445C6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8B07548-CDEA-4641-8141-A70FDE93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434676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5ADD49-765A-48CC-AF43-FBE8135B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C126DCC-7A33-4124-8BC8-454DE603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329BCD0-F9C7-4D94-8B7A-7463648C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Normaliser les identifiants : parler une seule langue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4D8B85B-147A-48A1-971C-B7A5D3D7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Les capteurs nomment les machines de plusieurs façons ; on canonicalise vers une seule forme.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B6C7DB5-9709-42CC-8BFB-1C9116F3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51759"/>
            <a:ext cx="571991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64C3C3-C6E0-49D8-A4B1-724E53C0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51759"/>
            <a:ext cx="553703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MACH-01 / M-6 / M_07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C968199-C106-4EB8-9C01-B62DDDB5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894" y="2651759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C1884E6-F7AC-4459-9AFA-EA2DC152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94" y="2651759"/>
            <a:ext cx="571991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8B8DA44-658F-40ED-8C9D-2B682816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534" y="2651759"/>
            <a:ext cx="553703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normalize_machine_id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3DD6C6-B7D3-4652-A92A-ED9C9F6C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5429" y="2651759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A9FB3B0-79BD-42BF-92D9-02FD9E3F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2629" y="2651759"/>
            <a:ext cx="571991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3674807-9686-49B6-AC85-BC61FCE2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4069" y="2651759"/>
            <a:ext cx="553703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MACH-%02d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DC7650F-7314-4DB9-8EEF-D5782177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867911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431B2D5B-22B1-4370-B2FA-FA7D3AFA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FA6ED2-5143-4B8F-97F2-088909B2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318756E-6B04-46C8-8DA3-F21E8FB6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105655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Le saviez-vous ?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A14A2EF-EBD4-4A80-A16F-39D8ADEE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709159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Formats vérifiés : MACH-01, MACH_01, M-06, M-2. Le référentiel complet compte 15 machines ; le nombre total de variantes brutes n'est pas sourcé.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DE300FA-2CED-48FC-9B86-47FDC25B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3867911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7D227D34-CF9A-478F-9F23-E00E9C1B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477E2DB-20A9-4204-AEF1-3EB6C192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1B373F9-A93C-4B16-A4AB-5851BEC0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105655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Astuce de pro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3A8FFE4-A101-4762-A87A-DBB1718B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4709159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Normalise au bord (entrée des données ET de l'API) : le cœur du code ne voit qu'une seule forme.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4F92A4ED-06D9-4D11-B8FE-C11475A3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5AF9C09-F7D1-4CE6-B511-5A5E434F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Nettoyer au plus tôt : une seule forme d'identifiant dans tout le système.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DF9C36B-C99E-46FC-B5A0-9D820363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D1D8DD7-1E11-4D06-8D14-1C07A2E5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306773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B0D3A2-B0AA-4826-A4E8-AFA92ABA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5731831-B286-4559-A905-057D94D8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6C8659F-9F13-45F8-90CF-0D0F75B6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Du notebook au package : une seule source de vérité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0456103-48AF-4F88-ACB3-A26BE9EA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Une cellule de notebook duplique la logique ; le package l'isole dans une fonction testée — une seule source de vérité.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3D1284-D2CE-4AC8-A9C6-3D503993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2108DDC-2DB7-41CA-8FD7-2DF60E96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3118104"/>
            <a:ext cx="17269460" cy="1847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avant - cellule de notebook (fragile, dupliquee)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df["temp_lag1"] = df.groupby("machine_id")["temperature"].shift(1)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apres - package (testee, reutilisable)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indusense.features.temporal import add_temporal_features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df = add_temporal_features(df)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1395F49-E6F7-46F9-95A5-463B4A3C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25780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9C454FDF-585C-4074-9124-980C7911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4589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292AC46-0F78-4CB6-9558-23072CD8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43153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D536D72-C34C-4004-8A29-BB2AD856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549554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Tour du squelette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57242E2-7330-49FA-B5FA-DF5575AD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609904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temporal.py (shift avant rolling) · loaders.py (normalize_machine_id) · tests/ · cli.py (train/predict) · pyproject.toml.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1A13BD3-2C0F-4C28-BD83-2633A96D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525780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A06DBA38-0383-4762-B448-991BA6E5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4589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B89F347-7765-436F-A330-BD9F683C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43153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EBAC4B5-6630-4568-931C-244E0D0B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549554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Chaque chose à sa place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E282B87-A500-4789-82E8-8BF5392E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609904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data/ charge · features/ transforme · models/ entraîne · api/ expose · cli orchestre.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BA3DC88-9357-478D-8610-A041AAF9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66E3F28-83C3-4538-BA99-CCD9C1F8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 code la transformation une seule fois, dans features/, et on l'appelle partout.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F07A856-1796-488E-9620-ED8C4E4B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D107E2E-A3DD-460D-B09B-062974F9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483793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40747EF-DA10-4DEB-87BF-6805CB21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1AEEC4F-545C-4FDB-9DEE-4C89CDC4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B1CF452-54F8-4F67-A0F8-79A8DF54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pyproject.toml : la carte d'identité technique du projet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7D6F7EC-393F-4AF3-BC8A-AD7C0C90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pyproject.toml répond à 4 questions : quoi, avec quel Python et quelles dépendances, comment l'installer, quelles commandes et outils qualité.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3118D01-A86D-4516-82FC-55E3B0D2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ACE2E77-A7E0-43EC-A0CF-BAF0317E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3118104"/>
            <a:ext cx="17269460" cy="2944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[project]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name = "indusense"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requires-python = "&gt;=3.13,&lt;3.14"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dependencies = ["pandas&gt;=2.2", "scikit-learn&gt;=1.5", "..."]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[project.optional-dependencies]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dev = ["pytest", "ruff", "black"]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[project.scripts]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indusense = "indusense.cli:main"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0A10E5B-4305-4299-92DC-1B56A1B6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5508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A17184F-7EFB-4C76-B791-8AE5AF2C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655624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DA73B38-AE34-46FE-9B3B-2F9EB293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652881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C2B345-9401-44F4-8481-744FB11C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659282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Le saviez-vous 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97D9350-EAC6-4C88-BC66-494A20E4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719632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[project.scripts] crée la commande indusense : la taper appelle main() dans cli.py.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A22A719-609D-46F4-8F22-16347978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635508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DBD0E26F-A101-4B3C-8135-BCAFAD22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655624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B7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CCFD3F9-9D0D-4B86-B565-B939660C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652881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7082332-4533-44C2-B494-A46C3BA3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659282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5A6B73"/>
                </a:solidFill>
                <a:latin typeface="Manrope"/>
                <a:ea typeface="Manrope"/>
                <a:cs typeface="Manrope"/>
              </a:rPr>
              <a:t>Détail technique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0D393CC-8D0F-453A-8413-98B512E4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719632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[project.optional-dependencies] dev = les outils d'atelier (tests, qualité), pas nécessaires en prod.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33B4DA0-3BA6-4C69-B6E4-1E471A8F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04C8F62-B155-4B90-9AAC-7CAEBD77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 pyproject propre = n'importe qui installe, teste et exécute le projet de la même façon.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1022B6A-FDF7-4658-B779-FA4A1F4A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8086333-A047-4C8A-B831-A8417A4D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086070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5DAB917-D226-4C31-AC81-82FD7AC4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140603E-F0CB-4E9F-AE0A-28656D4C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ED39798-3390-4348-B700-7CC405C3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Préflight poste (Windows) : c'est 3.13 qui fait foi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7656F3A-2308-4887-8913-F72B9710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Le Python global peut afficher 3.14 — ce n'est pas grave. Seul le venv du projet fait foi.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8765EBB-07A2-4B9B-98D6-3FB6F375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06039"/>
            <a:ext cx="1800098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F62381F-4C25-454D-93BA-AF1D2E19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52344"/>
            <a:ext cx="1726946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500"/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winget install --id astral-sh.uv -e  # si uv absent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500"/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venv --python 3.13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500"/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sync --frozen --extra dev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500"/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run python --version  # doit afficher 3.13.x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A3E8D17-54FB-49AF-A3DD-4D82064B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26279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72049B3-7BE3-4F05-B250-EA332AB4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727447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B7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89D0A30-6F07-49BC-9766-555F607F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700015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BCD8941-970F-49DC-850E-1BB4258C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764023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5A6B73"/>
                </a:solidFill>
                <a:latin typeface="Manrope"/>
                <a:ea typeface="Manrope"/>
                <a:cs typeface="Manrope"/>
              </a:rPr>
              <a:t>python 3.14 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022D658-FF48-4345-B6E0-73420308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367527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Ce qui fait foi, c'est uv run python --version (3.13.x) dans le projet, pas le python global.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2AAE25E-2898-4808-863E-AD54B76A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526279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809EDF1B-D389-4CC7-8FFD-2E15E1BD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727447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20381CC-7C91-4DB6-8687-FB801BAF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700015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27A7074-1458-4DBE-BBA7-8851B0A9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764023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Docker dès J1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1677F8A-6EE7-43D9-BE90-DE12A630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367527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Vérifie docker run hello-world aujourd'hui — sinon 45 min perdues au J3.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9BF3FB5-C6EB-4469-9B27-BD50225A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E4ED981-8014-4AA2-A12C-4DFDA01B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preuve d'environnement, c'est uv run python --version dans le projet : 3.13.x.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D02007B-69C8-4D40-AF8C-5D4E3A3E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67871EF-A517-45A4-AA4B-78691C1B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774488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CD6284E-E8ED-41A2-BC09-FC612601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E3AE4F1-57F5-463C-BC8F-8A92D1FB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0DBDA95-1943-4BFC-A87D-427528B3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 en 3 points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02669FD8-62AF-49AF-9851-86D8473F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8558BE-4D45-4853-808C-0BCB4B9A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package s'installe et s'importe — fini le copier-coller de cellules.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1CBCCEB7-BECA-47DE-9329-C500619F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75E7D91-320B-4F85-9133-9E40D5B3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Les chemins passent par pathlib : le code tourne sur PC et Mac.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C3F34F4-32B8-4195-8C2C-460E7B67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083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67D2EE0-5F4E-440A-9E0B-BC2E0C4F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89864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Les tests figent le comportement AVANT de refactorer.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19142C-F376-4D9E-8649-4929A345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5DA02FD-5D99-41AA-8B0E-2DE0EBDC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4167412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E04DC-2010-40A3-9296-9E64BFA1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FCD5FB0-18E6-4104-BC42-5A5E7326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2552C2-A6E9-47A4-A462-2EFF0A0B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Travaux dirigés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968A0D6-9686-4F75-A316-37BA63BD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23 — TP guidé, correction au fil de l'eau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CC3255-7DC4-4C60-83CB-7EA8467F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949334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E0C530-6B0C-43C3-96E6-9EAB4185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34CCB0B-CF20-4AFD-8E36-644EB09A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E33F54A-1D9F-420E-B810-030BEBBA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refactorer en package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949E9C-80D2-4611-9292-B94FFEFD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Micro-étapes : on complète des trous, on corrige à chaque étape.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A5DF117-CEA6-4D13-8A56-FE29225F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06039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666F91A-7356-4C0C-9302-7A64B5F9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52344"/>
            <a:ext cx="1726946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arborescence cible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src/indusense/{data,features,models}/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tests/   pyproject.toml   .env.example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51F2759-CFFD-444B-B335-C0BEDE14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B490DD4-DEE2-427D-9B22-15FE32AB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306824"/>
            <a:ext cx="1726946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500"/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sync --frozen --extra dev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500"/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run pytest -q        # suite collectée ; 0 échec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500"/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run ruff check .     # propre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E6FEAFE-33B5-4EC3-A0A9-E0786F9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1F0C16D-3D71-443D-B3EE-F0C9F934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7876810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B888AE1-F33C-4D69-9AF0-54135A4A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9F5B421-B8E4-4B25-9C3B-33C15114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D354B8C-F596-4112-8BCE-AF12DC1D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CLI &amp; normalisation des IDs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860CE440-DC49-413C-9546-538AA480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C96841B-12F2-408A-9315-1F959A86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Exposer une CLI : indusense train / indusense predict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476C5AD5-B548-43BD-BC0C-1C9DC302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315A101-41A0-443D-B244-65AB9C23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Activité dédiée : normalize_machine_id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BD80320-1D12-48FF-BE03-8FC5993C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E967278-44E8-4B28-B2D3-831584E1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3118104"/>
            <a:ext cx="172694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MACH-01 / MACH_01 / M-06 / M-2  -&gt;  MACH-%02d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run indusense --help     # la CLI répond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46C42BA-12B2-4BB6-B053-8C06DE99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136FDE6-C65D-4919-9B76-390E6BC8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E1C3BB0-26E2-47FC-8814-BEAC090B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4251959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✅ Preuve attendue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pytest vert · ruff propre · indusense --help affiche train/predict.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F11D0FD-9536-4EB2-9690-2F104189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91D02EA-C4A0-4621-AAA6-795AA51C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4709970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4F827AF-5BB7-4144-9F84-E5EE0B4E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78A585C-3142-4CA7-9C6E-61ACA426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C70D1D6-9BA3-482F-B925-05DF46E6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extraire une fonction propre (code nouveau)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8347F55-B3EA-43AB-9D9F-A8911E14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On crée une fonction testée, au bon endroit : cleaning.py impute les manques par machine, et son test le prouve.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267D6D0-7731-4D22-AB60-106E33DE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4ECCC3B-7CE1-4CEC-AFA9-352E0D0F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3118104"/>
            <a:ext cx="17269460" cy="2578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src/indusense/features/cleaning.py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clean_sensor_data(df, cols=("temperature", "pressure_bar")):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df = df.drop_duplicates().copy()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for c in cols: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df[c] = df.groupby("machine")[c].transform(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    lambda s: s.fillna(s.median()))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return df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7E21EEE-7B04-4311-A7CB-AD350CA5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989320"/>
            <a:ext cx="1800098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8D6151-FED7-490E-9FB6-1CBD5BF0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6135624"/>
            <a:ext cx="172694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run pytest tests/test_cleaning.py -q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run ruff check 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A9139C1-CDA8-4976-89E2-86F64428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178040"/>
            <a:ext cx="180009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F460523-CA27-4490-A795-C881F526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178040"/>
            <a:ext cx="20116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A78E55-BAC6-4F16-B309-21FEF3E5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7269480"/>
            <a:ext cx="1736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Preuve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imputation par machine validée par le test ; ruff propre.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C7D5497-05AF-4478-BF77-74624ECD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B95C7CF-CED7-428C-B2AC-FFDC342F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3794054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D328F2-A382-49E1-BD5C-E26EBEAD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810D60A-209C-4759-9B6A-BE369E7B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21033E1-E827-4AC6-A0BA-3F95D2A2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Autonomie tutorée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49B83D-138B-4E15-AA0E-7303BFE1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23 — vous avancez, le formateur reste disponible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5FC4DCA-7B37-46B0-A1E6-94AB0FAE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4672595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2760EC-9BCA-4F36-BE00-FA86CADA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B81E913-D3B4-4046-A542-7A0E1E84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CD46D79-910A-4407-9199-5C2AB8FC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Autonomie tutorée — durcir le package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D41D0BB-3974-4743-8F4A-3FF5F3FF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Avancez à votre rythme. Le formateur reste disponible.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B638FBD8-C2A3-4229-A81A-EE1B0E2D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F53D533-0BE7-4CAE-8E6A-7A1D1F23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Ajouter un test unitaire sur une fonction de feature engineering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69C6009-376C-4F8B-BDD6-D4565DD5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45C791E-EA43-44BC-B0E0-E41FFA41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OU configurer pre-commit (ruff + black) en local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37FE410-1962-4F72-85E8-584D6CE3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73989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7E3CCCA-E53A-484E-AE58-05A1DE8A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63016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Vérifier : le commit déclenche-t-il bien le hook ?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D2EE524-87AC-44D0-84B2-8BAB7249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15383"/>
            <a:ext cx="18000980" cy="14630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56CFFDFB-752D-4A05-8C97-2539CD41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16551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5763F94-25BB-4FCE-A4D7-2EB23DE5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389119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B54AC4A-079C-40B1-8EAD-9F9A31DF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453127"/>
            <a:ext cx="1690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Posture en distanciel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E9CC6AE-C81C-43EC-A3AD-6D7EF3A4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056631"/>
            <a:ext cx="17269460" cy="502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Si vous bloquez, Appelez le formateur en visio ou par chat ; on débriefe les trouvailles en groupe à la fin de la séquence.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EEC2AC4-A6F6-42CB-93E8-0D80D98E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0E644AC-2924-46EC-A710-760D5D4C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8493674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F42FD28-ADB4-4BA1-8362-DC8C252A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617F751-F320-4ED5-B456-74DA3621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71B3CB2-F878-4592-A114-C2EB7CD6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Definition of Done &amp; transition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B0B7DA1D-44F3-44FF-8AD8-E908A883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3B93617-3EE2-46A6-BE5B-CBA75008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DoD : package importable, pytest vert, ruff propre, CLI ok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8BE24D4F-E686-445D-9131-B720CBA7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9B99C0E-96FE-41A1-839C-5DE51E6E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Livrable : src/indusense/ + model_metadata.json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DEF47F6-835B-441E-A255-1BF0086F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DE6025A-FA9F-447B-AAF3-D87998F1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E22C68B-BF21-4103-BB55-CAE78CF7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06324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Transition → Module 24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On automatise tout ça en CI (GitHub Actions) + versioning data/modèle.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DCC1385-BD01-42E2-A12B-29399816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F70926E-47A6-4564-B551-68A88D28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2360739"/>
      </p:ext>
    </p:extLst>
  </p:cSld>
</p:sld>
</file>

<file path=ppt/theme/theme1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2026-08-24T07:12:59.5570000Z</dcterms:created>
  <dcterms:modified xsi:type="dcterms:W3CDTF">2026-08-24T07:12:59.5570000Z</dcterms:modified>
</coreProperties>
</file>