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8" r:id="rId19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1463040" cy="508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Calibri"/>
              </a:rPr>
              <a:t>Git, DVC, MLflow, Patch note &amp; Model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9CED6"/>
                </a:solidFill>
                <a:latin typeface="Calibri"/>
              </a:rPr>
              <a:t>Le processus global qui mène au modèle InduSense — CISIA_24082026_Parcours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A636E"/>
                </a:solidFill>
                <a:latin typeface="Calibri"/>
              </a:rPr>
              <a:t>Support pédagogique — vue d'ensemble MLOps (M23–M25)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Pourquoi cinq outils, et pas un seul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Chaque outil verrouille un objet différent : le code, les gros fichiers, les expériences, les décisions, la preuve documentée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Aucun ne remplace les autres : ils s'empilent dans une même chaîne de bout en bout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Objectif commun : passer d'un notebook exploratoire à un modèle tracé, reproductible et justifiable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C'est cette chaîne complète qui permet de répondre « comment est-on arrivé à ce modèle ? »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Vue d'ensemble aujourd'hui : Git, DVC, MLflow, patch note et Model Card, dans l'ordre où ils interviennent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Processus global — concept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Qui versionne quoi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865120" cy="548640"/>
          </a:xfrm>
          <a:prstGeom prst="round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9760" y="1572768"/>
            <a:ext cx="7650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B1F24"/>
                </a:solidFill>
                <a:latin typeface="Calibri"/>
              </a:rPr>
              <a:t>Code, données de configuration et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2865120" cy="548640"/>
          </a:xfrm>
          <a:prstGeom prst="round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DVC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9760" y="2350008"/>
            <a:ext cx="7650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B1F24"/>
                </a:solidFill>
                <a:latin typeface="Calibri"/>
              </a:rPr>
              <a:t>Jeux de données et fichiers modèles (gros fichiers, hors git)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2865120" cy="548640"/>
          </a:xfrm>
          <a:prstGeom prst="round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MLflow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9760" y="3127248"/>
            <a:ext cx="7650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B1F24"/>
                </a:solidFill>
                <a:latin typeface="Calibri"/>
              </a:rPr>
              <a:t>Versionning des runs et historisation des entraînements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2865120" cy="548640"/>
          </a:xfrm>
          <a:prstGeom prst="round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Patch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9760" y="3904488"/>
            <a:ext cx="7650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B1F24"/>
                </a:solidFill>
                <a:latin typeface="Calibri"/>
              </a:rPr>
              <a:t>Décisions prises et améliorations à chaque changement de release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2865120" cy="548640"/>
          </a:xfrm>
          <a:prstGeom prst="round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Model 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9760" y="4681728"/>
            <a:ext cx="7650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B1F24"/>
                </a:solidFill>
                <a:latin typeface="Calibri"/>
              </a:rPr>
              <a:t>Carte d'identité documentée du modèle livré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Processus global — vue d'ensemble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Le socle : code, config et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Verrouille le code source, les fichiers de configuration et les tests — jamais les gros fichiers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Chaque commit est un instantané daté, attribuable et réversible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Sert de fondation à tout le reste : DVC référence ses pointeurs dans git, MLflow s'appuie sur un commit précis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Exemple concret : commit 2c855c0 « data+model 637be8d38250 | PR-AUC 0.1036 » sur la branche guillaume-saidani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Détail complet du fonctionnement de Git : support dédié Git_structure_et_contexte_CISIA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Processus global — Git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DVC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Les gros fichiers, hors de git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Prend en charge ce que git gère mal : jeux de données (gold_dataset.csv) et fichiers modèles (rf.joblib)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Git ne garde qu'un pointeur texte (.dvc) ; le contenu réel part vers un remote dédié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RQ — à ne pas mutualiser entre clients, en raison du RGPD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Chaque client garde son propre remote de données : aucune donnée ne doit se mélanger entre projets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Détail complet dans le support dédié DVC_versioning_donnees_CISIA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Processus global — DVC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MLFLOW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La mémoire des expérimentations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Historise chaque run d'entraînement : paramètres, métriques, artefacts, empreinte des données utilisées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Versionne aussi le modèle lui-même via son registre (model registry)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RQ — un tracking MLflow par client est une bonne pratique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Isole les expériences et évite de comparer des runs qui n'ont rien à voir entre eux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Détail complet dans le support dédié MLflow_tracking_modeles_CISIA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Processus global — MLflow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PATCH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Capitaliser sur chaque release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5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 i="0">
                <a:solidFill>
                  <a:srgbClr val="1B1F24"/>
                </a:solidFill>
                <a:latin typeface="Calibri"/>
              </a:rPr>
              <a:t>▸ Accompagne chaque changement de release publiée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1B1F24"/>
                </a:solidFill>
                <a:latin typeface="Calibri"/>
              </a:rPr>
              <a:t>▸ 1. Capitalisation des décisions prises : pourquoi ce choix, quelles alternatives ont été écartées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1B1F24"/>
                </a:solidFill>
                <a:latin typeface="Calibri"/>
              </a:rPr>
              <a:t>▸ 2. Améliorations : ce que la nouvelle version apporte concrètement par rapport à la précédente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1B1F24"/>
                </a:solidFill>
                <a:latin typeface="Calibri"/>
              </a:rPr>
              <a:t>▸ RQ — toujours adossée à un business case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–  Une release ne se justifie pas seulement techniquement : elle doit porter une valeur métier identifiable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1B1F24"/>
                </a:solidFill>
                <a:latin typeface="Calibri"/>
              </a:rPr>
              <a:t>▸ Dans ce dépôt, aucun artefact de ce type n'existe encore (pas de CHANGELOG, aucune PR ouverte sur origin)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–  Vecteur naturel : la description de la pull request vers main, au moment où le jalon est proposé pour fusion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1B1F24"/>
                </a:solidFill>
                <a:latin typeface="Calibri"/>
              </a:rPr>
              <a:t>▸ Décision finale non plus : ni PR approuvée, ni classification conformité tranchée (model_card.md — « à confirmer »)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1B1F24"/>
                </a:solidFill>
                <a:latin typeface="Calibri"/>
              </a:rPr>
              <a:t>▸ Documente la même version que la Model Card (ex. package_version 0.1.0) : le patch note explique la décision, la Model Card en porte la preuve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Processus global — patch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MODEL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La carte d'identité du modèle livré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Document unique pour trois lecteurs : métier, technique, conformité — évite les lectures divergentes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Agrège les preuves produites en amont : empreinte des données (DVC), run_id et métriques (MLflow)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Exemple : preuve=data/gold/gold_dataset.csv.dvc (md5 637be8d38250) et run_id MLflow d015dbc5...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Jamais de valeur inventée : un champ sans preuve reste marqué « à produire »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Se réfère à la même version que le patch note : si une métrique évolue à la prochaine release, le patch note capitalise la décision, la Model Card absorbe la nouvelle preuve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Détail complet dans le support dédié ModelCard_carte_identite_modele_CISIA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Processus global — Model Card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Le fil qui relie les cinq outils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700000"/>
            <a:ext cx="1550000" cy="1150000"/>
          </a:xfrm>
          <a:prstGeom prst="round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GIT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code &amp; 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50480" y="2700000"/>
            <a:ext cx="1550000" cy="1150000"/>
          </a:xfrm>
          <a:prstGeom prst="roundRect">
            <a:avLst/>
          </a:prstGeom>
          <a:solidFill>
            <a:srgbClr val="2E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DVC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données &amp; modèle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9440" y="2700000"/>
            <a:ext cx="1550000" cy="1150000"/>
          </a:xfrm>
          <a:prstGeom prst="round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ENTRAÎNEMENT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8400" y="2700000"/>
            <a:ext cx="1550000" cy="1150000"/>
          </a:xfrm>
          <a:prstGeom prst="roundRect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MLFLOW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tracking &amp; registre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7360" y="2700000"/>
            <a:ext cx="1550000" cy="1150000"/>
          </a:xfrm>
          <a:prstGeom prst="round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MODEL CARD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preuve documentée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6320" y="2700000"/>
            <a:ext cx="1550000" cy="1150000"/>
          </a:xfrm>
          <a:prstGeom prst="round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PATCH NOTE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release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1520" y="3275000"/>
            <a:ext cx="268960" cy="0"/>
          </a:xfrm>
          <a:prstGeom prst="line">
            <a:avLst/>
          </a:prstGeom>
          <a:ln w="2540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00480" y="3275000"/>
            <a:ext cx="268960" cy="0"/>
          </a:xfrm>
          <a:prstGeom prst="line">
            <a:avLst/>
          </a:prstGeom>
          <a:ln w="2540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19440" y="3275000"/>
            <a:ext cx="268960" cy="0"/>
          </a:xfrm>
          <a:prstGeom prst="line">
            <a:avLst/>
          </a:prstGeom>
          <a:ln w="2540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38400" y="3275000"/>
            <a:ext cx="268960" cy="0"/>
          </a:xfrm>
          <a:prstGeom prst="line">
            <a:avLst/>
          </a:prstGeom>
          <a:ln w="2540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57360" y="3275000"/>
            <a:ext cx="268960" cy="0"/>
          </a:xfrm>
          <a:prstGeom prst="line">
            <a:avLst/>
          </a:prstGeom>
          <a:ln w="2540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82360" y="2380000"/>
            <a:ext cx="1818960" cy="0"/>
          </a:xfrm>
          <a:prstGeom prst="line">
            <a:avLst/>
          </a:prstGeom>
          <a:ln w="19050">
            <a:solidFill>
              <a:srgbClr val="E85D2B"/>
            </a:solidFill>
            <a:prstDash val="dash"/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07360" y="2120000"/>
            <a:ext cx="37689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5D2B"/>
                </a:solidFill>
                <a:latin typeface="Calibri"/>
              </a:rPr>
              <a:t>même version documentée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00000"/>
            <a:ext cx="1069848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636E"/>
                </a:solidFill>
                <a:latin typeface="Calibri"/>
              </a:rPr>
              <a:t>Un commit git déclenche un entraînement ; DVC et MLflow produisent les preuves (données, métriques, run_id) ; la Model Card les documente ; le patch note et la Model Card se réfèrent à la même version de release.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Processus global —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CAS CONCRET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Ce que montre le dépôt aujourd'hui (25/08/2026)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Git : commit 2c855c0 — « data+model 637be8d38250 | PR-AUC 0.1036 », branche guillaume-saidani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DVC : gold_dataset.csv.dvc (md5 637be8d38250) et rf.joblib.dvc suivis hors git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MLflow : run_id d015dbc540a441ea8f9a8a940b359b95, PR-AUC 0.1036, ROC-AUC 0.2475, seuil 0.975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Model Card : niveau technique rempli avec preuves ; niveaux métier et conformité encore « à produire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00000"/>
            <a:ext cx="10698480" cy="1650000"/>
          </a:xfrm>
          <a:prstGeom prst="round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/>
            <a:r>
              <a:rPr sz="1300" b="0" i="0">
                <a:solidFill>
                  <a:srgbClr val="8FE38F"/>
                </a:solidFill>
                <a:latin typeface="Consolas"/>
              </a:rPr>
              <a:t>$ cat artifacts/models/model_metadata.json</a:t>
            </a:r>
          </a:p>
          <a:p>
            <a:pPr algn="l"/>
            <a:r>
              <a:rPr sz="1300" b="0" i="0">
                <a:solidFill>
                  <a:srgbClr val="8FE38F"/>
                </a:solidFill>
                <a:latin typeface="Consolas"/>
              </a:rPr>
              <a:t>  pr_auc=0.1036  roc_auc=0.2475  threshold=0.975  gold_md5=637be8d38250</a:t>
            </a:r>
          </a:p>
          <a:p>
            <a:pPr algn="l"/>
            <a:r>
              <a:rPr sz="1300" b="0" i="0">
                <a:solidFill>
                  <a:srgbClr val="8FE38F"/>
                </a:solidFill>
                <a:latin typeface="Consolas"/>
              </a:rPr>
              <a:t>$ grep run_id docs/model_card.md</a:t>
            </a:r>
          </a:p>
          <a:p>
            <a:pPr algn="l"/>
            <a:r>
              <a:rPr sz="1300" b="0" i="0">
                <a:solidFill>
                  <a:srgbClr val="8FE38F"/>
                </a:solidFill>
                <a:latin typeface="Consolas"/>
              </a:rPr>
              <a:t>  MLflow run_id : d015dbc540a441ea8f9a8a940b359b95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Processus global — cas concret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GOUVERNANCE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Qui décide, et où est-ce tracé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B1F24"/>
                </a:solidFill>
                <a:latin typeface="Calibri"/>
              </a:rPr>
              <a:t>▸ Aucune décision finale n'est tracée dans ce dépôt aujourd'hui : ni PR approuvée (branche guillaume-saidani sans upstream, jamais poussée), ni ADR, ni sign-off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B1F24"/>
                </a:solidFill>
                <a:latin typeface="Calibri"/>
              </a:rPr>
              <a:t>▸ Le seul champ prévu pour porter une décision — Classification réglementaire dans la Model Card — reste [à confirmer], faute de document qui la tranche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B1F24"/>
                </a:solidFill>
                <a:latin typeface="Calibri"/>
              </a:rPr>
              <a:t>▸ Bonne pratique : un ADR (docs/adr/) par décision structurante — contexte, décision, décideur, date, alternatives écartées ; jamais réécrit, seulement supersédé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B1F24"/>
                </a:solidFill>
                <a:latin typeface="Calibri"/>
              </a:rPr>
              <a:t>▸ La PR vers main devient le geste institutionnel réel si la revue est obligatoire (branch protection, CODEOWNERS) et référence l'ADR concerné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B1F24"/>
                </a:solidFill>
                <a:latin typeface="Calibri"/>
              </a:rPr>
              <a:t>–  Patch note = raisonnement technique d'une release ; ADR = décision de gouvernance ; Model Card = preuve mesurée — trois rôles, jamais confondus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Processus global — gouvernance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BONNES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À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Git ne stocke jamais un gros fichier directement — toujours via un pointeur DVC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Un remote DVC ne se mutualise pas entre clients : c'est une exigence RGPD, pas une option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Un tracking MLflow par client évite de comparer des runs incomparables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Un patch note sans business case documenté n'est pas une raison suffisante de release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Une Model Card ne contient jamais de valeur inventée : un champ sans preuve reste « à produire »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Patch note et Model Card documentent toujours la même version : l'un explique la décision, l'autre en porte la preuve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Ces cinq outils s'enchaînent dans un seul sens : code → données/modèle → run → traces → documentation →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Processus global — bonnes pratiques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En résumé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▸ Git verrouille le code, DVC les gros fichiers, MLflow les expériences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▸ Le patch note capitalise chaque release sur un business case réel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▸ La Model Card documente le résultat final pour trois lecteurs, sans jamais inventer une preuve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▸ Patch note et Model Card se réfèrent à la même version : l'un porte la décision, l'autre la preuve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▸ Une décision de gouvernance (ex. classification réglementaire) se trace par un ADR ou une PR approuvée — jamais improvisée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▸ Ensemble, ces outils transforment un entraînement isolé en un modèle tracé, reproductible et justifiable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