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8"/>
    <p:sldId id="269" r:id="rId19"/>
    <p:sldId id="271" r:id="rId21"/>
    <p:sldId id="270" r:id="rId20"/>
    <p:sldId id="272" r:id="rId22"/>
    <p:sldId id="266" r:id="rId16"/>
    <p:sldId id="267" r:id="rId17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Git : structure, branches et contexte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9CED6"/>
                </a:solidFill>
                <a:latin typeface="Calibri"/>
              </a:rPr>
              <a:t>Repo, dépôt local, branches et jalons pédagogiques — CISIA_24082026_Parcours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A636E"/>
                </a:solidFill>
                <a:latin typeface="Calibri"/>
              </a:rPr>
              <a:t>Support pédagogique — module CI/versioning (M24)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Qu'est-ce que Git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1B1F24"/>
                </a:solidFill>
                <a:latin typeface="Calibri"/>
              </a:rPr>
              <a:t>▸ Système de gestion de versions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distribué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(VCS)</a:t>
            </a:r>
          </a:p>
          <a:p>
            <a:pPr lvl="1">
              <a:spcAft>
                <a:spcPts val="1000"/>
              </a:spcAft>
            </a:pPr>
            <a:r>
              <a:rPr sz="1600" b="0" i="0" dirty="0">
                <a:solidFill>
                  <a:srgbClr val="1B1F24"/>
                </a:solidFill>
                <a:latin typeface="Calibri"/>
              </a:rPr>
              <a:t>– 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Chaque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copie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du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dépôt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contient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tout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l'historique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: pas de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serveur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central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obligatoire</a:t>
            </a:r>
            <a:endParaRPr sz="1600" b="0" i="0" dirty="0">
              <a:solidFill>
                <a:srgbClr val="1B1F24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1B1F24"/>
                </a:solidFill>
                <a:latin typeface="Calibri"/>
              </a:rPr>
              <a:t>▸ Git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prend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des «photos» (commits) de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l'état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du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projet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à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chaque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validation</a:t>
            </a:r>
          </a:p>
          <a:p>
            <a:pPr lvl="1">
              <a:spcAft>
                <a:spcPts val="1000"/>
              </a:spcAft>
            </a:pPr>
            <a:r>
              <a:rPr sz="1600" b="0" i="0" dirty="0">
                <a:solidFill>
                  <a:srgbClr val="1B1F24"/>
                </a:solidFill>
                <a:latin typeface="Calibri"/>
              </a:rPr>
              <a:t>–  Un commit = un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instantané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+ un message + un auteur + un hash unique</a:t>
            </a:r>
          </a:p>
          <a:p>
            <a:pPr>
              <a:spcAft>
                <a:spcPts val="1000"/>
              </a:spcAft>
            </a:pPr>
            <a:r>
              <a:rPr sz="1800" b="1" i="0" dirty="0">
                <a:solidFill>
                  <a:srgbClr val="1B1F24"/>
                </a:solidFill>
                <a:latin typeface="Calibri"/>
              </a:rPr>
              <a:t>▸ Objectif : tracer les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évolutions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,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permettre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le travail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parallèle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et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revenir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en</a:t>
            </a:r>
            <a:r>
              <a:rPr sz="1800" b="1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B1F24"/>
                </a:solidFill>
                <a:latin typeface="Calibri"/>
              </a:rPr>
              <a:t>arrière</a:t>
            </a:r>
            <a:endParaRPr sz="1800" b="1" i="0" dirty="0">
              <a:solidFill>
                <a:srgbClr val="1B1F24"/>
              </a:solidFill>
              <a:latin typeface="Calibri"/>
            </a:endParaRPr>
          </a:p>
          <a:p>
            <a:pPr lvl="1">
              <a:spcAft>
                <a:spcPts val="1000"/>
              </a:spcAft>
            </a:pPr>
            <a:r>
              <a:rPr sz="1600" b="0" i="0" dirty="0">
                <a:solidFill>
                  <a:srgbClr val="1B1F24"/>
                </a:solidFill>
                <a:latin typeface="Calibri"/>
              </a:rPr>
              <a:t>– 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Utilisé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ici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pour </a:t>
            </a:r>
            <a:r>
              <a:rPr sz="1600" b="0" i="0" dirty="0" err="1">
                <a:solidFill>
                  <a:srgbClr val="1B1F24"/>
                </a:solidFill>
                <a:latin typeface="Calibri"/>
              </a:rPr>
              <a:t>versionner</a:t>
            </a:r>
            <a:r>
              <a:rPr sz="1600" b="0" i="0" dirty="0">
                <a:solidFill>
                  <a:srgbClr val="1B1F24"/>
                </a:solidFill>
                <a:latin typeface="Calibri"/>
              </a:rPr>
              <a:t> le code, les données de config, les tests et la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VOCABULAIRE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Les briques de 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Repository (repo)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57276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Le projet suivi par Git : historique + fichiers + métadonnées (.git/)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Remote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5000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Une copie du repo hébergée ailleurs (ex. GitHub) — nommée par défaut «origin»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12724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La copie du repo sur votre machine, avec votre working tree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904487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Un instantané validé de l'état du projet, identifié par un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Branch (branche)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681727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Une ligne de développement indépendante pointant vers un commit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2377440" cy="548640"/>
          </a:xfrm>
          <a:prstGeom prst="round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45896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B1F24"/>
                </a:solidFill>
                <a:latin typeface="Calibri"/>
              </a:rPr>
              <a:t>Fusion de l'historique de deux branches en une seule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vocabulaire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Dépôt local vs dépôt distant (origin)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953491"/>
            <a:ext cx="3291840" cy="914400"/>
          </a:xfrm>
          <a:prstGeom prst="roundRect">
            <a:avLst/>
          </a:prstGeom>
          <a:solidFill>
            <a:srgbClr val="2E6BE0"/>
          </a:solidFill>
          <a:ln w="12700">
            <a:solidFill>
              <a:srgbClr val="2E6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GitHub
origin
(thomasfesq/CISIA_24082026_Parcours)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404851"/>
            <a:ext cx="2743200" cy="73152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296391"/>
            <a:ext cx="2743200" cy="731520"/>
          </a:xfrm>
          <a:prstGeom prst="roundRect">
            <a:avLst/>
          </a:prstGeom>
          <a:solidFill>
            <a:srgbClr val="5A636E"/>
          </a:solidFill>
          <a:ln w="12700">
            <a:solidFill>
              <a:srgbClr val="5A63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jalon/01 … jalon/12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587731"/>
            <a:ext cx="2743200" cy="914400"/>
          </a:xfrm>
          <a:prstGeom prst="roundRect">
            <a:avLst/>
          </a:prstGeom>
          <a:solidFill>
            <a:srgbClr val="E85D2B"/>
          </a:solidFill>
          <a:ln w="12700">
            <a:solidFill>
              <a:srgbClr val="E85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Dépôt local
(votre machine)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867891"/>
            <a:ext cx="2743200" cy="73152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guillaume-saidani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3782291"/>
            <a:ext cx="2743200" cy="73152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main (locale)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696691"/>
            <a:ext cx="2743200" cy="731520"/>
          </a:xfrm>
          <a:prstGeom prst="roundRect">
            <a:avLst/>
          </a:prstGeom>
          <a:solidFill>
            <a:srgbClr val="1B1F24"/>
          </a:solidFill>
          <a:ln w="12700">
            <a:solidFill>
              <a:srgbClr val="1B1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sauvegarde/*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410691"/>
            <a:ext cx="914400" cy="0"/>
          </a:xfrm>
          <a:prstGeom prst="bentConnector3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  <a:stCxn id="7" idx="3"/>
          </p:cNvCxnSpPr>
          <p:nvPr/>
        </p:nvCxnSpPr>
        <p:spPr>
          <a:xfrm flipV="1">
            <a:off x="7863840" y="2410691"/>
            <a:ext cx="822960" cy="251460"/>
          </a:xfrm>
          <a:prstGeom prst="bentConnector3">
            <a:avLst/>
          </a:prstGeom>
          <a:ln w="25400">
            <a:solidFill>
              <a:srgbClr val="5A63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336771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A636E"/>
                </a:solidFill>
                <a:latin typeface="Calibri"/>
              </a:rPr>
              <a:t>git clone / git fetch / git pull : rapatrient les commits de origin vers le local.
git push : envoie les commits locaux vers origin.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Pourquoi autant de branches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main : ligne de référence stable du parcours pédagogique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jalon/01 → jalon/12 (sur origin) : chaque jalon capture un état d'avancement du cours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Elles servent de «points de sauvegarde» pédagogiques : socle, CI, API, Docker, etc.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guillaume-saidani : branche de travail personnelle, où les jalons sont fusionnés au fil de l'avancement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sauvegarde/guillaume-saidani/&lt;date&gt; : snapshots de sécurité créés localement avant une manipulation risquée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Convention : nom + horodatage (ex. 20260824-144847) pour pouvoir revenir en arrière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branches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État actuel du dépôt (24/08/2026)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Branche courante : guillaume-saidani — working tree propre (rien à commit)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Dernier commit : 2c855c0 — versioning M24 (DVC + MLflow + strategie)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6 commits au total sur cette branche, jamais poussés sur origin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Remote origin : github.com/thomasfesq/CISIA_24082026_Parcours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Deux sauvegardes locales existent (avant jalon 01 et avant jalon 02)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10698480" cy="1737360"/>
          </a:xfrm>
          <a:prstGeom prst="roundRect">
            <a:avLst>
              <a:gd name="adj" fmla="val 4000"/>
            </a:avLst>
          </a:prstGeom>
          <a:solidFill>
            <a:srgbClr val="1B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228600" bIns="137160" rtlCol="0" anchor="ctr"/>
          <a:lstStyle/>
          <a:p>
            <a:pPr algn="ctr"/>
            <a:r>
              <a:rPr sz="1300" b="0" i="0">
                <a:solidFill>
                  <a:srgbClr val="8FE38F"/>
                </a:solidFill>
                <a:latin typeface="Consolas"/>
              </a:rPr>
              <a:t>$ git branch -vv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* guillaume-saidani  2c855c0  data+model 637be8d38250...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  main               1e5b406  [origin/main]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  sauvegarde/guillaume-saidani/20260824-111725  a2b87ac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  sauvegarde/guillaume-saidani/20260824-144847  58f0ff3</a:t>
            </a:r>
          </a:p>
          <a:p>
            <a:r>
              <a:rPr sz="1300" b="0" i="0">
                <a:solidFill>
                  <a:srgbClr val="8FE38F"/>
                </a:solidFill>
                <a:latin typeface="Consolas"/>
              </a:rPr>
              <a:t>  remotes/origin/{main, jalon/01..jalon/12}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contexte du projet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PÉDAGOGIE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 fichier JALON_ACTUEL.md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FORMATION/JALON_ACTUEL.md documente l'état pédagogique attendu à un instant du parcours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Jalon actuel : 02-j1-après-midi-M24 — socle M23 + activité M24 (CI / versioning)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Présents : données, modèle RF, metadata, package minimal, tests</a:t>
            </a:r>
          </a:p>
          <a:p>
            <a:pPr lvl="1">
              <a:spcAft>
                <a:spcPts val="1000"/>
              </a:spcAft>
            </a:pPr>
            <a:r>
              <a:rPr sz="1600" b="0" i="0">
                <a:solidFill>
                  <a:srgbClr val="1B1F24"/>
                </a:solidFill>
                <a:latin typeface="Calibri"/>
              </a:rPr>
              <a:t>–  Absents à ce stade : API, image Docker, orchestration Prefect, mesure de drift, Game Day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Le jalon n'est pas un simple «snapshot fin de sprint» : il amorce volontairement certains éléments pour garantir un point de départ commun à tous les groupes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Preuve attendue documentée dans le fichier : uv sync, pytest, ruff check, indusense --help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jalons du parcours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Le flux appliqué dans ce parcours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1. Le formateur pousse un nouveau jalon sur origin (ex. jalon/02)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2. L'apprenant récupère la branche : git fetch origin jalon/02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3. Avant toute manipulation risquée, une branche de sauvegarde locale est créée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4. Le jalon est fusionné dans la branche de travail personnelle : git merge jalon/02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5. Les tests et vérifications du jalon sont exécutés (pytest, ruff, CLI)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B1F24"/>
                </a:solidFill>
                <a:latin typeface="Calibri"/>
              </a:rPr>
              <a:t>▸ 6. Le travail continue sur la branche personnelle jusqu'au jalon suivant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workflow du parcours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MÉCANIQUE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Fetch puis merge : deux temps, pas 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B1F24"/>
                </a:solidFill>
                <a:latin typeface="Calibri"/>
              </a:rPr>
              <a:t>▸ fetch télécharge les commits d'une branche distante (ex. jalon/02) sans toucher au répertoire de travail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–  Git les range sous une référence temporaire, FETCH_HEAD — aucun fichier local n'est encore modifié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merge intègre ensuite ce qui a été récupéré dans la branche courante (guillaume-saidani)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–  Comme les historiques ont divergé, Git crée un commit de fusion qui combine les deux lignes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git pull est un raccourci qui enchaîne les deux en une commande — le script de jalon fait l'équivalent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00000"/>
            <a:ext cx="10698480" cy="1650000"/>
          </a:xfrm>
          <a:prstGeom prst="roundRect">
            <a:avLst>
              <a:gd name="adj" fmla="val 4500"/>
            </a:avLst>
          </a:prstGeom>
          <a:solidFill>
            <a:srgbClr val="1B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/>
            <a:r>
              <a:rPr sz="1300" b="0">
                <a:solidFill>
                  <a:srgbClr val="8FE38F"/>
                </a:solidFill>
                <a:latin typeface="Consolas"/>
              </a:rPr>
              <a:t>From https://github.com/thomasfesq/CISIA_24082026_Parcours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 * branch            jalon/02   -&gt; FETCH_HEAD     &lt;- fetch</a:t>
            </a:r>
          </a:p>
          <a:p>
            <a:r>
              <a:rPr sz="1300" b="0">
                <a:solidFill>
                  <a:srgbClr val="8FE38F"/>
                </a:solidFill>
                <a:latin typeface="Consolas"/>
              </a:rPr>
              <a:t>Merge made by the 'ort' strategy.                  &lt;-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fetch vs merge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FOCUS BRANCHE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contenu de guillaume-saidani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1B1F24"/>
                </a:solidFill>
                <a:latin typeface="Calibri"/>
              </a:rPr>
              <a:t>▸ 6 commits au total sur cette branche, jamais poussés sur origin (aucun upstream configuré)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2c855c0 — data+model 637be8d38250 | PR-AUC 0.1036 (versioning M24 : DVC + MLflow + strategie)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e29602b — Merge de jalon/02 (socle M24 : CI, pre-commit, dependances mlops)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58f0ff3 — Ajout recap pedagogique module 23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6b36ca4 — Retrait du pack apprenants du suivi git (materiel de cours, pas du code livrable)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fca6866 — Merge de jalon/01 (socle M23 : package, tests, structure)</a:t>
            </a:r>
          </a:p>
          <a:p>
            <a:r>
              <a:rPr sz="1700" b="0">
                <a:solidFill>
                  <a:srgbClr val="1B1F24"/>
                </a:solidFill>
                <a:latin typeface="Calibri"/>
              </a:rPr>
              <a:t>▸ a2b87ac — Ajout initial du pack apprenants sprint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focus branche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MODÈLE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Qu'est-ce que le modèle RF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RF = Random Forest (forêt aléatoire) — un algorithme de classification de scikit-learn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RandomForestClassifier(n_estimators=200) : combine 200 arbres de décision, chacun entraîné sur un sous-échantillon aléatoire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La prédiction finale résulte d'un vote entre tous les arbres — plus robuste qu'un seul arbre qui surapprendrait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class_weight="balanced" : compense le déséquilibre des classes — les pannes sont rares face au fonctionnement normal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Rôle métier : à partir des features (température, pression, moyennes glissantes…), prédit si une machine va tomber en panne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C'est ce modèle qui est sérialisé dans artifacts/models/rf.joblib — le fichier versionné aujourd'hui via DVC (rf.joblib.dvc) et tracé dans MLflow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modèle RF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Quand le robot CI démarre-t-il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.github/workflows/ci.yml définit deux déclencheurs indépendants (on:)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push : branches: [main] — un commit poussé directement sur main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pull_request : ouverture ou mise à jour d'une pull request, quelle que soit la branche source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Sur ta branche personnelle (guillaume-saidani), un git commit ne déclenche rien : ni push sur main, ni PR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Le déclencheur s'active quand tu ouvres une pull request vers main — ton futur rendu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CI/CD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Un run, une machine jetable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Run : une exécution complète du workflow, déclenchée une fois par un évènement (push ou PR)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Visible dans l'onglet Actions de GitHub, avec son propre log et son propre statut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runs-on: ubuntu-latest provisionne une VM Ubuntu à la demande, uniquement pour ce run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Elle exécute les étapes (checkout, install, lint, format, tests), puis elle est détruite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Chaque run reprovisionne une machine neuve : aucun état hérité d'un run précédent, environnement toujours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CI/CD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B1F24"/>
                </a:solidFill>
                <a:latin typeface="Calibri"/>
              </a:rPr>
              <a:t>À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Toujours vérifier git status avant une opération destructive (checkout, reset, clean)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Créer une branche de sauvegarde avant une manipulation risquée sur son historique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Ne jamais force-push sur main ou sur une branche partagée sans accord explicite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Un commit = un changement cohérent, avec un message clair sur le «pourquoi»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Utiliser des branches dédiées (jalon, feature, sauvegarde) plutôt que tout mélanger sur main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1B1F24"/>
                </a:solidFill>
                <a:latin typeface="Calibri"/>
              </a:rPr>
              <a:t>▸ Relire git status après un git add large avant de committer (éviter de committer un secret)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A636E"/>
                </a:solidFill>
                <a:latin typeface="Calibri"/>
              </a:rPr>
              <a:t>Git — bonnes pratiques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Git structure le projet en repo (origin) + copies locales, reliées par push/pull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Les branches isolent des lignes de travail : main, jalon/xx, branche personnelle, sauvegardes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Dans ce parcours, chaque jalon = un état pédagogique fusionné progressivement dans guillaume-saidani</a:t>
            </a:r>
          </a:p>
          <a:p>
            <a:pPr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▸ JALON_ACTUEL.md documente précisément ce qui est attendu à chaque étape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MODULE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Montrer le squelette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Étape du module 23, juste après « pourquoi on sort du notebook » : parcourir l'ossature du package avant d'y toucher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pyproject.toml — identité du projet, requires-python &gt;=3.13,&lt;3.14, dépendances, script indusense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src/indusense/features/temporal.py — le shift(1) avant le rolling (mécanisme anti-fuite)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src/indusense/data/loaders.py — normalize_machine_id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tests/test_temporal.py — suite anti-fuite (tri temporel, colonne manquante)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src/indusense/cli.py — commandes train / predict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–  Vérification collective avant les TP : uv sync, Test-Path pyproject.toml/uv.lock, import du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module 23, squelette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CI/CD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1F24"/>
                </a:solidFill>
                <a:latin typeface="Calibri"/>
              </a:rPr>
              <a:t>Le « robot CI », définition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Expression du guide pour désigner le système d'intégration continue : un processus automatisé qui rejoue des vérifications à chaque évènement Git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Ici, le robot = GitHub Actions, piloté par .github/workflows/ci.yml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Il constate, il ne corrige rien — contrairement à pre-commit en local qui répare (ruff --fix, black)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Verdict binaire, vert ou rouge, visible dans l'onglet Actions de GitHub</a:t>
            </a:r>
          </a:p>
          <a:p>
            <a:pPr>
              <a:spcAft>
                <a:spcPts val="1400"/>
              </a:spcAft>
            </a:pPr>
            <a:r>
              <a:rPr sz="1700" b="0">
                <a:solidFill>
                  <a:srgbClr val="1B1F24"/>
                </a:solidFill>
                <a:latin typeface="Calibri"/>
              </a:rPr>
              <a:t>▸ Il applique les mêmes règles à chaque run, de façon identique et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Git — robot 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945</Words>
  <Application>Microsoft Office PowerPoint</Application>
  <PresentationFormat>Grand écran</PresentationFormat>
  <Paragraphs>93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Aelion</cp:lastModifiedBy>
  <cp:revision>2</cp:revision>
  <dcterms:created xsi:type="dcterms:W3CDTF">2013-01-27T09:14:16Z</dcterms:created>
  <dcterms:modified xsi:type="dcterms:W3CDTF">2026-08-24T13:03:57Z</dcterms:modified>
  <cp:category/>
</cp:coreProperties>
</file>