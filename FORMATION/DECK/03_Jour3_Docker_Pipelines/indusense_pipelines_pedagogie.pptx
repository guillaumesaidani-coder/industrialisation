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31720"/>
            <a:ext cx="82296" cy="173736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FC3F7"/>
                </a:solidFill>
                <a:latin typeface="Segoe UI"/>
              </a:rPr>
              <a:t>SUPPORT PÉDAGOGIQUE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EDF2"/>
                </a:solidFill>
                <a:latin typeface="Segoe UI"/>
              </a:rPr>
              <a:t>Comprendre les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93A3B3"/>
                </a:solidFill>
                <a:latin typeface="Segoe UI"/>
              </a:rPr>
              <a:t>Définition, anatomie, bonnes pratiques — puis cartographie des pipelines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93A3B3"/>
                </a:solidFill>
                <a:latin typeface="Segoe UI"/>
              </a:rPr>
              <a:t>du projet InduSense et leurs enjeux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Projet InduSense — Sprint 3 CISIA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02/15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Ce que ce support couvre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Notion de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Définition, propriétés, anatomie générique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933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Pourquoi ça compte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Reproductibilité, fiabilité, vitesse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630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002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933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Cartographie InduSense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774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5 pipelines identifiés dans le dépôt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632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00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5935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Pipeline Données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raw → gold, sans fuite temporelle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0632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200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5935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Pipeline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9776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train → artefact → predict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0632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200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5935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Pipeline Inférence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9776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requête → sécurité → score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6634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8006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1937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Pipeline 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5778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install → lint → format → tests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46634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48006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1937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Pipeline Déploiement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5778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build → compose (api/prometheus/grafana)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46634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48006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1937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Vue d'ensemble &amp; enjeux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55778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risques, dette, priorités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01 · NOTION DE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03/15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Qu'est-ce qu'un pipeline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669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E8EDF2"/>
                </a:solidFill>
                <a:latin typeface="Segoe UI"/>
              </a:rPr>
              <a:t>Un pipeline est une chaîne d'étapes ordonnées, chacune transformant une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E8EDF2"/>
                </a:solidFill>
                <a:latin typeface="Segoe UI"/>
              </a:rPr>
              <a:t>entrée en sortie, où la sortie d'une étape devient l'entrée de la suivante.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55778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4FC3F7"/>
                </a:solidFill>
                <a:latin typeface="Segoe UI"/>
              </a:rPr>
              <a:t>— Automatisé </a:t>
            </a:r>
            <a:r>
              <a:rPr sz="1450">
                <a:solidFill>
                  <a:srgbClr val="E8EDF2"/>
                </a:solidFill>
                <a:latin typeface="Segoe UI"/>
              </a:rPr>
              <a:t>— déclenché sans intervention manuelle répétée (commande, CI, cron).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4FC3F7"/>
                </a:solidFill>
                <a:latin typeface="Segoe UI"/>
              </a:rPr>
              <a:t>— Ordonné </a:t>
            </a:r>
            <a:r>
              <a:rPr sz="1450">
                <a:solidFill>
                  <a:srgbClr val="E8EDF2"/>
                </a:solidFill>
                <a:latin typeface="Segoe UI"/>
              </a:rPr>
              <a:t>— les dépendances entre étapes fixent un ordre d'exécution explicite.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4FC3F7"/>
                </a:solidFill>
                <a:latin typeface="Segoe UI"/>
              </a:rPr>
              <a:t>— Reproductible </a:t>
            </a:r>
            <a:r>
              <a:rPr sz="1450">
                <a:solidFill>
                  <a:srgbClr val="E8EDF2"/>
                </a:solidFill>
                <a:latin typeface="Segoe UI"/>
              </a:rPr>
              <a:t>— mêmes entrées + mêmes paramètres → même sortie.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4FC3F7"/>
                </a:solidFill>
                <a:latin typeface="Segoe UI"/>
              </a:rPr>
              <a:t>— Observable </a:t>
            </a:r>
            <a:r>
              <a:rPr sz="1450">
                <a:solidFill>
                  <a:srgbClr val="E8EDF2"/>
                </a:solidFill>
                <a:latin typeface="Segoe UI"/>
              </a:rPr>
              <a:t>— chaque étape produit une preuve (log, métrique, artefact).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4FC3F7"/>
                </a:solidFill>
                <a:latin typeface="Segoe UI"/>
              </a:rPr>
              <a:t>— Défaillant tôt </a:t>
            </a:r>
            <a:r>
              <a:rPr sz="1450">
                <a:solidFill>
                  <a:srgbClr val="E8EDF2"/>
                </a:solidFill>
                <a:latin typeface="Segoe UI"/>
              </a:rPr>
              <a:t>— une étape échoue franchement plutôt que de propager un état invalide.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417320"/>
            <a:ext cx="5120640" cy="470916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61848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3A3B3"/>
                </a:solidFill>
                <a:latin typeface="Segoe UI"/>
              </a:rPr>
              <a:t>ANATOMIE GÉNÉRIQUE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039112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112264"/>
            <a:ext cx="4261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Entrée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386584"/>
            <a:ext cx="426110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données brutes / événement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8915400" y="2706624"/>
            <a:ext cx="457200" cy="201168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2862072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935224"/>
            <a:ext cx="4261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Étape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3209544"/>
            <a:ext cx="426110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validation / transformation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8915400" y="3529584"/>
            <a:ext cx="457200" cy="201168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0" y="3685032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3758184"/>
            <a:ext cx="4261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Étape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4032504"/>
            <a:ext cx="426110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traitement métier</a:t>
            </a:r>
          </a:p>
        </p:txBody>
      </p:sp>
      <p:sp>
        <p:nvSpPr>
          <p:cNvPr id="22" name="Chevron 21"/>
          <p:cNvSpPr/>
          <p:nvPr/>
        </p:nvSpPr>
        <p:spPr>
          <a:xfrm>
            <a:off x="8915400" y="4352544"/>
            <a:ext cx="457200" cy="201168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0" y="4507992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4581144"/>
            <a:ext cx="4261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Étape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855464"/>
            <a:ext cx="426110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contrôle / agrégation</a:t>
            </a:r>
          </a:p>
        </p:txBody>
      </p:sp>
      <p:sp>
        <p:nvSpPr>
          <p:cNvPr id="26" name="Chevron 25"/>
          <p:cNvSpPr/>
          <p:nvPr/>
        </p:nvSpPr>
        <p:spPr>
          <a:xfrm>
            <a:off x="8915400" y="5175504"/>
            <a:ext cx="457200" cy="201168"/>
          </a:xfrm>
          <a:prstGeom prst="chevron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0" y="5330952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7728" y="5404104"/>
            <a:ext cx="4261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Sortie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5678424"/>
            <a:ext cx="426110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artefact, décision, métrique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02 · POURQUOI ÇA COMPTE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04/15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Ce qu'un pipeline apporte — et ce qu'il coûte de ne pas en avoir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40680" cy="402336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E38A"/>
                </a:solidFill>
                <a:latin typeface="Segoe UI"/>
              </a:rPr>
              <a:t>AVEC UN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— Reproductibilité </a:t>
            </a:r>
            <a:r>
              <a:rPr sz="1400">
                <a:solidFill>
                  <a:srgbClr val="E8EDF2"/>
                </a:solidFill>
                <a:latin typeface="Segoe UI"/>
              </a:rPr>
              <a:t>rejouer une expérience ou un déploiement donne le même résultat.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— Vitesse de feedback </a:t>
            </a:r>
            <a:r>
              <a:rPr sz="1400">
                <a:solidFill>
                  <a:srgbClr val="E8EDF2"/>
                </a:solidFill>
                <a:latin typeface="Segoe UI"/>
              </a:rPr>
              <a:t>un échec est détecté à l'étape qui le cause, pas trois étapes plus loin.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— Traçabilité </a:t>
            </a:r>
            <a:r>
              <a:rPr sz="1400">
                <a:solidFill>
                  <a:srgbClr val="E8EDF2"/>
                </a:solidFill>
                <a:latin typeface="Segoe UI"/>
              </a:rPr>
              <a:t>logs, métadonnées et artefacts permettent d'expliquer un résultat a posteriori.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— Collaboration </a:t>
            </a:r>
            <a:r>
              <a:rPr sz="1400">
                <a:solidFill>
                  <a:srgbClr val="E8EDF2"/>
                </a:solidFill>
                <a:latin typeface="Segoe UI"/>
              </a:rPr>
              <a:t>une chaîne nommée et documentée remplace une procédure orale.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40680" cy="402336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6C75"/>
                </a:solidFill>
                <a:latin typeface="Segoe UI"/>
              </a:rPr>
              <a:t>SANS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✕ Sans pipeline </a:t>
            </a:r>
            <a:r>
              <a:rPr sz="1400">
                <a:solidFill>
                  <a:srgbClr val="E8EDF2"/>
                </a:solidFill>
                <a:latin typeface="Segoe UI"/>
              </a:rPr>
              <a:t>chaque exécution dépend de la mémoire de la personne qui la lance.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✕ Dérive silencieuse </a:t>
            </a:r>
            <a:r>
              <a:rPr sz="1400">
                <a:solidFill>
                  <a:srgbClr val="E8EDF2"/>
                </a:solidFill>
                <a:latin typeface="Segoe UI"/>
              </a:rPr>
              <a:t>un changement de données ou de code casse la prod sans alerte.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✕ Dette de preuve </a:t>
            </a:r>
            <a:r>
              <a:rPr sz="1400">
                <a:solidFill>
                  <a:srgbClr val="E8EDF2"/>
                </a:solidFill>
                <a:latin typeface="Segoe UI"/>
              </a:rPr>
              <a:t>impossible de dire pourquoi un modèle ou un déploiement a changé.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✕ Risque de sécurité </a:t>
            </a:r>
            <a:r>
              <a:rPr sz="1400">
                <a:solidFill>
                  <a:srgbClr val="E8EDF2"/>
                </a:solidFill>
                <a:latin typeface="Segoe UI"/>
              </a:rPr>
              <a:t>des contrôles (auth, taille de payload) oubliés à une étape non formalisée.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03 · CARTOGRAPHIE INDUSENSE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05/15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5 pipelines identifiés dans le dépôt InduSense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84124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841248"/>
          </a:xfrm>
          <a:prstGeom prst="roundRect">
            <a:avLst>
              <a:gd name="adj" fmla="val 4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2"/>
                </a:solidFill>
                <a:latin typeface="Segoe UI"/>
              </a:rPr>
              <a:t>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92808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pipeline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62763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8EDF2"/>
                </a:solidFill>
                <a:latin typeface="Segoe UI"/>
              </a:rPr>
              <a:t>raw/ → features → gold_dataset.csv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2763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3A3B3"/>
                </a:solidFill>
                <a:latin typeface="Segoe UI"/>
              </a:rPr>
              <a:t>src/indusense/data, features, cli.py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13432"/>
            <a:ext cx="82296" cy="841248"/>
          </a:xfrm>
          <a:prstGeom prst="rect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313432"/>
            <a:ext cx="10881360" cy="841248"/>
          </a:xfrm>
          <a:prstGeom prst="roundRect">
            <a:avLst>
              <a:gd name="adj" fmla="val 4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231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2"/>
                </a:solidFill>
                <a:latin typeface="Segoe UI"/>
              </a:rPr>
              <a:t>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8892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pipeline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52374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8EDF2"/>
                </a:solidFill>
                <a:latin typeface="Segoe UI"/>
              </a:rPr>
              <a:t>gold → entraînement → artefact modèle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2374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3A3B3"/>
                </a:solidFill>
                <a:latin typeface="Segoe UI"/>
              </a:rPr>
              <a:t>src/indusense/models/tabular.py, cli.py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09544"/>
            <a:ext cx="82296" cy="841248"/>
          </a:xfrm>
          <a:prstGeom prst="rect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209544"/>
            <a:ext cx="10881360" cy="841248"/>
          </a:xfrm>
          <a:prstGeom prst="roundRect">
            <a:avLst>
              <a:gd name="adj" fmla="val 4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319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2"/>
                </a:solidFill>
                <a:latin typeface="Segoe UI"/>
              </a:rPr>
              <a:t>Inférence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685032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pipeline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41985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8EDF2"/>
                </a:solidFill>
                <a:latin typeface="Segoe UI"/>
              </a:rPr>
              <a:t>requête HTTP → sécurité →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41985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3A3B3"/>
                </a:solidFill>
                <a:latin typeface="Segoe UI"/>
              </a:rPr>
              <a:t>src/indusense/api/*.py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105656"/>
            <a:ext cx="82296" cy="841248"/>
          </a:xfrm>
          <a:prstGeom prst="rect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105656"/>
            <a:ext cx="10881360" cy="841248"/>
          </a:xfrm>
          <a:prstGeom prst="roundRect">
            <a:avLst>
              <a:gd name="adj" fmla="val 4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21538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2"/>
                </a:solidFill>
                <a:latin typeface="Segoe UI"/>
              </a:rPr>
              <a:t>CI (qualité)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581144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pipeline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31596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8EDF2"/>
                </a:solidFill>
                <a:latin typeface="Segoe UI"/>
              </a:rPr>
              <a:t>install → lint → format →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3159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3A3B3"/>
                </a:solidFill>
                <a:latin typeface="Segoe UI"/>
              </a:rPr>
              <a:t>.github/workflows/ci.yml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001768"/>
            <a:ext cx="82296" cy="841248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5001768"/>
            <a:ext cx="10881360" cy="841248"/>
          </a:xfrm>
          <a:prstGeom prst="roundRect">
            <a:avLst>
              <a:gd name="adj" fmla="val 4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1149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2"/>
                </a:solidFill>
                <a:latin typeface="Segoe UI"/>
              </a:rPr>
              <a:t>Déploiement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477256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pipeline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2120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8EDF2"/>
                </a:solidFill>
                <a:latin typeface="Segoe UI"/>
              </a:rPr>
              <a:t>build image → compose (api/prom/grafana)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2120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3A3B3"/>
                </a:solidFill>
                <a:latin typeface="Segoe UI"/>
              </a:rPr>
              <a:t>Dockerfile, compose.yaml, monitoring/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04 · PIPELINE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06/15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raw → gold : construire un dataset sans fuite temporelle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8191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Sources brutes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56232"/>
            <a:ext cx="186537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capteurs_temperature.csv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capteurs_pression.tsv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releves_incidents.csv</a:t>
            </a:r>
          </a:p>
        </p:txBody>
      </p:sp>
      <p:sp>
        <p:nvSpPr>
          <p:cNvPr id="10" name="Chevron 9"/>
          <p:cNvSpPr/>
          <p:nvPr/>
        </p:nvSpPr>
        <p:spPr>
          <a:xfrm>
            <a:off x="2569463" y="2125980"/>
            <a:ext cx="182880" cy="182880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52343" y="150876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1" y="158191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Chargement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1" y="1856232"/>
            <a:ext cx="186537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load_temperature / load_pressure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load_incidents (loaders.py)</a:t>
            </a:r>
          </a:p>
        </p:txBody>
      </p:sp>
      <p:sp>
        <p:nvSpPr>
          <p:cNvPr id="14" name="Chevron 13"/>
          <p:cNvSpPr/>
          <p:nvPr/>
        </p:nvSpPr>
        <p:spPr>
          <a:xfrm>
            <a:off x="4818886" y="212598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01766" y="150876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4" y="158191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Assemblage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4" y="1856232"/>
            <a:ext cx="186537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build_dataset()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fenêtre incident: settings.incident_window_hours</a:t>
            </a:r>
          </a:p>
        </p:txBody>
      </p:sp>
      <p:sp>
        <p:nvSpPr>
          <p:cNvPr id="18" name="Chevron 17"/>
          <p:cNvSpPr/>
          <p:nvPr/>
        </p:nvSpPr>
        <p:spPr>
          <a:xfrm>
            <a:off x="7068309" y="212598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51189" y="150876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17" y="158191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Features temporelles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7" y="1856232"/>
            <a:ext cx="186537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add_temporal_features()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sans regarder le futur</a:t>
            </a:r>
          </a:p>
        </p:txBody>
      </p:sp>
      <p:sp>
        <p:nvSpPr>
          <p:cNvPr id="22" name="Chevron 21"/>
          <p:cNvSpPr/>
          <p:nvPr/>
        </p:nvSpPr>
        <p:spPr>
          <a:xfrm>
            <a:off x="9317732" y="2125980"/>
            <a:ext cx="182880" cy="182880"/>
          </a:xfrm>
          <a:prstGeom prst="chevron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0612" y="150876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0340" y="158191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Gold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0" y="1856232"/>
            <a:ext cx="186537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dropna + reset_index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→ data/gold/gold_dataset.csv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246120"/>
            <a:ext cx="11155680" cy="14173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4290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3A3B3"/>
                </a:solidFill>
                <a:latin typeface="Segoe UI"/>
              </a:rPr>
              <a:t>COMMANDES CLI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76732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E8EDF2"/>
                </a:solidFill>
                <a:latin typeface="Segoe UI"/>
              </a:rPr>
              <a:t>indusense check-data   → contrôle santé (rows, machines, taux panne)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E8EDF2"/>
                </a:solidFill>
                <a:latin typeface="Segoe UI"/>
              </a:rPr>
              <a:t>indusense build-gold   → écrit le CSV gold, déterministe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429000"/>
            <a:ext cx="109728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4290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C75"/>
                </a:solidFill>
                <a:latin typeface="Segoe UI"/>
              </a:rPr>
              <a:t>ENJEU CLÉ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76732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Fuite de données temporelle : une feature calculée avec des informations du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futur fausserait l'évaluation. Les features sont bâties fenêtre par fenêtre,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avant l'incident, jamais après.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05 · PIPELINE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07/15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train → artefact → predict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Gold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dataset chargé + features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sélectionnées</a:t>
            </a:r>
          </a:p>
        </p:txBody>
      </p:sp>
      <p:sp>
        <p:nvSpPr>
          <p:cNvPr id="10" name="Chevron 9"/>
          <p:cNvSpPr/>
          <p:nvPr/>
        </p:nvSpPr>
        <p:spPr>
          <a:xfrm>
            <a:off x="3090672" y="2125980"/>
            <a:ext cx="182880" cy="182880"/>
          </a:xfrm>
          <a:prstGeom prst="chevron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10128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Entraînement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train_model(x, y,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random_state=seed)</a:t>
            </a:r>
          </a:p>
        </p:txBody>
      </p:sp>
      <p:sp>
        <p:nvSpPr>
          <p:cNvPr id="14" name="Chevron 13"/>
          <p:cNvSpPr/>
          <p:nvPr/>
        </p:nvSpPr>
        <p:spPr>
          <a:xfrm>
            <a:off x="5897880" y="212598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17336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Artefact + métadonnées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rf.joblib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model_metadata.json</a:t>
            </a:r>
          </a:p>
        </p:txBody>
      </p:sp>
      <p:sp>
        <p:nvSpPr>
          <p:cNvPr id="18" name="Chevron 17"/>
          <p:cNvSpPr/>
          <p:nvPr/>
        </p:nvSpPr>
        <p:spPr>
          <a:xfrm>
            <a:off x="8705088" y="2125980"/>
            <a:ext cx="182880" cy="182880"/>
          </a:xfrm>
          <a:prstGeom prst="chevron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24544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predict_proba()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sur la dernière obs/machine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3A3B3"/>
                </a:solidFill>
                <a:latin typeface="Segoe UI"/>
              </a:rPr>
              <a:t>MÉTADONNÉES CAPTURÉES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794760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E8EDF2"/>
                </a:solidFill>
                <a:latin typeface="Segoe UI"/>
              </a:rPr>
              <a:t>— created_at, package_version, random_seed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E8EDF2"/>
                </a:solidFill>
                <a:latin typeface="Segoe UI"/>
              </a:rPr>
              <a:t>— target_col, features (liste des colonnes)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E8EDF2"/>
                </a:solidFill>
                <a:latin typeface="Segoe UI"/>
              </a:rPr>
              <a:t>— n_train_rows, panne_rate, dataset (chemin source)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C75"/>
                </a:solidFill>
                <a:latin typeface="Segoe UI"/>
              </a:rPr>
              <a:t>ENJEUX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94760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250">
                <a:solidFill>
                  <a:srgbClr val="4FC3F7"/>
                </a:solidFill>
                <a:latin typeface="Segoe UI"/>
              </a:rPr>
              <a:t>— Reproductibilité </a:t>
            </a:r>
            <a:r>
              <a:rPr sz="1250">
                <a:solidFill>
                  <a:srgbClr val="E8EDF2"/>
                </a:solidFill>
                <a:latin typeface="Segoe UI"/>
              </a:rPr>
              <a:t>graine fixée, mais pas encore de tracking d'expériences (MLflow) branché dans le code.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250">
                <a:solidFill>
                  <a:srgbClr val="4FC3F7"/>
                </a:solidFill>
                <a:latin typeface="Segoe UI"/>
              </a:rPr>
              <a:t>— Garde-fou predict </a:t>
            </a:r>
            <a:r>
              <a:rPr sz="1250">
                <a:solidFill>
                  <a:srgbClr val="E8EDF2"/>
                </a:solidFill>
                <a:latin typeface="Segoe UI"/>
              </a:rPr>
              <a:t>échec explicite si le modèle n'existe pas (`Run indusense train first`).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06 · PIPELINE INFÉRENCE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08/15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Une requête /predict-tabular traverse sa propre chaîne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084831" cy="13716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3619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Requête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10512"/>
            <a:ext cx="18653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POST /predict-tabular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+ X-API-Key</a:t>
            </a:r>
          </a:p>
        </p:txBody>
      </p:sp>
      <p:sp>
        <p:nvSpPr>
          <p:cNvPr id="10" name="Chevron 9"/>
          <p:cNvSpPr/>
          <p:nvPr/>
        </p:nvSpPr>
        <p:spPr>
          <a:xfrm>
            <a:off x="2569463" y="2057400"/>
            <a:ext cx="182880" cy="182880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52343" y="1463040"/>
            <a:ext cx="2084831" cy="13716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1" y="153619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Sécurité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1" y="1810512"/>
            <a:ext cx="18653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auth clé API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rate limit, taille payload</a:t>
            </a:r>
          </a:p>
        </p:txBody>
      </p:sp>
      <p:sp>
        <p:nvSpPr>
          <p:cNvPr id="14" name="Chevron 13"/>
          <p:cNvSpPr/>
          <p:nvPr/>
        </p:nvSpPr>
        <p:spPr>
          <a:xfrm>
            <a:off x="4818886" y="2057400"/>
            <a:ext cx="182880" cy="182880"/>
          </a:xfrm>
          <a:prstGeom prst="chevron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01766" y="1463040"/>
            <a:ext cx="2084831" cy="13716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4" y="153619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4" y="1810512"/>
            <a:ext cx="18653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schéma Pydantic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normalize_machine_id</a:t>
            </a:r>
          </a:p>
        </p:txBody>
      </p:sp>
      <p:sp>
        <p:nvSpPr>
          <p:cNvPr id="18" name="Chevron 17"/>
          <p:cNvSpPr/>
          <p:nvPr/>
        </p:nvSpPr>
        <p:spPr>
          <a:xfrm>
            <a:off x="7068309" y="205740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51189" y="1463040"/>
            <a:ext cx="2084831" cy="13716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17" y="153619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7" y="1810512"/>
            <a:ext cx="18653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features temporelles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sélection colonnes</a:t>
            </a:r>
          </a:p>
        </p:txBody>
      </p:sp>
      <p:sp>
        <p:nvSpPr>
          <p:cNvPr id="22" name="Chevron 21"/>
          <p:cNvSpPr/>
          <p:nvPr/>
        </p:nvSpPr>
        <p:spPr>
          <a:xfrm>
            <a:off x="9317732" y="205740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0612" y="1463040"/>
            <a:ext cx="2084831" cy="13716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0340" y="153619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0" y="1810512"/>
            <a:ext cx="18653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predict_proba()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+ réponse JSON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154680"/>
            <a:ext cx="11155680" cy="160020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3101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C75"/>
                </a:solidFill>
                <a:latin typeface="Segoe UI"/>
              </a:rPr>
              <a:t>MENACES STRIDE COUVERTES (threat_model.md)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6576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4FC3F7"/>
                </a:solidFill>
                <a:latin typeface="Segoe UI"/>
              </a:rPr>
              <a:t>— Spoofing </a:t>
            </a:r>
            <a:r>
              <a:rPr sz="1200">
                <a:solidFill>
                  <a:srgbClr val="E8EDF2"/>
                </a:solidFill>
                <a:latin typeface="Segoe UI"/>
              </a:rPr>
              <a:t>clé API absente/fausse → 401.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4FC3F7"/>
                </a:solidFill>
                <a:latin typeface="Segoe UI"/>
              </a:rPr>
              <a:t>— Tampering </a:t>
            </a:r>
            <a:r>
              <a:rPr sz="1200">
                <a:solidFill>
                  <a:srgbClr val="E8EDF2"/>
                </a:solidFill>
                <a:latin typeface="Segoe UI"/>
              </a:rPr>
              <a:t>payload malformé, machine_id invalide, historique trop court → 422.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4FC3F7"/>
                </a:solidFill>
                <a:latin typeface="Segoe UI"/>
              </a:rPr>
              <a:t>— DoS </a:t>
            </a:r>
            <a:r>
              <a:rPr sz="1200">
                <a:solidFill>
                  <a:srgbClr val="E8EDF2"/>
                </a:solidFill>
                <a:latin typeface="Segoe UI"/>
              </a:rPr>
              <a:t>corps &gt; 64 Ko → 413 ; &gt; 60 req/min/IP → 429 (limite: état en mémoire, non distribué).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920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F2B64B"/>
                </a:solidFill>
                <a:latin typeface="Segoe UI"/>
              </a:rPr>
              <a:t>Risque résiduel assumé : pas d'audit logging structuré (qui a appelé quoi, quand) — seulement un</a:t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F2B64B"/>
                </a:solidFill>
                <a:latin typeface="Segoe UI"/>
              </a:rPr>
              <a:t>X-Request-ID de corrélation technique. Statut documenté : « Planifié v0 ».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07 · PIPELINE CI (INTÉGRATION CONTINUE)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09/15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install → lint → format →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Checkout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actions/checkout@v4</a:t>
            </a:r>
          </a:p>
        </p:txBody>
      </p:sp>
      <p:sp>
        <p:nvSpPr>
          <p:cNvPr id="10" name="Chevron 9"/>
          <p:cNvSpPr/>
          <p:nvPr/>
        </p:nvSpPr>
        <p:spPr>
          <a:xfrm>
            <a:off x="2249424" y="2125980"/>
            <a:ext cx="128016" cy="182880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7744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Python 3.13 + uv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(astral-sh/setup-uv)</a:t>
            </a:r>
          </a:p>
        </p:txBody>
      </p:sp>
      <p:sp>
        <p:nvSpPr>
          <p:cNvPr id="14" name="Chevron 13"/>
          <p:cNvSpPr/>
          <p:nvPr/>
        </p:nvSpPr>
        <p:spPr>
          <a:xfrm>
            <a:off x="4123944" y="2125980"/>
            <a:ext cx="128016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Install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uv sync --extra dev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(verrou uv.lock)</a:t>
            </a:r>
          </a:p>
        </p:txBody>
      </p:sp>
      <p:sp>
        <p:nvSpPr>
          <p:cNvPr id="18" name="Chevron 17"/>
          <p:cNvSpPr/>
          <p:nvPr/>
        </p:nvSpPr>
        <p:spPr>
          <a:xfrm>
            <a:off x="5998464" y="2125980"/>
            <a:ext cx="128016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Lint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ruff check .</a:t>
            </a:r>
          </a:p>
        </p:txBody>
      </p:sp>
      <p:sp>
        <p:nvSpPr>
          <p:cNvPr id="22" name="Chevron 21"/>
          <p:cNvSpPr/>
          <p:nvPr/>
        </p:nvSpPr>
        <p:spPr>
          <a:xfrm>
            <a:off x="7872984" y="2125980"/>
            <a:ext cx="128016" cy="182880"/>
          </a:xfrm>
          <a:prstGeom prst="chevron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0100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Format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black --check .</a:t>
            </a:r>
          </a:p>
        </p:txBody>
      </p:sp>
      <p:sp>
        <p:nvSpPr>
          <p:cNvPr id="26" name="Chevron 25"/>
          <p:cNvSpPr/>
          <p:nvPr/>
        </p:nvSpPr>
        <p:spPr>
          <a:xfrm>
            <a:off x="9747504" y="2125980"/>
            <a:ext cx="128016" cy="182880"/>
          </a:xfrm>
          <a:prstGeom prst="chevron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7552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8524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524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pytest -q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3A3B3"/>
                </a:solidFill>
                <a:latin typeface="Segoe UI"/>
              </a:rPr>
              <a:t>DÉCLENCHEURS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794760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E8EDF2"/>
                </a:solidFill>
                <a:latin typeface="Segoe UI"/>
              </a:rPr>
              <a:t>— push sur main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E8EDF2"/>
                </a:solidFill>
                <a:latin typeface="Segoe UI"/>
              </a:rPr>
              <a:t>— toute pull_request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E8EDF2"/>
                </a:solidFill>
                <a:latin typeface="Segoe UI"/>
              </a:rPr>
              <a:t>— arrêt à la première étape en échec (fail fast)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C75"/>
                </a:solidFill>
                <a:latin typeface="Segoe UI"/>
              </a:rPr>
              <a:t>LIMITE ASSUMÉE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794760"/>
            <a:ext cx="4937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« Une CI verte ne prouve que les contrôles écrits ; elle ne remplace ni la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revue ni les tests métier. » (commentaire pédagogique du dépôt)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Aucun job de build/déploiement d'image dans cette CI à ce stade.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08 · PIPELINE 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10/15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build image → compose : démarrage ordonné par healthcheck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docker build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image indusense</a:t>
            </a:r>
          </a:p>
        </p:txBody>
      </p:sp>
      <p:sp>
        <p:nvSpPr>
          <p:cNvPr id="10" name="Chevron 9"/>
          <p:cNvSpPr/>
          <p:nvPr/>
        </p:nvSpPr>
        <p:spPr>
          <a:xfrm>
            <a:off x="3090672" y="2125980"/>
            <a:ext cx="182880" cy="182880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10128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conteneur api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HEALTHCHECK GET /health</a:t>
            </a:r>
          </a:p>
        </p:txBody>
      </p:sp>
      <p:sp>
        <p:nvSpPr>
          <p:cNvPr id="14" name="Chevron 13"/>
          <p:cNvSpPr/>
          <p:nvPr/>
        </p:nvSpPr>
        <p:spPr>
          <a:xfrm>
            <a:off x="5897880" y="212598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17336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Prometheus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attend api: service_healthy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scrape /metrics</a:t>
            </a:r>
          </a:p>
        </p:txBody>
      </p:sp>
      <p:sp>
        <p:nvSpPr>
          <p:cNvPr id="18" name="Chevron 17"/>
          <p:cNvSpPr/>
          <p:nvPr/>
        </p:nvSpPr>
        <p:spPr>
          <a:xfrm>
            <a:off x="8705088" y="2125980"/>
            <a:ext cx="182880" cy="182880"/>
          </a:xfrm>
          <a:prstGeom prst="chevron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24544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Grafana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attend prometheus: service_healthy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datasource provisionnée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3A3B3"/>
                </a:solidFill>
                <a:latin typeface="Segoe UI"/>
              </a:rPr>
              <a:t>POURQUOI service_healthy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794760"/>
            <a:ext cx="48463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« démarré » (process lancé) ≠ « prêt » (healthcheck au vert).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depends_on seul n'attend que le démarrage du conteneur amont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→ race condition classique.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condition: service_healthy fait attendre la disponibilité réelle.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C75"/>
                </a:solidFill>
                <a:latin typeface="Segoe UI"/>
              </a:rPr>
              <a:t>PREUVE ATTENDUE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94760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E8EDF2"/>
                </a:solidFill>
                <a:latin typeface="Segoe UI"/>
              </a:rPr>
              <a:t>— docker compose ps → 3 services healthy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E8EDF2"/>
                </a:solidFill>
                <a:latin typeface="Segoe UI"/>
              </a:rPr>
              <a:t>— 1er scrape Prometheus vers l'API ne doit jamais échouer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E8EDF2"/>
                </a:solidFill>
                <a:latin typeface="Segoe UI"/>
              </a:rPr>
              <a:t>— volumes nommés (prometheus_data, grafana_data) survivent à 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09 · VUE D'ENSEMBLE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11/15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Schéma des liens entre les 5 pipelines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3977639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3A3B3"/>
                </a:solidFill>
                <a:latin typeface="Segoe UI"/>
              </a:rPr>
              <a:t>GRAPHE DE DÉPENDANCES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7772400" cy="530352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10512"/>
            <a:ext cx="7552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CI (qualité)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2"/>
            <a:ext cx="755294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3B3"/>
                </a:solidFill>
                <a:latin typeface="Segoe UI"/>
              </a:rPr>
              <a:t>lint · format · tests — valide le code en continu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974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770632"/>
            <a:ext cx="2157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044952"/>
            <a:ext cx="215798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raw → gold_dataset.csv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6974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770632"/>
            <a:ext cx="2157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044952"/>
            <a:ext cx="215798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gold → modèle .joblib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6974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770632"/>
            <a:ext cx="2157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Inférence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044952"/>
            <a:ext cx="215798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modèle → score /predict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6974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128" y="2770632"/>
            <a:ext cx="2157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3044952"/>
            <a:ext cx="215798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Prometheus / Grafana</a:t>
            </a:r>
          </a:p>
        </p:txBody>
      </p:sp>
      <p:sp>
        <p:nvSpPr>
          <p:cNvPr id="24" name="Chevron 23"/>
          <p:cNvSpPr/>
          <p:nvPr/>
        </p:nvSpPr>
        <p:spPr>
          <a:xfrm>
            <a:off x="3218688" y="3031236"/>
            <a:ext cx="283464" cy="201168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>
            <a:off x="5916168" y="3031236"/>
            <a:ext cx="283464" cy="201168"/>
          </a:xfrm>
          <a:prstGeom prst="chevron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8613648" y="3031236"/>
            <a:ext cx="283464" cy="201168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011680.0" y="2267712"/>
            <a:ext cx="0.0" cy="429768"/>
          </a:xfrm>
          <a:prstGeom prst="line">
            <a:avLst/>
          </a:prstGeom>
          <a:ln w="19050">
            <a:solidFill>
              <a:srgbClr val="F2B6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09160.0" y="2267712"/>
            <a:ext cx="0.0" cy="429768"/>
          </a:xfrm>
          <a:prstGeom prst="line">
            <a:avLst/>
          </a:prstGeom>
          <a:ln w="19050">
            <a:solidFill>
              <a:srgbClr val="F2B6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06640.0" y="2267712"/>
            <a:ext cx="0.0" cy="429768"/>
          </a:xfrm>
          <a:prstGeom prst="line">
            <a:avLst/>
          </a:prstGeom>
          <a:ln w="19050">
            <a:solidFill>
              <a:srgbClr val="F2B6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17920" y="3977639"/>
            <a:ext cx="5074920" cy="54864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4050791"/>
            <a:ext cx="48554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Déploiement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325111"/>
            <a:ext cx="485546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3B3"/>
                </a:solidFill>
                <a:latin typeface="Segoe UI"/>
              </a:rPr>
              <a:t>build image → compose up (healthcheck)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7406640.0" y="3566160"/>
            <a:ext cx="0.0" cy="411479"/>
          </a:xfrm>
          <a:prstGeom prst="line">
            <a:avLst/>
          </a:prstGeom>
          <a:ln w="19050">
            <a:solidFill>
              <a:srgbClr val="E06C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104120.0" y="3566160"/>
            <a:ext cx="0.0" cy="411479"/>
          </a:xfrm>
          <a:prstGeom prst="line">
            <a:avLst/>
          </a:prstGeom>
          <a:ln w="19050">
            <a:solidFill>
              <a:srgbClr val="E06C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02920" y="5541263"/>
            <a:ext cx="91440" cy="91440"/>
          </a:xfrm>
          <a:prstGeom prst="ellipse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486399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CI → Données/ML/API — valide le code avant toute exécution</a:t>
            </a:r>
          </a:p>
        </p:txBody>
      </p:sp>
      <p:sp>
        <p:nvSpPr>
          <p:cNvPr id="37" name="Oval 36"/>
          <p:cNvSpPr/>
          <p:nvPr/>
        </p:nvSpPr>
        <p:spPr>
          <a:xfrm>
            <a:off x="6080760" y="5541263"/>
            <a:ext cx="91440" cy="91440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8" y="5486399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Déploiement → API/Monitoring — empaquette et démarre dans l'ordre (service_healthy)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09 · ENJEUX TRANSVERSES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12/15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Ce qui reste fragile — à surveiller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74980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9047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Fuite de données temporelle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196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FC3F7"/>
                </a:solidFill>
                <a:latin typeface="Segoe UI"/>
              </a:rPr>
              <a:t>Données/ML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563624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Features calculées avant l'incident, jamais après — à re-vérifier à chaque ajout de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12848"/>
            <a:ext cx="82296" cy="749808"/>
          </a:xfrm>
          <a:prstGeom prst="rect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212848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Reproductibilité ML partielle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151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64B"/>
                </a:solidFill>
                <a:latin typeface="Segoe UI"/>
              </a:rPr>
              <a:t>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359152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Graine fixée + métadonnées JSON, mais pas de tracking d'expériences outillé (MLflow non branché dans le code).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08376"/>
            <a:ext cx="82296" cy="749808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008376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8152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Audit logging absent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107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06C75"/>
                </a:solidFill>
                <a:latin typeface="Segoe UI"/>
              </a:rPr>
              <a:t>Inférence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154680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Aucune preuve structurée de qui a appelé quoi/quand ; seulement un ID de corrélation. Statut: planifié v0.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03904"/>
            <a:ext cx="82296" cy="749808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803904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87705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Rate limit non distribué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2062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06C75"/>
                </a:solidFill>
                <a:latin typeface="Segoe UI"/>
              </a:rPr>
              <a:t>Inférence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950208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Compteur en mémoire par processus — contournable derrière plusieurs instances.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599432"/>
            <a:ext cx="82296" cy="749808"/>
          </a:xfrm>
          <a:prstGeom prst="rect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4599432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7258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CI sans étape build/déploiement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0017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64B"/>
                </a:solidFill>
                <a:latin typeface="Segoe UI"/>
              </a:rPr>
              <a:t>CI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745736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Le pipeline CI ne construit ni ne pousse l'image Docker : aucune preuve automatisée que l'image buildée en local reste conforme.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394960"/>
            <a:ext cx="82296" cy="749808"/>
          </a:xfrm>
          <a:prstGeom prst="rect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5394960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46811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Démarrage ordonné mais local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7972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64B"/>
                </a:solidFill>
                <a:latin typeface="Segoe UI"/>
              </a:rPr>
              <a:t>Déploiement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5541264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service_healthy résout la race condition en local ; pas encore de stratégie multi-hôte / orchestrateur (k8s, etc.).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13/15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Principes de pipeline à retenir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636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Idempotence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76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rejouer une étape sans effet de bord cumulatif — build-gold réécrit, ne concatène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636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Échec explicite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un code de sortie non nul ou une exception typée rendent l'échec visible (typer.BadParameter).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352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Frontière validée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chaque étape convertit une entrée externe en structure interne contrôlée avant de calculer.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889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9352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Preuve avant progression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192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chaque étape produit une trace (log, métadonnées, code retour) avant que la suivante démarre.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068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Ordre explicite ≠ ordre supposé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908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depends_on + service_healthy rendent l'ordre réel, pas juste l'ordre de déclaration.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1605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068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Commentaires ≠ comportement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6908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la documentation pédagogique du dépôt guide la lecture sans changer l'exécution.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ANNEXE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14/15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Glossaire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00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chaîne d'étapes automatisées, ordonnées, où la sortie de l'une nourrit l'entrée de la suivante.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Gold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00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jeu de données nettoyé, assemblé et prêt pour l'entraînement, versionné sous data/gold/.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Fuite de données (leakage)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43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utiliser une information indisponible au moment réel de la prédiction.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Healthcheck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43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sonde qui distingue un conteneur démarré d'un conteneur réellement prêt à servir.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7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CI (intégration continue)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86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vérifications automatiques (lint, format, tests) à chaque push/PR.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657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STRIDE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986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grille de menaces: Spoofing, Tampering, Repudiation, Information disclosure, DoS, Elevation of privilege.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Idempotent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9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une opération rejouée plusieurs fois produit le même état final qu'une seule exécution.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800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Artefact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129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sortie durable d'une étape de pipeline (modèle .joblib, image Docker, CSV gold, rapport).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0"/>
            <a:ext cx="82296" cy="1097280"/>
          </a:xfrm>
          <a:prstGeom prst="rect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7CE38A"/>
                </a:solidFill>
                <a:latin typeface="Segoe UI"/>
              </a:rPr>
              <a:t>À retenir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E8EDF2"/>
                </a:solidFill>
                <a:latin typeface="Segoe UI"/>
              </a:rPr>
              <a:t>Un bon pipeline se juge à la preuve qu'il laisse derrière lui,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E8EDF2"/>
                </a:solidFill>
                <a:latin typeface="Segoe UI"/>
              </a:rPr>
              <a:t>pas seulement au résultat qu'il produit.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3A3B3"/>
                </a:solidFill>
                <a:latin typeface="Segoe UI"/>
              </a:rPr>
              <a:t>Questions &amp; exploration guidée : make check, docker compose ps, uv run indusense --help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