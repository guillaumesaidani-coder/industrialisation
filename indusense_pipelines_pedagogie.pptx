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71" r:id="rId22"/>
    <p:sldId id="263" r:id="rId14"/>
    <p:sldId id="264" r:id="rId15"/>
    <p:sldId id="265" r:id="rId16"/>
    <p:sldId id="266" r:id="rId17"/>
    <p:sldId id="272" r:id="rId23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8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331720"/>
            <a:ext cx="82296" cy="173736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FC3F7"/>
                </a:solidFill>
                <a:latin typeface="Segoe UI"/>
              </a:rPr>
              <a:t>SUPPORT PÉDAGOGIQUE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EDF2"/>
                </a:solidFill>
                <a:latin typeface="Segoe UI"/>
              </a:rPr>
              <a:t>Comprendre les pipelines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93A3B3"/>
                </a:solidFill>
                <a:latin typeface="Segoe UI"/>
              </a:rPr>
              <a:t>Définition, anatomie, bonnes pratiques — puis cartographie des pipelines</a:t>
            </a:r>
          </a:p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93A3B3"/>
                </a:solidFill>
                <a:latin typeface="Segoe UI"/>
              </a:rPr>
              <a:t>du projet InduSense et leurs enjeux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3A3B3"/>
                </a:solidFill>
                <a:latin typeface="Segoe UI"/>
              </a:rPr>
              <a:t>Projet InduSense — Sprint 3 CISIA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02/17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Ce que ce support couvre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171F29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C3F7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933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2"/>
                </a:solidFill>
                <a:latin typeface="Segoe UI"/>
              </a:rPr>
              <a:t>Notion de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Définition, propriétés, anatomie générique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171F29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6002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C3F7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9933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2"/>
                </a:solidFill>
                <a:latin typeface="Segoe UI"/>
              </a:rPr>
              <a:t>Pourquoi ça compte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774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Reproductibilité, fiabilité, vitesse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630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171F29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6002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C3F7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9933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2"/>
                </a:solidFill>
                <a:latin typeface="Segoe UI"/>
              </a:rPr>
              <a:t>Cartographie InduSense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3774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6 pipelines identifiés dans le dépôt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0632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171F29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2004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C3F7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5935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2"/>
                </a:solidFill>
                <a:latin typeface="Segoe UI"/>
              </a:rPr>
              <a:t>Pipeline Données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9776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raw → gold, sans fuite temporelle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0632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171F29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32004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C3F7"/>
                </a:solidFill>
                <a:latin typeface="Segoe U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5935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2"/>
                </a:solidFill>
                <a:latin typeface="Segoe UI"/>
              </a:rPr>
              <a:t>Pipeline ML &amp; Orchestration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9776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train → artefact → predict, puis flow Prefect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0632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171F29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32004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C3F7"/>
                </a:solidFill>
                <a:latin typeface="Segoe UI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5935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2"/>
                </a:solidFill>
                <a:latin typeface="Segoe UI"/>
              </a:rPr>
              <a:t>Pipeline Inférence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9776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requête → sécurité → score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6634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171F29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8006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C3F7"/>
                </a:solidFill>
                <a:latin typeface="Segoe UI"/>
              </a:rP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1937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2"/>
                </a:solidFill>
                <a:latin typeface="Segoe UI"/>
              </a:rPr>
              <a:t>Pipeline CI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5778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install → lint → format → tests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46634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171F29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48006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C3F7"/>
                </a:solidFill>
                <a:latin typeface="Segoe UI"/>
              </a:rPr>
              <a:t>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51937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2"/>
                </a:solidFill>
                <a:latin typeface="Segoe UI"/>
              </a:rPr>
              <a:t>Pipeline Déploiement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55778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build → compose (api/prometheus/grafana)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92440" y="4663440"/>
            <a:ext cx="3611880" cy="1417320"/>
          </a:xfrm>
          <a:prstGeom prst="roundRect">
            <a:avLst>
              <a:gd name="adj" fmla="val 8000"/>
            </a:avLst>
          </a:prstGeom>
          <a:solidFill>
            <a:srgbClr val="171F29"/>
          </a:solidFill>
          <a:ln w="12700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20" y="48006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4FC3F7"/>
                </a:solidFill>
                <a:latin typeface="Segoe UI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51937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2"/>
                </a:solidFill>
                <a:latin typeface="Segoe UI"/>
              </a:rPr>
              <a:t>Vue d'ensemble &amp; enjeux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557784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risques, dette, priorités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01 · NOTION DE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03/17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Qu'est-ce qu'un pipeline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669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E8EDF2"/>
                </a:solidFill>
                <a:latin typeface="Segoe UI"/>
              </a:rPr>
              <a:t>Un pipeline est une chaîne d'étapes ordonnées, chacune transformant une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E8EDF2"/>
                </a:solidFill>
                <a:latin typeface="Segoe UI"/>
              </a:rPr>
              <a:t>entrée en sortie, où la sortie d'une étape devient l'entrée de la suivante.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80360"/>
            <a:ext cx="55778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50">
                <a:solidFill>
                  <a:srgbClr val="4FC3F7"/>
                </a:solidFill>
                <a:latin typeface="Segoe UI"/>
              </a:rPr>
              <a:t>— Automatisé </a:t>
            </a:r>
            <a:r>
              <a:rPr sz="1450">
                <a:solidFill>
                  <a:srgbClr val="E8EDF2"/>
                </a:solidFill>
                <a:latin typeface="Segoe UI"/>
              </a:rPr>
              <a:t>— déclenché sans intervention manuelle répétée (commande, CI, cron).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50">
                <a:solidFill>
                  <a:srgbClr val="4FC3F7"/>
                </a:solidFill>
                <a:latin typeface="Segoe UI"/>
              </a:rPr>
              <a:t>— Ordonné </a:t>
            </a:r>
            <a:r>
              <a:rPr sz="1450">
                <a:solidFill>
                  <a:srgbClr val="E8EDF2"/>
                </a:solidFill>
                <a:latin typeface="Segoe UI"/>
              </a:rPr>
              <a:t>— les dépendances entre étapes fixent un ordre d'exécution explicite.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50">
                <a:solidFill>
                  <a:srgbClr val="4FC3F7"/>
                </a:solidFill>
                <a:latin typeface="Segoe UI"/>
              </a:rPr>
              <a:t>— Reproductible </a:t>
            </a:r>
            <a:r>
              <a:rPr sz="1450">
                <a:solidFill>
                  <a:srgbClr val="E8EDF2"/>
                </a:solidFill>
                <a:latin typeface="Segoe UI"/>
              </a:rPr>
              <a:t>— mêmes entrées + mêmes paramètres → même sortie.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50">
                <a:solidFill>
                  <a:srgbClr val="4FC3F7"/>
                </a:solidFill>
                <a:latin typeface="Segoe UI"/>
              </a:rPr>
              <a:t>— Observable </a:t>
            </a:r>
            <a:r>
              <a:rPr sz="1450">
                <a:solidFill>
                  <a:srgbClr val="E8EDF2"/>
                </a:solidFill>
                <a:latin typeface="Segoe UI"/>
              </a:rPr>
              <a:t>— chaque étape produit une preuve (log, métrique, artefact).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50">
                <a:solidFill>
                  <a:srgbClr val="4FC3F7"/>
                </a:solidFill>
                <a:latin typeface="Segoe UI"/>
              </a:rPr>
              <a:t>— Défaillant tôt </a:t>
            </a:r>
            <a:r>
              <a:rPr sz="1450">
                <a:solidFill>
                  <a:srgbClr val="E8EDF2"/>
                </a:solidFill>
                <a:latin typeface="Segoe UI"/>
              </a:rPr>
              <a:t>— une étape échoue franchement plutôt que de propager un état invalide.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417320"/>
            <a:ext cx="5120640" cy="470916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61848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3A3B3"/>
                </a:solidFill>
                <a:latin typeface="Segoe UI"/>
              </a:rPr>
              <a:t>ANATOMIE GÉNÉRIQUE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039112"/>
            <a:ext cx="4480560" cy="6858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B08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112264"/>
            <a:ext cx="4261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Entrée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2386584"/>
            <a:ext cx="4261104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données brutes / événement</a:t>
            </a:r>
          </a:p>
        </p:txBody>
      </p:sp>
      <p:sp>
        <p:nvSpPr>
          <p:cNvPr id="14" name="Chevron 13"/>
          <p:cNvSpPr/>
          <p:nvPr/>
        </p:nvSpPr>
        <p:spPr>
          <a:xfrm>
            <a:off x="8915400" y="2706624"/>
            <a:ext cx="457200" cy="201168"/>
          </a:xfrm>
          <a:prstGeom prst="chevron">
            <a:avLst/>
          </a:prstGeom>
          <a:solidFill>
            <a:srgbClr val="B08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0" y="2862072"/>
            <a:ext cx="4480560" cy="6858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2935224"/>
            <a:ext cx="4261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Étape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3209544"/>
            <a:ext cx="4261104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validation / transformation</a:t>
            </a:r>
          </a:p>
        </p:txBody>
      </p:sp>
      <p:sp>
        <p:nvSpPr>
          <p:cNvPr id="18" name="Chevron 17"/>
          <p:cNvSpPr/>
          <p:nvPr/>
        </p:nvSpPr>
        <p:spPr>
          <a:xfrm>
            <a:off x="8915400" y="3529584"/>
            <a:ext cx="457200" cy="201168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0" y="3685032"/>
            <a:ext cx="4480560" cy="6858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3758184"/>
            <a:ext cx="4261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Étape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4032504"/>
            <a:ext cx="4261104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traitement métier</a:t>
            </a:r>
          </a:p>
        </p:txBody>
      </p:sp>
      <p:sp>
        <p:nvSpPr>
          <p:cNvPr id="22" name="Chevron 21"/>
          <p:cNvSpPr/>
          <p:nvPr/>
        </p:nvSpPr>
        <p:spPr>
          <a:xfrm>
            <a:off x="8915400" y="4352544"/>
            <a:ext cx="457200" cy="201168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0" y="4507992"/>
            <a:ext cx="4480560" cy="6858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7CE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4581144"/>
            <a:ext cx="4261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Étape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4855464"/>
            <a:ext cx="4261104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contrôle / agrégation</a:t>
            </a:r>
          </a:p>
        </p:txBody>
      </p:sp>
      <p:sp>
        <p:nvSpPr>
          <p:cNvPr id="26" name="Chevron 25"/>
          <p:cNvSpPr/>
          <p:nvPr/>
        </p:nvSpPr>
        <p:spPr>
          <a:xfrm>
            <a:off x="8915400" y="5175504"/>
            <a:ext cx="457200" cy="201168"/>
          </a:xfrm>
          <a:prstGeom prst="chevron">
            <a:avLst/>
          </a:prstGeom>
          <a:solidFill>
            <a:srgbClr val="7CE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0" y="5330952"/>
            <a:ext cx="4480560" cy="6858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F2B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67728" y="5404104"/>
            <a:ext cx="42611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Sortie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5678424"/>
            <a:ext cx="4261104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artefact, décision, métrique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980000"/>
            <a:ext cx="5577840" cy="4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4FC3F7"/>
                </a:solidFill>
                <a:latin typeface="Segoe UI"/>
              </a:rPr>
              <a:t>Précision — </a:t>
            </a:r>
            <a:r>
              <a:rPr sz="1300" b="0">
                <a:solidFill>
                  <a:srgbClr val="E8EDF2"/>
                </a:solidFill>
                <a:latin typeface="Segoe UI"/>
              </a:rPr>
              <a:t>un pipeline d'ingestion est un pipeline (même définition ci-dessus), borné à l'étape Entrée→Chargement : produire une donnée exploitable, pas encore une décision.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02 · POURQUOI ÇA COMPTE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04/17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Ce qu'un pipeline apporte — et ce qu'il coûte de ne pas en avoir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440680" cy="402336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15875">
            <a:solidFill>
              <a:srgbClr val="7CE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E38A"/>
                </a:solidFill>
                <a:latin typeface="Segoe UI"/>
              </a:rPr>
              <a:t>AVEC UN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49377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b="1" sz="1400">
                <a:solidFill>
                  <a:srgbClr val="4FC3F7"/>
                </a:solidFill>
                <a:latin typeface="Segoe UI"/>
              </a:rPr>
              <a:t>— Reproductibilité </a:t>
            </a:r>
            <a:r>
              <a:rPr sz="1400">
                <a:solidFill>
                  <a:srgbClr val="E8EDF2"/>
                </a:solidFill>
                <a:latin typeface="Segoe UI"/>
              </a:rPr>
              <a:t>rejouer une expérience ou un déploiement donne le même résultat.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b="1" sz="1400">
                <a:solidFill>
                  <a:srgbClr val="4FC3F7"/>
                </a:solidFill>
                <a:latin typeface="Segoe UI"/>
              </a:rPr>
              <a:t>— Vitesse de feedback </a:t>
            </a:r>
            <a:r>
              <a:rPr sz="1400">
                <a:solidFill>
                  <a:srgbClr val="E8EDF2"/>
                </a:solidFill>
                <a:latin typeface="Segoe UI"/>
              </a:rPr>
              <a:t>un échec est détecté à l'étape qui le cause, pas trois étapes plus loin.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b="1" sz="1400">
                <a:solidFill>
                  <a:srgbClr val="4FC3F7"/>
                </a:solidFill>
                <a:latin typeface="Segoe UI"/>
              </a:rPr>
              <a:t>— Traçabilité </a:t>
            </a:r>
            <a:r>
              <a:rPr sz="1400">
                <a:solidFill>
                  <a:srgbClr val="E8EDF2"/>
                </a:solidFill>
                <a:latin typeface="Segoe UI"/>
              </a:rPr>
              <a:t>logs, métadonnées et artefacts permettent d'expliquer un résultat a posteriori.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b="1" sz="1400">
                <a:solidFill>
                  <a:srgbClr val="4FC3F7"/>
                </a:solidFill>
                <a:latin typeface="Segoe UI"/>
              </a:rPr>
              <a:t>— Collaboration </a:t>
            </a:r>
            <a:r>
              <a:rPr sz="1400">
                <a:solidFill>
                  <a:srgbClr val="E8EDF2"/>
                </a:solidFill>
                <a:latin typeface="Segoe UI"/>
              </a:rPr>
              <a:t>une chaîne nommée et documentée remplace une procédure orale.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440680" cy="402336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15875"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6C75"/>
                </a:solidFill>
                <a:latin typeface="Segoe UI"/>
              </a:rPr>
              <a:t>SANS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9377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b="1" sz="1400">
                <a:solidFill>
                  <a:srgbClr val="4FC3F7"/>
                </a:solidFill>
                <a:latin typeface="Segoe UI"/>
              </a:rPr>
              <a:t>✕ Sans pipeline </a:t>
            </a:r>
            <a:r>
              <a:rPr sz="1400">
                <a:solidFill>
                  <a:srgbClr val="E8EDF2"/>
                </a:solidFill>
                <a:latin typeface="Segoe UI"/>
              </a:rPr>
              <a:t>chaque exécution dépend de la mémoire de la personne qui la lance.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b="1" sz="1400">
                <a:solidFill>
                  <a:srgbClr val="4FC3F7"/>
                </a:solidFill>
                <a:latin typeface="Segoe UI"/>
              </a:rPr>
              <a:t>✕ Dérive silencieuse </a:t>
            </a:r>
            <a:r>
              <a:rPr sz="1400">
                <a:solidFill>
                  <a:srgbClr val="E8EDF2"/>
                </a:solidFill>
                <a:latin typeface="Segoe UI"/>
              </a:rPr>
              <a:t>un changement de données ou de code casse la prod sans alerte.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b="1" sz="1400">
                <a:solidFill>
                  <a:srgbClr val="4FC3F7"/>
                </a:solidFill>
                <a:latin typeface="Segoe UI"/>
              </a:rPr>
              <a:t>✕ Dette de preuve </a:t>
            </a:r>
            <a:r>
              <a:rPr sz="1400">
                <a:solidFill>
                  <a:srgbClr val="E8EDF2"/>
                </a:solidFill>
                <a:latin typeface="Segoe UI"/>
              </a:rPr>
              <a:t>impossible de dire pourquoi un modèle ou un déploiement a changé.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b="1" sz="1400">
                <a:solidFill>
                  <a:srgbClr val="4FC3F7"/>
                </a:solidFill>
                <a:latin typeface="Segoe UI"/>
              </a:rPr>
              <a:t>✕ Risque de sécurité </a:t>
            </a:r>
            <a:r>
              <a:rPr sz="1400">
                <a:solidFill>
                  <a:srgbClr val="E8EDF2"/>
                </a:solidFill>
                <a:latin typeface="Segoe UI"/>
              </a:rPr>
              <a:t>des contrôles (auth, taille de payload) oubliés à une étape non formalisée.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03 · CARTOGRAPHIE INDUSENSE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05/17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6 pipelines identifiés dans le dépôt InduSense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1417320"/>
            <a:ext cx="82296" cy="76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0080" y="1417320"/>
            <a:ext cx="10881360" cy="760000"/>
          </a:xfrm>
          <a:prstGeom prst="roundRect">
            <a:avLst>
              <a:gd name="adj" fmla="val 4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152704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E8EDF2"/>
                </a:solidFill>
                <a:latin typeface="Segoe UI"/>
              </a:rPr>
              <a:t>Données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1847320"/>
            <a:ext cx="2103120" cy="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93A3B3"/>
                </a:solidFill>
                <a:latin typeface="Segoe UI"/>
              </a:rPr>
              <a:t>pipeline 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1607320"/>
            <a:ext cx="493776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E8EDF2"/>
                </a:solidFill>
                <a:latin typeface="Segoe UI"/>
              </a:rPr>
              <a:t>raw/ → features → gold_dataset.csv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1607320"/>
            <a:ext cx="32004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3B3"/>
                </a:solidFill>
                <a:latin typeface="Segoe UI"/>
              </a:rPr>
              <a:t>src/indusense/data, features, cli.py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2227320"/>
            <a:ext cx="82296" cy="760000"/>
          </a:xfrm>
          <a:prstGeom prst="rect">
            <a:avLst/>
          </a:prstGeom>
          <a:solidFill>
            <a:srgbClr val="7CE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0080" y="2227320"/>
            <a:ext cx="10881360" cy="760000"/>
          </a:xfrm>
          <a:prstGeom prst="roundRect">
            <a:avLst>
              <a:gd name="adj" fmla="val 4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233704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E8EDF2"/>
                </a:solidFill>
                <a:latin typeface="Segoe UI"/>
              </a:rPr>
              <a:t>ML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2657320"/>
            <a:ext cx="2103120" cy="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93A3B3"/>
                </a:solidFill>
                <a:latin typeface="Segoe UI"/>
              </a:rPr>
              <a:t>pipeline 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08960" y="2417320"/>
            <a:ext cx="493776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E8EDF2"/>
                </a:solidFill>
                <a:latin typeface="Segoe UI"/>
              </a:rPr>
              <a:t>gold → entraînement → artefact modèle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2417320"/>
            <a:ext cx="32004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3B3"/>
                </a:solidFill>
                <a:latin typeface="Segoe UI"/>
              </a:rPr>
              <a:t>src/indusense/models/tabular.py, cli.py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3037320"/>
            <a:ext cx="82296" cy="760000"/>
          </a:xfrm>
          <a:prstGeom prst="rect">
            <a:avLst/>
          </a:prstGeom>
          <a:solidFill>
            <a:srgbClr val="B08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40080" y="3037320"/>
            <a:ext cx="10881360" cy="760000"/>
          </a:xfrm>
          <a:prstGeom prst="roundRect">
            <a:avLst>
              <a:gd name="adj" fmla="val 4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314704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E8EDF2"/>
                </a:solidFill>
                <a:latin typeface="Segoe UI"/>
              </a:rPr>
              <a:t>Orchestration (Prefect)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" y="3467320"/>
            <a:ext cx="2103120" cy="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93A3B3"/>
                </a:solidFill>
                <a:latin typeface="Segoe UI"/>
              </a:rPr>
              <a:t>pipeline 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08960" y="3227320"/>
            <a:ext cx="493776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E8EDF2"/>
                </a:solidFill>
                <a:latin typeface="Segoe UI"/>
              </a:rPr>
              <a:t>gold + modèle (reprise) → predict → store, idempotent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3227320"/>
            <a:ext cx="32004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3B3"/>
                </a:solidFill>
                <a:latin typeface="Segoe UI"/>
              </a:rPr>
              <a:t>src/indusense/flows/predict_flow.py, flows/pipeline.py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3847320"/>
            <a:ext cx="82296" cy="760000"/>
          </a:xfrm>
          <a:prstGeom prst="rect">
            <a:avLst/>
          </a:prstGeom>
          <a:solidFill>
            <a:srgbClr val="F2B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40080" y="3847320"/>
            <a:ext cx="10881360" cy="760000"/>
          </a:xfrm>
          <a:prstGeom prst="roundRect">
            <a:avLst>
              <a:gd name="adj" fmla="val 4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8680" y="395704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E8EDF2"/>
                </a:solidFill>
                <a:latin typeface="Segoe UI"/>
              </a:rPr>
              <a:t>Inférence API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" y="4277320"/>
            <a:ext cx="2103120" cy="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93A3B3"/>
                </a:solidFill>
                <a:latin typeface="Segoe UI"/>
              </a:rPr>
              <a:t>pipeline 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08960" y="4037320"/>
            <a:ext cx="493776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E8EDF2"/>
                </a:solidFill>
                <a:latin typeface="Segoe UI"/>
              </a:rPr>
              <a:t>requête HTTP → sécurité → score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4037320"/>
            <a:ext cx="32004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3B3"/>
                </a:solidFill>
                <a:latin typeface="Segoe UI"/>
              </a:rPr>
              <a:t>src/indusense/api/*.py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4657320"/>
            <a:ext cx="82296" cy="760000"/>
          </a:xfrm>
          <a:prstGeom prst="rect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40080" y="4657320"/>
            <a:ext cx="10881360" cy="760000"/>
          </a:xfrm>
          <a:prstGeom prst="roundRect">
            <a:avLst>
              <a:gd name="adj" fmla="val 4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8680" y="476704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E8EDF2"/>
                </a:solidFill>
                <a:latin typeface="Segoe UI"/>
              </a:rPr>
              <a:t>CI (qualité)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80" y="5087320"/>
            <a:ext cx="2103120" cy="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93A3B3"/>
                </a:solidFill>
                <a:latin typeface="Segoe UI"/>
              </a:rPr>
              <a:t>pipeline 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08960" y="4847320"/>
            <a:ext cx="493776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E8EDF2"/>
                </a:solidFill>
                <a:latin typeface="Segoe UI"/>
              </a:rPr>
              <a:t>install → lint → format → tests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0" y="4847320"/>
            <a:ext cx="32004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3B3"/>
                </a:solidFill>
                <a:latin typeface="Segoe UI"/>
              </a:rPr>
              <a:t>.github/workflows/ci.yml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5467320"/>
            <a:ext cx="82296" cy="76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40080" y="5467320"/>
            <a:ext cx="10881360" cy="760000"/>
          </a:xfrm>
          <a:prstGeom prst="roundRect">
            <a:avLst>
              <a:gd name="adj" fmla="val 4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8680" y="557704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E8EDF2"/>
                </a:solidFill>
                <a:latin typeface="Segoe UI"/>
              </a:rPr>
              <a:t>Déploiement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8680" y="5897320"/>
            <a:ext cx="2103120" cy="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93A3B3"/>
                </a:solidFill>
                <a:latin typeface="Segoe UI"/>
              </a:rPr>
              <a:t>pipeline 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108960" y="5657320"/>
            <a:ext cx="493776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E8EDF2"/>
                </a:solidFill>
                <a:latin typeface="Segoe UI"/>
              </a:rPr>
              <a:t>build image → compose (api/prometheus/grafana)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9600" y="5657320"/>
            <a:ext cx="3200400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3B3"/>
                </a:solidFill>
                <a:latin typeface="Segoe UI"/>
              </a:rPr>
              <a:t>Dockerfile, compose.yaml, monitoring/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04 · PIPELINE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06/17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raw → gold : construire un dataset sans fuite temporelle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2084831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B08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581912"/>
            <a:ext cx="1865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Sources brutes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856232"/>
            <a:ext cx="1865375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capteurs_temperature.csv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capteurs_pression.tsv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releves_incidents.csv</a:t>
            </a:r>
          </a:p>
        </p:txBody>
      </p:sp>
      <p:sp>
        <p:nvSpPr>
          <p:cNvPr id="10" name="Chevron 9"/>
          <p:cNvSpPr/>
          <p:nvPr/>
        </p:nvSpPr>
        <p:spPr>
          <a:xfrm>
            <a:off x="2569463" y="2125980"/>
            <a:ext cx="182880" cy="182880"/>
          </a:xfrm>
          <a:prstGeom prst="chevron">
            <a:avLst/>
          </a:prstGeom>
          <a:solidFill>
            <a:srgbClr val="B08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52343" y="1508760"/>
            <a:ext cx="2084831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1" y="1581912"/>
            <a:ext cx="1865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Chargement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1" y="1856232"/>
            <a:ext cx="1865375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load_temperature / load_pressure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load_incidents (loaders.py)</a:t>
            </a:r>
          </a:p>
        </p:txBody>
      </p:sp>
      <p:sp>
        <p:nvSpPr>
          <p:cNvPr id="14" name="Chevron 13"/>
          <p:cNvSpPr/>
          <p:nvPr/>
        </p:nvSpPr>
        <p:spPr>
          <a:xfrm>
            <a:off x="4818886" y="2125980"/>
            <a:ext cx="182880" cy="182880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01766" y="1508760"/>
            <a:ext cx="2084831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11494" y="1581912"/>
            <a:ext cx="1865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Assemblage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4" y="1856232"/>
            <a:ext cx="1865375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build_dataset()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fenêtre incident: settings.incident_window_hours</a:t>
            </a:r>
          </a:p>
        </p:txBody>
      </p:sp>
      <p:sp>
        <p:nvSpPr>
          <p:cNvPr id="18" name="Chevron 17"/>
          <p:cNvSpPr/>
          <p:nvPr/>
        </p:nvSpPr>
        <p:spPr>
          <a:xfrm>
            <a:off x="7068309" y="2125980"/>
            <a:ext cx="182880" cy="182880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51189" y="1508760"/>
            <a:ext cx="2084831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7CE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17" y="1581912"/>
            <a:ext cx="1865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Features temporelles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17" y="1856232"/>
            <a:ext cx="1865375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add_temporal_features()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sans regarder le futur</a:t>
            </a:r>
          </a:p>
        </p:txBody>
      </p:sp>
      <p:sp>
        <p:nvSpPr>
          <p:cNvPr id="22" name="Chevron 21"/>
          <p:cNvSpPr/>
          <p:nvPr/>
        </p:nvSpPr>
        <p:spPr>
          <a:xfrm>
            <a:off x="9317732" y="2125980"/>
            <a:ext cx="182880" cy="182880"/>
          </a:xfrm>
          <a:prstGeom prst="chevron">
            <a:avLst/>
          </a:prstGeom>
          <a:solidFill>
            <a:srgbClr val="7CE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00612" y="1508760"/>
            <a:ext cx="2084831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F2B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10340" y="1581912"/>
            <a:ext cx="1865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Gold dataset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0340" y="1856232"/>
            <a:ext cx="1865375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dropna + reset_index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→ data/gold/gold_dataset.csv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246120"/>
            <a:ext cx="11155680" cy="1417320"/>
          </a:xfrm>
          <a:prstGeom prst="roundRect">
            <a:avLst>
              <a:gd name="adj" fmla="val 5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4290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93A3B3"/>
                </a:solidFill>
                <a:latin typeface="Segoe UI"/>
              </a:rPr>
              <a:t>COMMANDES CLI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767328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E8EDF2"/>
                </a:solidFill>
                <a:latin typeface="Segoe UI"/>
              </a:rPr>
              <a:t>indusense check-data   → contrôle santé (rows, machines, taux panne)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E8EDF2"/>
                </a:solidFill>
                <a:latin typeface="Segoe UI"/>
              </a:rPr>
              <a:t>indusense build-gold   → écrit le CSV gold, déterministe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429000"/>
            <a:ext cx="109728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42900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C75"/>
                </a:solidFill>
                <a:latin typeface="Segoe UI"/>
              </a:rPr>
              <a:t>ENJEU CLÉ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767328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8EDF2"/>
                </a:solidFill>
                <a:latin typeface="Segoe UI"/>
              </a:rPr>
              <a:t>Fuite de données temporelle : une feature calculée avec des informations du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8EDF2"/>
                </a:solidFill>
                <a:latin typeface="Segoe UI"/>
              </a:rPr>
              <a:t>futur fausserait l'évaluation. Les features sont bâties fenêtre par fenêtre,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E8EDF2"/>
                </a:solidFill>
                <a:latin typeface="Segoe UI"/>
              </a:rPr>
              <a:t>avant l'incident, jamais après.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05 · PIPELINE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07/17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train → artefact → predict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F2B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581912"/>
            <a:ext cx="2386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Gold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856232"/>
            <a:ext cx="2386584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dataset chargé + features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sélectionnées</a:t>
            </a:r>
          </a:p>
        </p:txBody>
      </p:sp>
      <p:sp>
        <p:nvSpPr>
          <p:cNvPr id="10" name="Chevron 9"/>
          <p:cNvSpPr/>
          <p:nvPr/>
        </p:nvSpPr>
        <p:spPr>
          <a:xfrm>
            <a:off x="3090672" y="2125980"/>
            <a:ext cx="182880" cy="182880"/>
          </a:xfrm>
          <a:prstGeom prst="chevron">
            <a:avLst/>
          </a:prstGeom>
          <a:solidFill>
            <a:srgbClr val="F2B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10128" y="1508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1581912"/>
            <a:ext cx="2386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Entraînement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1856232"/>
            <a:ext cx="2386584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train_model(x, y,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random_state=seed)</a:t>
            </a:r>
          </a:p>
        </p:txBody>
      </p:sp>
      <p:sp>
        <p:nvSpPr>
          <p:cNvPr id="14" name="Chevron 13"/>
          <p:cNvSpPr/>
          <p:nvPr/>
        </p:nvSpPr>
        <p:spPr>
          <a:xfrm>
            <a:off x="5897880" y="2125980"/>
            <a:ext cx="182880" cy="182880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17336" y="1508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7CE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581912"/>
            <a:ext cx="2386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Artefact + métadonnées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1856232"/>
            <a:ext cx="2386584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rf.joblib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model_metadata.json</a:t>
            </a:r>
          </a:p>
        </p:txBody>
      </p:sp>
      <p:sp>
        <p:nvSpPr>
          <p:cNvPr id="18" name="Chevron 17"/>
          <p:cNvSpPr/>
          <p:nvPr/>
        </p:nvSpPr>
        <p:spPr>
          <a:xfrm>
            <a:off x="8705088" y="2125980"/>
            <a:ext cx="182880" cy="182880"/>
          </a:xfrm>
          <a:prstGeom prst="chevron">
            <a:avLst/>
          </a:prstGeom>
          <a:solidFill>
            <a:srgbClr val="7CE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24544" y="1508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B08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4272" y="1581912"/>
            <a:ext cx="2386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856232"/>
            <a:ext cx="2386584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predict_proba()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sur la dernière obs/machine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246120"/>
            <a:ext cx="5440680" cy="2331720"/>
          </a:xfrm>
          <a:prstGeom prst="roundRect">
            <a:avLst>
              <a:gd name="adj" fmla="val 5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4290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93A3B3"/>
                </a:solidFill>
                <a:latin typeface="Segoe UI"/>
              </a:rPr>
              <a:t>MÉTADONNÉES CAPTURÉES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794760"/>
            <a:ext cx="48463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>
                <a:solidFill>
                  <a:srgbClr val="E8EDF2"/>
                </a:solidFill>
                <a:latin typeface="Segoe UI"/>
              </a:rPr>
              <a:t>— created_at, package_version, random_seed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>
                <a:solidFill>
                  <a:srgbClr val="E8EDF2"/>
                </a:solidFill>
                <a:latin typeface="Segoe UI"/>
              </a:rPr>
              <a:t>— target_col, features (liste des colonnes)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>
                <a:solidFill>
                  <a:srgbClr val="E8EDF2"/>
                </a:solidFill>
                <a:latin typeface="Segoe UI"/>
              </a:rPr>
              <a:t>— n_train_rows, panne_rate, dataset (chemin source)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246120"/>
            <a:ext cx="5440680" cy="2331720"/>
          </a:xfrm>
          <a:prstGeom prst="roundRect">
            <a:avLst>
              <a:gd name="adj" fmla="val 5000"/>
            </a:avLst>
          </a:prstGeom>
          <a:solidFill>
            <a:srgbClr val="171F29"/>
          </a:solidFill>
          <a:ln w="15875"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290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C75"/>
                </a:solidFill>
                <a:latin typeface="Segoe UI"/>
              </a:rPr>
              <a:t>ENJEUX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794760"/>
            <a:ext cx="48463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250">
                <a:solidFill>
                  <a:srgbClr val="4FC3F7"/>
                </a:solidFill>
                <a:latin typeface="Segoe UI"/>
              </a:rPr>
              <a:t>— Reproductibilité </a:t>
            </a:r>
            <a:r>
              <a:rPr sz="1250">
                <a:solidFill>
                  <a:srgbClr val="E8EDF2"/>
                </a:solidFill>
                <a:latin typeface="Segoe UI"/>
              </a:rPr>
              <a:t>graine fixée, mais pas encore de tracking d'expériences (MLflow) branché dans le code.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250">
                <a:solidFill>
                  <a:srgbClr val="4FC3F7"/>
                </a:solidFill>
                <a:latin typeface="Segoe UI"/>
              </a:rPr>
              <a:t>— Garde-fou predict </a:t>
            </a:r>
            <a:r>
              <a:rPr sz="1250">
                <a:solidFill>
                  <a:srgbClr val="E8EDF2"/>
                </a:solidFill>
                <a:latin typeface="Segoe UI"/>
              </a:rPr>
              <a:t>échec explicite si le modèle n'existe pas (`Run indusense train first`).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6000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4FC3F7"/>
                </a:solidFill>
                <a:latin typeface="Segoe UI"/>
              </a:rPr>
              <a:t>06 · PIPELINE ORCHESTRATION (PREFECT)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292608"/>
            <a:ext cx="640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93A3B3"/>
                </a:solidFill>
                <a:latin typeface="Segoe UI"/>
              </a:rPr>
              <a:t>08/17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E8EDF2"/>
                </a:solidFill>
                <a:latin typeface="Segoe UI"/>
              </a:rPr>
              <a:t>ingest → gold → modèle (reprise) → predict → store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581912"/>
            <a:ext cx="23865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E8EDF2"/>
                </a:solidFill>
                <a:latin typeface="Segoe UI"/>
              </a:rPr>
              <a:t>Gold dataset (cache)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856232"/>
            <a:ext cx="2386584" cy="996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93A3B3"/>
                </a:solidFill>
                <a:latin typeface="Segoe UI"/>
              </a:rPr>
              <a:t>build-gold-dataset — cache par empreinte fichier</a:t>
            </a:r>
          </a:p>
        </p:txBody>
      </p:sp>
      <p:sp>
        <p:nvSpPr>
          <p:cNvPr id="10" name="Chevron 9"/>
          <p:cNvSpPr/>
          <p:nvPr/>
        </p:nvSpPr>
        <p:spPr>
          <a:xfrm>
            <a:off x="3108960" y="2125980"/>
            <a:ext cx="182880" cy="182880"/>
          </a:xfrm>
          <a:prstGeom prst="chevron">
            <a:avLst>
              <a:gd name="adj" fmla="val 50000"/>
            </a:avLst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91840" y="1508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B08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1581912"/>
            <a:ext cx="23865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E8EDF2"/>
                </a:solidFill>
                <a:latin typeface="Segoe UI"/>
              </a:rPr>
              <a:t>Modèle (reprise)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1856232"/>
            <a:ext cx="2386584" cy="996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93A3B3"/>
                </a:solidFill>
                <a:latin typeface="Segoe UI"/>
              </a:rPr>
              <a:t>ensure-model — reprise si déjà entraîné</a:t>
            </a:r>
          </a:p>
        </p:txBody>
      </p:sp>
      <p:sp>
        <p:nvSpPr>
          <p:cNvPr id="14" name="Chevron 13"/>
          <p:cNvSpPr/>
          <p:nvPr/>
        </p:nvSpPr>
        <p:spPr>
          <a:xfrm>
            <a:off x="5897880" y="2125980"/>
            <a:ext cx="182880" cy="182880"/>
          </a:xfrm>
          <a:prstGeom prst="chevron">
            <a:avLst>
              <a:gd name="adj" fmla="val 50000"/>
            </a:avLst>
          </a:prstGeom>
          <a:solidFill>
            <a:srgbClr val="B08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80760" y="1508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7CE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1581912"/>
            <a:ext cx="23865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E8EDF2"/>
                </a:solidFill>
                <a:latin typeface="Segoe UI"/>
              </a:rPr>
              <a:t>Prédiction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1856232"/>
            <a:ext cx="2386584" cy="996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93A3B3"/>
                </a:solidFill>
                <a:latin typeface="Segoe UI"/>
              </a:rPr>
              <a:t>predict-latest — dernière observation/machine</a:t>
            </a:r>
          </a:p>
        </p:txBody>
      </p:sp>
      <p:sp>
        <p:nvSpPr>
          <p:cNvPr id="18" name="Chevron 17"/>
          <p:cNvSpPr/>
          <p:nvPr/>
        </p:nvSpPr>
        <p:spPr>
          <a:xfrm>
            <a:off x="8686800" y="2125980"/>
            <a:ext cx="182880" cy="182880"/>
          </a:xfrm>
          <a:prstGeom prst="chevron">
            <a:avLst>
              <a:gd name="adj" fmla="val 50000"/>
            </a:avLst>
          </a:prstGeom>
          <a:solidFill>
            <a:srgbClr val="7CE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69680" y="1508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F2B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79408" y="1581912"/>
            <a:ext cx="23865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E8EDF2"/>
                </a:solidFill>
                <a:latin typeface="Segoe UI"/>
              </a:rPr>
              <a:t>Stockage (upsert)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1856232"/>
            <a:ext cx="2386584" cy="996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93A3B3"/>
                </a:solidFill>
                <a:latin typeface="Segoe UI"/>
              </a:rPr>
              <a:t>store-predictions — idempotent, SQLite ou Postgres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246120"/>
            <a:ext cx="5440680" cy="2331720"/>
          </a:xfrm>
          <a:prstGeom prst="roundRect">
            <a:avLst>
              <a:gd name="adj" fmla="val 5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42900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93A3B3"/>
                </a:solidFill>
                <a:latin typeface="Segoe UI"/>
              </a:rPr>
              <a:t>COMMANDES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794760"/>
            <a:ext cx="48463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E8EDF2"/>
                </a:solidFill>
                <a:latin typeface="Consolas"/>
              </a:rPr>
              <a:t>uv run --frozen python flows/pipeline.py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E8EDF2"/>
                </a:solidFill>
                <a:latin typeface="Consolas"/>
              </a:rPr>
              <a:t>uv run --frozen python scripts/demo_prefect_idempotence.py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E8EDF2"/>
                </a:solidFill>
                <a:latin typeface="Consolas"/>
              </a:rPr>
              <a:t>docker compose run --rm --no-deps api python -m indusense.flows.predict_flow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246120"/>
            <a:ext cx="5440680" cy="2331720"/>
          </a:xfrm>
          <a:prstGeom prst="roundRect">
            <a:avLst>
              <a:gd name="adj" fmla="val 5000"/>
            </a:avLst>
          </a:prstGeom>
          <a:solidFill>
            <a:srgbClr val="171F29"/>
          </a:solidFill>
          <a:ln w="15875"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2900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E06C75"/>
                </a:solidFill>
                <a:latin typeface="Segoe UI"/>
              </a:rPr>
              <a:t>ENJEUX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794760"/>
            <a:ext cx="48463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4FC3F7"/>
                </a:solidFill>
                <a:latin typeface="Segoe UI"/>
              </a:rPr>
              <a:t>— Cache par conteneur </a:t>
            </a:r>
            <a:r>
              <a:rPr sz="1250" b="0">
                <a:solidFill>
                  <a:srgbClr val="E8EDF2"/>
                </a:solidFill>
                <a:latin typeface="Segoe UI"/>
              </a:rPr>
              <a:t>le cache Prefect ne survit pas d'un docker compose run jetable à l'autre (profil éphémère, attendu).</a:t>
            </a:r>
          </a:p>
          <a:p>
            <a:pPr>
              <a:spcBef>
                <a:spcPts val="1000"/>
              </a:spcBef>
            </a:pPr>
            <a:r>
              <a:rPr sz="1250" b="1">
                <a:solidFill>
                  <a:srgbClr val="4FC3F7"/>
                </a:solidFill>
                <a:latin typeface="Segoe UI"/>
              </a:rPr>
              <a:t>— Idempotence prouvée </a:t>
            </a:r>
            <a:r>
              <a:rPr sz="1250" b="0">
                <a:solidFill>
                  <a:srgbClr val="E8EDF2"/>
                </a:solidFill>
                <a:latin typeface="Segoe UI"/>
              </a:rPr>
              <a:t>même upsert SQL sur SQLite et PostgreSQL ; deux exécutions consécutives laissent le même nombre de lignes.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51052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93A3B3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07 · PIPELINE INFÉRENCE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09/17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Une requête /predict-tabular traverse sa propre chaîne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2084831" cy="13716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B08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536192"/>
            <a:ext cx="1865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Requête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810512"/>
            <a:ext cx="1865375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POST /predict-tabular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+ X-API-Key</a:t>
            </a:r>
          </a:p>
        </p:txBody>
      </p:sp>
      <p:sp>
        <p:nvSpPr>
          <p:cNvPr id="10" name="Chevron 9"/>
          <p:cNvSpPr/>
          <p:nvPr/>
        </p:nvSpPr>
        <p:spPr>
          <a:xfrm>
            <a:off x="2569463" y="2057400"/>
            <a:ext cx="182880" cy="182880"/>
          </a:xfrm>
          <a:prstGeom prst="chevron">
            <a:avLst/>
          </a:prstGeom>
          <a:solidFill>
            <a:srgbClr val="B08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52343" y="1463040"/>
            <a:ext cx="2084831" cy="13716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1" y="1536192"/>
            <a:ext cx="1865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Sécurité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1" y="1810512"/>
            <a:ext cx="1865375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auth clé API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rate limit, taille payload</a:t>
            </a:r>
          </a:p>
        </p:txBody>
      </p:sp>
      <p:sp>
        <p:nvSpPr>
          <p:cNvPr id="14" name="Chevron 13"/>
          <p:cNvSpPr/>
          <p:nvPr/>
        </p:nvSpPr>
        <p:spPr>
          <a:xfrm>
            <a:off x="4818886" y="2057400"/>
            <a:ext cx="182880" cy="182880"/>
          </a:xfrm>
          <a:prstGeom prst="chevron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01766" y="1463040"/>
            <a:ext cx="2084831" cy="13716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11494" y="1536192"/>
            <a:ext cx="1865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4" y="1810512"/>
            <a:ext cx="1865375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schéma Pydantic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normalize_machine_id</a:t>
            </a:r>
          </a:p>
        </p:txBody>
      </p:sp>
      <p:sp>
        <p:nvSpPr>
          <p:cNvPr id="18" name="Chevron 17"/>
          <p:cNvSpPr/>
          <p:nvPr/>
        </p:nvSpPr>
        <p:spPr>
          <a:xfrm>
            <a:off x="7068309" y="2057400"/>
            <a:ext cx="182880" cy="182880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51189" y="1463040"/>
            <a:ext cx="2084831" cy="13716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17" y="1536192"/>
            <a:ext cx="1865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17" y="1810512"/>
            <a:ext cx="1865375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features temporelles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sélection colonnes</a:t>
            </a:r>
          </a:p>
        </p:txBody>
      </p:sp>
      <p:sp>
        <p:nvSpPr>
          <p:cNvPr id="22" name="Chevron 21"/>
          <p:cNvSpPr/>
          <p:nvPr/>
        </p:nvSpPr>
        <p:spPr>
          <a:xfrm>
            <a:off x="9317732" y="2057400"/>
            <a:ext cx="182880" cy="182880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00612" y="1463040"/>
            <a:ext cx="2084831" cy="137160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7CE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10340" y="1536192"/>
            <a:ext cx="18653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0340" y="1810512"/>
            <a:ext cx="1865375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predict_proba()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+ réponse JSON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154680"/>
            <a:ext cx="11155680" cy="1600200"/>
          </a:xfrm>
          <a:prstGeom prst="roundRect">
            <a:avLst>
              <a:gd name="adj" fmla="val 5000"/>
            </a:avLst>
          </a:prstGeom>
          <a:solidFill>
            <a:srgbClr val="171F29"/>
          </a:solidFill>
          <a:ln w="15875"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31012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C75"/>
                </a:solidFill>
                <a:latin typeface="Segoe UI"/>
              </a:rPr>
              <a:t>MENACES STRIDE COUVERTES (threat_model.md)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65760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4FC3F7"/>
                </a:solidFill>
                <a:latin typeface="Segoe UI"/>
              </a:rPr>
              <a:t>— Spoofing </a:t>
            </a:r>
            <a:r>
              <a:rPr sz="1200">
                <a:solidFill>
                  <a:srgbClr val="E8EDF2"/>
                </a:solidFill>
                <a:latin typeface="Segoe UI"/>
              </a:rPr>
              <a:t>clé API absente/fausse → 401.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4FC3F7"/>
                </a:solidFill>
                <a:latin typeface="Segoe UI"/>
              </a:rPr>
              <a:t>— Tampering </a:t>
            </a:r>
            <a:r>
              <a:rPr sz="1200">
                <a:solidFill>
                  <a:srgbClr val="E8EDF2"/>
                </a:solidFill>
                <a:latin typeface="Segoe UI"/>
              </a:rPr>
              <a:t>payload malformé, machine_id invalide, historique trop court → 422.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4FC3F7"/>
                </a:solidFill>
                <a:latin typeface="Segoe UI"/>
              </a:rPr>
              <a:t>— DoS </a:t>
            </a:r>
            <a:r>
              <a:rPr sz="1200">
                <a:solidFill>
                  <a:srgbClr val="E8EDF2"/>
                </a:solidFill>
                <a:latin typeface="Segoe UI"/>
              </a:rPr>
              <a:t>corps &gt; 64 Ko → 413 ; &gt; 60 req/min/IP → 429 (limite: état en mémoire, non distribué).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8920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F2B64B"/>
                </a:solidFill>
                <a:latin typeface="Segoe UI"/>
              </a:rPr>
              <a:t>Risque résiduel assumé : pas d'audit logging structuré (qui a appelé quoi, quand) — seulement un</a:t>
            </a:r>
          </a:p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F2B64B"/>
                </a:solidFill>
                <a:latin typeface="Segoe UI"/>
              </a:rPr>
              <a:t>X-Request-ID de corrélation technique. Statut documenté : « Planifié v0 ».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08 · PIPELINE CI (INTÉGRATION CONTINUE)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10/17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install → lint → format →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1755648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B08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581912"/>
            <a:ext cx="1536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Checkout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856232"/>
            <a:ext cx="1536192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actions/checkout@v4</a:t>
            </a:r>
          </a:p>
        </p:txBody>
      </p:sp>
      <p:sp>
        <p:nvSpPr>
          <p:cNvPr id="10" name="Chevron 9"/>
          <p:cNvSpPr/>
          <p:nvPr/>
        </p:nvSpPr>
        <p:spPr>
          <a:xfrm>
            <a:off x="2249424" y="2125980"/>
            <a:ext cx="128016" cy="182880"/>
          </a:xfrm>
          <a:prstGeom prst="chevron">
            <a:avLst/>
          </a:prstGeom>
          <a:solidFill>
            <a:srgbClr val="B08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77440" y="1508760"/>
            <a:ext cx="1755648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87168" y="1581912"/>
            <a:ext cx="1536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1856232"/>
            <a:ext cx="1536192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Python 3.13 + uv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(astral-sh/setup-uv)</a:t>
            </a:r>
          </a:p>
        </p:txBody>
      </p:sp>
      <p:sp>
        <p:nvSpPr>
          <p:cNvPr id="14" name="Chevron 13"/>
          <p:cNvSpPr/>
          <p:nvPr/>
        </p:nvSpPr>
        <p:spPr>
          <a:xfrm>
            <a:off x="4123944" y="2125980"/>
            <a:ext cx="128016" cy="182880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51960" y="1508760"/>
            <a:ext cx="1755648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1688" y="1581912"/>
            <a:ext cx="1536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Install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1856232"/>
            <a:ext cx="1536192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uv sync --extra dev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(verrou uv.lock)</a:t>
            </a:r>
          </a:p>
        </p:txBody>
      </p:sp>
      <p:sp>
        <p:nvSpPr>
          <p:cNvPr id="18" name="Chevron 17"/>
          <p:cNvSpPr/>
          <p:nvPr/>
        </p:nvSpPr>
        <p:spPr>
          <a:xfrm>
            <a:off x="5998464" y="2125980"/>
            <a:ext cx="128016" cy="182880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26480" y="1508760"/>
            <a:ext cx="1755648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F2B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1581912"/>
            <a:ext cx="1536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Lint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1856232"/>
            <a:ext cx="1536192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ruff check .</a:t>
            </a:r>
          </a:p>
        </p:txBody>
      </p:sp>
      <p:sp>
        <p:nvSpPr>
          <p:cNvPr id="22" name="Chevron 21"/>
          <p:cNvSpPr/>
          <p:nvPr/>
        </p:nvSpPr>
        <p:spPr>
          <a:xfrm>
            <a:off x="7872984" y="2125980"/>
            <a:ext cx="128016" cy="182880"/>
          </a:xfrm>
          <a:prstGeom prst="chevron">
            <a:avLst/>
          </a:prstGeom>
          <a:solidFill>
            <a:srgbClr val="F2B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01000" y="1508760"/>
            <a:ext cx="1755648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F2B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0728" y="1581912"/>
            <a:ext cx="1536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Format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0728" y="1856232"/>
            <a:ext cx="1536192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black --check .</a:t>
            </a:r>
          </a:p>
        </p:txBody>
      </p:sp>
      <p:sp>
        <p:nvSpPr>
          <p:cNvPr id="26" name="Chevron 25"/>
          <p:cNvSpPr/>
          <p:nvPr/>
        </p:nvSpPr>
        <p:spPr>
          <a:xfrm>
            <a:off x="9747504" y="2125980"/>
            <a:ext cx="128016" cy="182880"/>
          </a:xfrm>
          <a:prstGeom prst="chevron">
            <a:avLst/>
          </a:prstGeom>
          <a:solidFill>
            <a:srgbClr val="F2B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75520" y="1508760"/>
            <a:ext cx="1755648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7CE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85248" y="1581912"/>
            <a:ext cx="1536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Tests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85248" y="1856232"/>
            <a:ext cx="1536192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pytest -q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246120"/>
            <a:ext cx="5440680" cy="2331720"/>
          </a:xfrm>
          <a:prstGeom prst="roundRect">
            <a:avLst>
              <a:gd name="adj" fmla="val 5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4290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93A3B3"/>
                </a:solidFill>
                <a:latin typeface="Segoe UI"/>
              </a:rPr>
              <a:t>DÉCLENCHEURS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794760"/>
            <a:ext cx="48463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>
                <a:solidFill>
                  <a:srgbClr val="E8EDF2"/>
                </a:solidFill>
                <a:latin typeface="Segoe UI"/>
              </a:rPr>
              <a:t>— push sur main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>
                <a:solidFill>
                  <a:srgbClr val="E8EDF2"/>
                </a:solidFill>
                <a:latin typeface="Segoe UI"/>
              </a:rPr>
              <a:t>— toute pull_request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>
                <a:solidFill>
                  <a:srgbClr val="E8EDF2"/>
                </a:solidFill>
                <a:latin typeface="Segoe UI"/>
              </a:rPr>
              <a:t>— arrêt à la première étape en échec (fail fast)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246120"/>
            <a:ext cx="5440680" cy="2331720"/>
          </a:xfrm>
          <a:prstGeom prst="roundRect">
            <a:avLst>
              <a:gd name="adj" fmla="val 5000"/>
            </a:avLst>
          </a:prstGeom>
          <a:solidFill>
            <a:srgbClr val="171F29"/>
          </a:solidFill>
          <a:ln w="15875"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4290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C75"/>
                </a:solidFill>
                <a:latin typeface="Segoe UI"/>
              </a:rPr>
              <a:t>LIMITE ASSUMÉE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794760"/>
            <a:ext cx="49377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DF2"/>
                </a:solidFill>
                <a:latin typeface="Segoe UI"/>
              </a:rPr>
              <a:t>« Une CI verte ne prouve que les contrôles écrits ; elle ne remplace ni la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DF2"/>
                </a:solidFill>
                <a:latin typeface="Segoe UI"/>
              </a:rPr>
              <a:t>revue ni les tests métier. » (commentaire pédagogique du dépôt)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DF2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DF2"/>
                </a:solidFill>
                <a:latin typeface="Segoe UI"/>
              </a:rPr>
              <a:t>Aucun job de build/déploiement d'image dans cette CI à ce stade.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09 · PIPELINE DÉPLOIEMENT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11/17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build image → compose : démarrage ordonné par healthcheck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B08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581912"/>
            <a:ext cx="2386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856232"/>
            <a:ext cx="2386584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docker build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image indusense</a:t>
            </a:r>
          </a:p>
        </p:txBody>
      </p:sp>
      <p:sp>
        <p:nvSpPr>
          <p:cNvPr id="10" name="Chevron 9"/>
          <p:cNvSpPr/>
          <p:nvPr/>
        </p:nvSpPr>
        <p:spPr>
          <a:xfrm>
            <a:off x="3090672" y="2125980"/>
            <a:ext cx="182880" cy="182880"/>
          </a:xfrm>
          <a:prstGeom prst="chevron">
            <a:avLst/>
          </a:prstGeom>
          <a:solidFill>
            <a:srgbClr val="B08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10128" y="1508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1581912"/>
            <a:ext cx="2386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1856232"/>
            <a:ext cx="2386584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conteneur api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HEALTHCHECK GET /health</a:t>
            </a:r>
          </a:p>
        </p:txBody>
      </p:sp>
      <p:sp>
        <p:nvSpPr>
          <p:cNvPr id="14" name="Chevron 13"/>
          <p:cNvSpPr/>
          <p:nvPr/>
        </p:nvSpPr>
        <p:spPr>
          <a:xfrm>
            <a:off x="5897880" y="2125980"/>
            <a:ext cx="182880" cy="182880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17336" y="1508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F2B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581912"/>
            <a:ext cx="2386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Prometheus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1856232"/>
            <a:ext cx="2386584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attend api: service_healthy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scrape /metrics</a:t>
            </a:r>
          </a:p>
        </p:txBody>
      </p:sp>
      <p:sp>
        <p:nvSpPr>
          <p:cNvPr id="18" name="Chevron 17"/>
          <p:cNvSpPr/>
          <p:nvPr/>
        </p:nvSpPr>
        <p:spPr>
          <a:xfrm>
            <a:off x="8705088" y="2125980"/>
            <a:ext cx="182880" cy="182880"/>
          </a:xfrm>
          <a:prstGeom prst="chevron">
            <a:avLst/>
          </a:prstGeom>
          <a:solidFill>
            <a:srgbClr val="F2B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24544" y="15087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7CE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4272" y="1581912"/>
            <a:ext cx="2386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Grafana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856232"/>
            <a:ext cx="2386584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attend prometheus: service_healthy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datasource provisionnée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246120"/>
            <a:ext cx="5440680" cy="2331720"/>
          </a:xfrm>
          <a:prstGeom prst="roundRect">
            <a:avLst>
              <a:gd name="adj" fmla="val 5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4290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93A3B3"/>
                </a:solidFill>
                <a:latin typeface="Segoe UI"/>
              </a:rPr>
              <a:t>POURQUOI service_healthy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794760"/>
            <a:ext cx="48463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DF2"/>
                </a:solidFill>
                <a:latin typeface="Segoe UI"/>
              </a:rPr>
              <a:t>« démarré » (process lancé) ≠ « prêt » (healthcheck au vert).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DF2"/>
                </a:solidFill>
                <a:latin typeface="Segoe UI"/>
              </a:rPr>
              <a:t>depends_on seul n'attend que le démarrage du conteneur amont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DF2"/>
                </a:solidFill>
                <a:latin typeface="Segoe UI"/>
              </a:rPr>
              <a:t>→ race condition classique.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DF2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E8EDF2"/>
                </a:solidFill>
                <a:latin typeface="Segoe UI"/>
              </a:rPr>
              <a:t>condition: service_healthy fait attendre la disponibilité réelle.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246120"/>
            <a:ext cx="5440680" cy="2331720"/>
          </a:xfrm>
          <a:prstGeom prst="roundRect">
            <a:avLst>
              <a:gd name="adj" fmla="val 5000"/>
            </a:avLst>
          </a:prstGeom>
          <a:solidFill>
            <a:srgbClr val="171F29"/>
          </a:solidFill>
          <a:ln w="15875"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4290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6C75"/>
                </a:solidFill>
                <a:latin typeface="Segoe UI"/>
              </a:rPr>
              <a:t>PREUVE ATTENDUE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794760"/>
            <a:ext cx="48463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50">
                <a:solidFill>
                  <a:srgbClr val="E8EDF2"/>
                </a:solidFill>
                <a:latin typeface="Segoe UI"/>
              </a:rPr>
              <a:t>— docker compose ps → 3 services healthy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50">
                <a:solidFill>
                  <a:srgbClr val="E8EDF2"/>
                </a:solidFill>
                <a:latin typeface="Segoe UI"/>
              </a:rPr>
              <a:t>— 1er scrape Prometheus vers l'API ne doit jamais échouer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50">
                <a:solidFill>
                  <a:srgbClr val="E8EDF2"/>
                </a:solidFill>
                <a:latin typeface="Segoe UI"/>
              </a:rPr>
              <a:t>— volumes nommés (prometheus_data, grafana_data) survivent à down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10 · VUE D'ENSEMBLE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12/17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Schéma des liens entre les 6 pipelines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155680" cy="3977639"/>
          </a:xfrm>
          <a:prstGeom prst="roundRect">
            <a:avLst>
              <a:gd name="adj" fmla="val 5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179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93A3B3"/>
                </a:solidFill>
                <a:latin typeface="Segoe UI"/>
              </a:rPr>
              <a:t>GRAPHE DE DÉPENDANCES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37360"/>
            <a:ext cx="7772400" cy="530352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F2B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10512"/>
            <a:ext cx="75529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2"/>
                </a:solidFill>
                <a:latin typeface="Segoe UI"/>
              </a:rPr>
              <a:t>CI (qualité)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84832"/>
            <a:ext cx="755294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3B3"/>
                </a:solidFill>
                <a:latin typeface="Segoe UI"/>
              </a:rPr>
              <a:t>lint · format · tests — valide le code en continu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69748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770632"/>
            <a:ext cx="2157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Données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044952"/>
            <a:ext cx="2157984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raw → gold_dataset.csv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269748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7CE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2770632"/>
            <a:ext cx="2157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3044952"/>
            <a:ext cx="2157984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gold → modèle .joblib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69748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B08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2770632"/>
            <a:ext cx="2157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Inférence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3044952"/>
            <a:ext cx="2157984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modèle → score /predict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2697480"/>
            <a:ext cx="2377440" cy="86868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25128" y="2770632"/>
            <a:ext cx="2157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8EDF2"/>
                </a:solidFill>
                <a:latin typeface="Segoe UI"/>
              </a:rPr>
              <a:t>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3044952"/>
            <a:ext cx="2157984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93A3B3"/>
                </a:solidFill>
                <a:latin typeface="Segoe UI"/>
              </a:rPr>
              <a:t>Prometheus / Grafana</a:t>
            </a:r>
          </a:p>
        </p:txBody>
      </p:sp>
      <p:sp>
        <p:nvSpPr>
          <p:cNvPr id="24" name="Chevron 23"/>
          <p:cNvSpPr/>
          <p:nvPr/>
        </p:nvSpPr>
        <p:spPr>
          <a:xfrm>
            <a:off x="3218688" y="3031236"/>
            <a:ext cx="283464" cy="201168"/>
          </a:xfrm>
          <a:prstGeom prst="chevron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evron 24"/>
          <p:cNvSpPr/>
          <p:nvPr/>
        </p:nvSpPr>
        <p:spPr>
          <a:xfrm>
            <a:off x="5916168" y="3031236"/>
            <a:ext cx="283464" cy="201168"/>
          </a:xfrm>
          <a:prstGeom prst="chevron">
            <a:avLst/>
          </a:prstGeom>
          <a:solidFill>
            <a:srgbClr val="7CE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evron 25"/>
          <p:cNvSpPr/>
          <p:nvPr/>
        </p:nvSpPr>
        <p:spPr>
          <a:xfrm>
            <a:off x="8613648" y="3031236"/>
            <a:ext cx="283464" cy="201168"/>
          </a:xfrm>
          <a:prstGeom prst="chevron">
            <a:avLst/>
          </a:prstGeom>
          <a:solidFill>
            <a:srgbClr val="B08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2011680" y="2267712"/>
            <a:ext cx="0" cy="429768"/>
          </a:xfrm>
          <a:prstGeom prst="line">
            <a:avLst/>
          </a:prstGeom>
          <a:ln w="19050">
            <a:solidFill>
              <a:srgbClr val="F2B6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709160" y="2267712"/>
            <a:ext cx="0" cy="429768"/>
          </a:xfrm>
          <a:prstGeom prst="line">
            <a:avLst/>
          </a:prstGeom>
          <a:ln w="19050">
            <a:solidFill>
              <a:srgbClr val="F2B6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406640" y="2267712"/>
            <a:ext cx="0" cy="429768"/>
          </a:xfrm>
          <a:prstGeom prst="line">
            <a:avLst/>
          </a:prstGeom>
          <a:ln w="19050">
            <a:solidFill>
              <a:srgbClr val="F2B64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217920" y="3977639"/>
            <a:ext cx="5074920" cy="548640"/>
          </a:xfrm>
          <a:prstGeom prst="roundRect">
            <a:avLst>
              <a:gd name="adj" fmla="val 12000"/>
            </a:avLst>
          </a:prstGeom>
          <a:solidFill>
            <a:srgbClr val="1D2733"/>
          </a:solidFill>
          <a:ln w="15875"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8" y="4050791"/>
            <a:ext cx="48554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2"/>
                </a:solidFill>
                <a:latin typeface="Segoe UI"/>
              </a:rPr>
              <a:t>Déploiement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4325111"/>
            <a:ext cx="485546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3B3"/>
                </a:solidFill>
                <a:latin typeface="Segoe UI"/>
              </a:rPr>
              <a:t>build image → compose up (healthcheck)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7406640" y="3566160"/>
            <a:ext cx="0" cy="411479"/>
          </a:xfrm>
          <a:prstGeom prst="line">
            <a:avLst/>
          </a:prstGeom>
          <a:ln w="19050">
            <a:solidFill>
              <a:srgbClr val="E06C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0104120" y="3566160"/>
            <a:ext cx="0" cy="411479"/>
          </a:xfrm>
          <a:prstGeom prst="line">
            <a:avLst/>
          </a:prstGeom>
          <a:ln w="19050">
            <a:solidFill>
              <a:srgbClr val="E06C7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502920" y="5541263"/>
            <a:ext cx="91440" cy="91440"/>
          </a:xfrm>
          <a:prstGeom prst="ellipse">
            <a:avLst/>
          </a:prstGeom>
          <a:solidFill>
            <a:srgbClr val="F2B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5486399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3A3B3"/>
                </a:solidFill>
                <a:latin typeface="Segoe UI"/>
              </a:rPr>
              <a:t>CI → Données/ML/API — valide le code avant toute exécution</a:t>
            </a:r>
          </a:p>
        </p:txBody>
      </p:sp>
      <p:sp>
        <p:nvSpPr>
          <p:cNvPr id="37" name="Oval 36"/>
          <p:cNvSpPr/>
          <p:nvPr/>
        </p:nvSpPr>
        <p:spPr>
          <a:xfrm>
            <a:off x="6080760" y="5541263"/>
            <a:ext cx="91440" cy="91440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81928" y="5486399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3A3B3"/>
                </a:solidFill>
                <a:latin typeface="Segoe UI"/>
              </a:rPr>
              <a:t>Déploiement → API/Monitoring — empaquette et démarre dans l'ordre (service_healthy)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12</a:t>
            </a:r>
          </a:p>
        </p:txBody>
      </p:sp>
      <p:sp>
        <p:nvSpPr>
          <p:cNvPr id="41" name="Oval 40"/>
          <p:cNvSpPr/>
          <p:nvPr/>
        </p:nvSpPr>
        <p:spPr>
          <a:xfrm>
            <a:off x="502920" y="5943503"/>
            <a:ext cx="91440" cy="91440"/>
          </a:xfrm>
          <a:prstGeom prst="ellipse">
            <a:avLst/>
          </a:prstGeom>
          <a:solidFill>
            <a:srgbClr val="B08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" y="5888639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E8EDF2"/>
                </a:solidFill>
                <a:latin typeface="Segoe UI"/>
              </a:rPr>
              <a:t>Orchestration (Prefect) — comment elle s'articule avec Données/ML/Déploiement : détail diapositive suivante.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10 · ENJEUX TRANSVERSES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14/17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Ce qui reste fragile — à surveiller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82296" cy="749808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749808"/>
          </a:xfrm>
          <a:prstGeom prst="roundRect">
            <a:avLst>
              <a:gd name="adj" fmla="val 3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9047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2"/>
                </a:solidFill>
                <a:latin typeface="Segoe UI"/>
              </a:rPr>
              <a:t>Fuite de données temporelle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1965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FC3F7"/>
                </a:solidFill>
                <a:latin typeface="Segoe UI"/>
              </a:rPr>
              <a:t>Données/ML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563624"/>
            <a:ext cx="7132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3B3"/>
                </a:solidFill>
                <a:latin typeface="Segoe UI"/>
              </a:rPr>
              <a:t>Features calculées avant l'incident, jamais après — à re-vérifier à chaque ajout de source.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12848"/>
            <a:ext cx="82296" cy="749808"/>
          </a:xfrm>
          <a:prstGeom prst="rect">
            <a:avLst/>
          </a:prstGeom>
          <a:solidFill>
            <a:srgbClr val="F2B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2212848"/>
            <a:ext cx="10881360" cy="749808"/>
          </a:xfrm>
          <a:prstGeom prst="roundRect">
            <a:avLst>
              <a:gd name="adj" fmla="val 3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2"/>
                </a:solidFill>
                <a:latin typeface="Segoe UI"/>
              </a:rPr>
              <a:t>Reproductibilité ML partielle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61518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64B"/>
                </a:solidFill>
                <a:latin typeface="Segoe UI"/>
              </a:rPr>
              <a:t>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359152"/>
            <a:ext cx="7132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3B3"/>
                </a:solidFill>
                <a:latin typeface="Segoe UI"/>
              </a:rPr>
              <a:t>Graine fixée + métadonnées JSON, mais pas de tracking d'expériences outillé (MLflow non branché dans le code).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08376"/>
            <a:ext cx="82296" cy="749808"/>
          </a:xfrm>
          <a:prstGeom prst="rect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008376"/>
            <a:ext cx="10881360" cy="749808"/>
          </a:xfrm>
          <a:prstGeom prst="roundRect">
            <a:avLst>
              <a:gd name="adj" fmla="val 3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08152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2"/>
                </a:solidFill>
                <a:latin typeface="Segoe UI"/>
              </a:rPr>
              <a:t>Audit logging absent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41071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06C75"/>
                </a:solidFill>
                <a:latin typeface="Segoe UI"/>
              </a:rPr>
              <a:t>Inférence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154680"/>
            <a:ext cx="7132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3B3"/>
                </a:solidFill>
                <a:latin typeface="Segoe UI"/>
              </a:rPr>
              <a:t>Aucune preuve structurée de qui a appelé quoi/quand ; seulement un ID de corrélation. Statut: planifié v0.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803904"/>
            <a:ext cx="82296" cy="749808"/>
          </a:xfrm>
          <a:prstGeom prst="rect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3803904"/>
            <a:ext cx="10881360" cy="749808"/>
          </a:xfrm>
          <a:prstGeom prst="roundRect">
            <a:avLst>
              <a:gd name="adj" fmla="val 3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877056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2"/>
                </a:solidFill>
                <a:latin typeface="Segoe UI"/>
              </a:rPr>
              <a:t>Rate limit non distribué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20624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06C75"/>
                </a:solidFill>
                <a:latin typeface="Segoe UI"/>
              </a:rPr>
              <a:t>Inférence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3950208"/>
            <a:ext cx="7132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3B3"/>
                </a:solidFill>
                <a:latin typeface="Segoe UI"/>
              </a:rPr>
              <a:t>Compteur en mémoire par processus — contournable derrière plusieurs instances.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599432"/>
            <a:ext cx="82296" cy="749808"/>
          </a:xfrm>
          <a:prstGeom prst="rect">
            <a:avLst/>
          </a:prstGeom>
          <a:solidFill>
            <a:srgbClr val="F2B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4599432"/>
            <a:ext cx="10881360" cy="749808"/>
          </a:xfrm>
          <a:prstGeom prst="roundRect">
            <a:avLst>
              <a:gd name="adj" fmla="val 3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67258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2"/>
                </a:solidFill>
                <a:latin typeface="Segoe UI"/>
              </a:rPr>
              <a:t>CI sans étape build/déploiement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0017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64B"/>
                </a:solidFill>
                <a:latin typeface="Segoe UI"/>
              </a:rPr>
              <a:t>CI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745736"/>
            <a:ext cx="7132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3B3"/>
                </a:solidFill>
                <a:latin typeface="Segoe UI"/>
              </a:rPr>
              <a:t>Le pipeline CI ne construit ni ne pousse l'image Docker : aucune preuve automatisée que l'image buildée en local reste conforme.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394960"/>
            <a:ext cx="82296" cy="749808"/>
          </a:xfrm>
          <a:prstGeom prst="rect">
            <a:avLst/>
          </a:prstGeom>
          <a:solidFill>
            <a:srgbClr val="F2B6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" y="5394960"/>
            <a:ext cx="10881360" cy="749808"/>
          </a:xfrm>
          <a:prstGeom prst="roundRect">
            <a:avLst>
              <a:gd name="adj" fmla="val 3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46811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2"/>
                </a:solidFill>
                <a:latin typeface="Segoe UI"/>
              </a:rPr>
              <a:t>Démarrage ordonné mais local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79729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64B"/>
                </a:solidFill>
                <a:latin typeface="Segoe UI"/>
              </a:rPr>
              <a:t>Déploiement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5541264"/>
            <a:ext cx="7132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3B3"/>
                </a:solidFill>
                <a:latin typeface="Segoe UI"/>
              </a:rPr>
              <a:t>service_healthy résout la race condition en local ; pas encore de stratégie multi-hôte / orchestrateur (k8s, etc.).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15/17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Principes de pipeline à retenir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63624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C3F7"/>
                </a:solidFill>
                <a:latin typeface="Segoe UI"/>
              </a:rPr>
              <a:t>Idempotence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47672"/>
            <a:ext cx="4983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8EDF2"/>
                </a:solidFill>
                <a:latin typeface="Segoe UI"/>
              </a:rPr>
              <a:t>rejouer une étape sans effet de bord cumulatif — build-gold réécrit, ne concatène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63624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C3F7"/>
                </a:solidFill>
                <a:latin typeface="Segoe UI"/>
              </a:rPr>
              <a:t>Échec explicite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47672"/>
            <a:ext cx="4983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8EDF2"/>
                </a:solidFill>
                <a:latin typeface="Segoe UI"/>
              </a:rPr>
              <a:t>un code de sortie non nul ou une exception typée rendent l'échec visible (typer.BadParameter).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8892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35224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C3F7"/>
                </a:solidFill>
                <a:latin typeface="Segoe UI"/>
              </a:rPr>
              <a:t>Frontière validée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19272"/>
            <a:ext cx="4983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8EDF2"/>
                </a:solidFill>
                <a:latin typeface="Segoe UI"/>
              </a:rPr>
              <a:t>chaque étape convertit une entrée externe en structure interne contrôlée avant de calculer.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8892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935224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C3F7"/>
                </a:solidFill>
                <a:latin typeface="Segoe UI"/>
              </a:rPr>
              <a:t>Preuve avant progression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319272"/>
            <a:ext cx="4983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8EDF2"/>
                </a:solidFill>
                <a:latin typeface="Segoe UI"/>
              </a:rPr>
              <a:t>chaque étape produit une trace (log, métadonnées, code retour) avant que la suivante démarre.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16052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06824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C3F7"/>
                </a:solidFill>
                <a:latin typeface="Segoe UI"/>
              </a:rPr>
              <a:t>Ordre explicite ≠ ordre supposé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90872"/>
            <a:ext cx="4983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8EDF2"/>
                </a:solidFill>
                <a:latin typeface="Segoe UI"/>
              </a:rPr>
              <a:t>depends_on + service_healthy rendent l'ordre réel, pas juste l'ordre de déclaration.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16052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306824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FC3F7"/>
                </a:solidFill>
                <a:latin typeface="Segoe UI"/>
              </a:rPr>
              <a:t>Commentaires ≠ comportement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690872"/>
            <a:ext cx="4983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E8EDF2"/>
                </a:solidFill>
                <a:latin typeface="Segoe UI"/>
              </a:rPr>
              <a:t>la documentation pédagogique du dépôt guide la lecture sans changer l'exécution.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C3F7"/>
                </a:solidFill>
                <a:latin typeface="Segoe UI"/>
              </a:rPr>
              <a:t>ANNEXE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3B3"/>
                </a:solidFill>
                <a:latin typeface="Segoe UI"/>
              </a:rPr>
              <a:t>16/17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8EDF2"/>
                </a:solidFill>
                <a:latin typeface="Segoe UI"/>
              </a:rPr>
              <a:t>Glossaire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CE38A"/>
                </a:solidFill>
                <a:latin typeface="Segoe UI"/>
              </a:rPr>
              <a:t>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00784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3A3B3"/>
                </a:solidFill>
                <a:latin typeface="Segoe UI"/>
              </a:rPr>
              <a:t>chaîne d'étapes automatisées, ordonnées, où la sortie de l'une nourrit l'entrée de la suivante.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CE38A"/>
                </a:solidFill>
                <a:latin typeface="Segoe UI"/>
              </a:rPr>
              <a:t>Gold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00784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3A3B3"/>
                </a:solidFill>
                <a:latin typeface="Segoe UI"/>
              </a:rPr>
              <a:t>jeu de données nettoyé, assemblé et prêt pour l'entraînement, versionné sous data/gold/.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146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CE38A"/>
                </a:solidFill>
                <a:latin typeface="Segoe UI"/>
              </a:rPr>
              <a:t>Fuite de données (leakage)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43784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3A3B3"/>
                </a:solidFill>
                <a:latin typeface="Segoe UI"/>
              </a:rPr>
              <a:t>utiliser une information indisponible au moment réel de la prédiction.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CE38A"/>
                </a:solidFill>
                <a:latin typeface="Segoe UI"/>
              </a:rPr>
              <a:t>Healthcheck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843784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3A3B3"/>
                </a:solidFill>
                <a:latin typeface="Segoe UI"/>
              </a:rPr>
              <a:t>sonde qui distingue un conteneur démarré d'un conteneur réellement prêt à servir.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76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CE38A"/>
                </a:solidFill>
                <a:latin typeface="Segoe UI"/>
              </a:rPr>
              <a:t>CI (intégration continue)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86784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3A3B3"/>
                </a:solidFill>
                <a:latin typeface="Segoe UI"/>
              </a:rPr>
              <a:t>vérifications automatiques (lint, format, tests) à chaque push/PR.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6576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CE38A"/>
                </a:solidFill>
                <a:latin typeface="Segoe UI"/>
              </a:rPr>
              <a:t>STRIDE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986784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3A3B3"/>
                </a:solidFill>
                <a:latin typeface="Segoe UI"/>
              </a:rPr>
              <a:t>grille de menaces: Spoofing, Tampering, Repudiation, Information disclosure, DoS, Elevation of privilege.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006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CE38A"/>
                </a:solidFill>
                <a:latin typeface="Segoe UI"/>
              </a:rPr>
              <a:t>Idempotent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129784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3A3B3"/>
                </a:solidFill>
                <a:latin typeface="Segoe UI"/>
              </a:rPr>
              <a:t>une opération rejouée plusieurs fois produit le même état final qu'une seule exécution.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800600"/>
            <a:ext cx="5440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CE38A"/>
                </a:solidFill>
                <a:latin typeface="Segoe UI"/>
              </a:rPr>
              <a:t>Artefact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5129784"/>
            <a:ext cx="5440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93A3B3"/>
                </a:solidFill>
                <a:latin typeface="Segoe UI"/>
              </a:rPr>
              <a:t>sortie durable d'une étape de pipeline (modèle .joblib, image Docker, CSV gold, rapport).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850000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4FC3F7"/>
                </a:solidFill>
                <a:latin typeface="Segoe UI"/>
              </a:rPr>
              <a:t>Pipeline d'ingestion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140000"/>
            <a:ext cx="544068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E8EDF2"/>
                </a:solidFill>
                <a:latin typeface="Segoe UI"/>
              </a:rPr>
              <a:t>cas particulier de pipeline scindé sur l'étape Entrée→Chargement ; dans InduSense, c'est le Pipeline Données.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0"/>
            <a:ext cx="82296" cy="1097280"/>
          </a:xfrm>
          <a:prstGeom prst="rect">
            <a:avLst/>
          </a:prstGeom>
          <a:solidFill>
            <a:srgbClr val="7CE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7CE38A"/>
                </a:solidFill>
                <a:latin typeface="Segoe UI"/>
              </a:rPr>
              <a:t>À retenir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E8EDF2"/>
                </a:solidFill>
                <a:latin typeface="Segoe UI"/>
              </a:rPr>
              <a:t>Un bon pipeline se juge à la preuve qu'il laisse derrière lui,</a:t>
            </a:r>
          </a:p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E8EDF2"/>
                </a:solidFill>
                <a:latin typeface="Segoe UI"/>
              </a:rPr>
              <a:t>pas seulement au résultat qu'il produit.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3A3B3"/>
                </a:solidFill>
                <a:latin typeface="Segoe UI"/>
              </a:rPr>
              <a:t>Questions &amp; exploration guidée : make check, docker compose ps, uv run indusense --help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93A3B3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7000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4FC3F7"/>
                </a:solidFill>
                <a:latin typeface="Segoe UI"/>
              </a:rPr>
              <a:t>10 · ORCHESTRATION &amp; DÉPLOIEMENT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292608"/>
            <a:ext cx="640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93A3B3"/>
                </a:solidFill>
                <a:latin typeface="Segoe UI"/>
              </a:rPr>
              <a:t>13/17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55680" cy="15240"/>
          </a:xfrm>
          <a:prstGeom prst="rect">
            <a:avLst/>
          </a:prstGeom>
          <a:solidFill>
            <a:srgbClr val="2A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E8EDF2"/>
                </a:solidFill>
                <a:latin typeface="Segoe UI"/>
              </a:rPr>
              <a:t>Orchestration ne construit rien de nouveau — elle réutilise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440680" cy="3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1400" b="1">
                <a:solidFill>
                  <a:srgbClr val="4FC3F7"/>
                </a:solidFill>
                <a:latin typeface="Segoe UI"/>
              </a:rPr>
              <a:t>Consomme Données — </a:t>
            </a:r>
            <a:r>
              <a:rPr sz="1400" b="0">
                <a:solidFill>
                  <a:srgbClr val="E8EDF2"/>
                </a:solidFill>
                <a:latin typeface="Segoe UI"/>
              </a:rPr>
              <a:t>predict_flow.py appelle build_gold_dataset(), qui réutilise build_dataset() et les loaders du Pipeline Données. Même code, pas une copie.</a:t>
            </a:r>
          </a:p>
          <a:p>
            <a:pPr>
              <a:spcAft>
                <a:spcPts val="1800"/>
              </a:spcAft>
            </a:pPr>
            <a:r>
              <a:rPr sz="1400" b="1">
                <a:solidFill>
                  <a:srgbClr val="4FC3F7"/>
                </a:solidFill>
                <a:latin typeface="Segoe UI"/>
              </a:rPr>
              <a:t>Consomme ML — </a:t>
            </a:r>
            <a:r>
              <a:rPr sz="1400" b="0">
                <a:solidFill>
                  <a:srgbClr val="E8EDF2"/>
                </a:solidFill>
                <a:latin typeface="Segoe UI"/>
              </a:rPr>
              <a:t>ensure_model() réutilise train_model() du Pipeline ML — ou saute l'entraînement si un modèle existe déjà (reprise).</a:t>
            </a:r>
          </a:p>
          <a:p>
            <a:pPr>
              <a:spcAft>
                <a:spcPts val="1800"/>
              </a:spcAft>
            </a:pPr>
            <a:r>
              <a:rPr sz="1400" b="1">
                <a:solidFill>
                  <a:srgbClr val="4FC3F7"/>
                </a:solidFill>
                <a:latin typeface="Segoe UI"/>
              </a:rPr>
              <a:t>Packagé par Déploiement — </a:t>
            </a:r>
            <a:r>
              <a:rPr sz="1400" b="0">
                <a:solidFill>
                  <a:srgbClr val="E8EDF2"/>
                </a:solidFill>
                <a:latin typeface="Segoe UI"/>
              </a:rPr>
              <a:t>Orchestration n'a pas son propre Dockerfile : il tourne dans l'image indusense-api, construite par le Pipeline Déploiement.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440680" cy="3800000"/>
          </a:xfrm>
          <a:prstGeom prst="roundRect">
            <a:avLst>
              <a:gd name="adj" fmla="val 5000"/>
            </a:avLst>
          </a:prstGeom>
          <a:solidFill>
            <a:srgbClr val="171F29"/>
          </a:solidFill>
          <a:ln w="9525">
            <a:solidFill>
              <a:srgbClr val="2A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891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93A3B3"/>
                </a:solidFill>
                <a:latin typeface="Segoe UI"/>
              </a:rPr>
              <a:t>MÊME IMAGE, COMMANDE DIFFÉRENTE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91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4FC3F7"/>
                </a:solidFill>
                <a:latin typeface="Consolas"/>
              </a:rPr>
              <a:t>docker compose up  (défaut)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14600"/>
            <a:ext cx="4891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E8EDF2"/>
                </a:solidFill>
                <a:latin typeface="Segoe UI"/>
              </a:rPr>
              <a:t>CMD du Dockerfile → uvicorn indusense.api.main:app → l'API répond en continu.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246120"/>
            <a:ext cx="4891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4FC3F7"/>
                </a:solidFill>
                <a:latin typeface="Consolas"/>
              </a:rPr>
              <a:t>docker compose run --rm --no-deps api python -m indusense.flows.predict_flow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4891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E8EDF2"/>
                </a:solidFill>
                <a:latin typeface="Segoe UI"/>
              </a:rPr>
              <a:t>remplace juste la commande, pour cette seule exécution — même image, aucun nouveau build.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486400"/>
            <a:ext cx="1115568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4FC3F7"/>
                </a:solidFill>
                <a:latin typeface="Segoe UI"/>
              </a:rPr>
              <a:t>En une phrase — </a:t>
            </a:r>
            <a:r>
              <a:rPr sz="1300" b="0">
                <a:solidFill>
                  <a:srgbClr val="E8EDF2"/>
                </a:solidFill>
                <a:latin typeface="Segoe UI"/>
              </a:rPr>
              <a:t>Orchestration n'est pas un 6ᵉ conteneur à part : c'est le même code de Données/ML, relancé une fois via Prefect, dans l'image déjà construite par Déploiement.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93A3B3"/>
                </a:solidFill>
                <a:latin typeface="Segoe UI"/>
              </a:rPr>
              <a:t>InduSense — Pipelines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51052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93A3B3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